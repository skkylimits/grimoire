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4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emen Mink" userId="02c75056-c953-496c-b2d7-5759e7a9e3ca" providerId="ADAL" clId="{E40530A5-9B19-4CF7-A787-6BE3C1D82FB2}"/>
    <pc:docChg chg="modSld">
      <pc:chgData name="Tiemen Mink" userId="02c75056-c953-496c-b2d7-5759e7a9e3ca" providerId="ADAL" clId="{E40530A5-9B19-4CF7-A787-6BE3C1D82FB2}" dt="2023-06-02T13:15:04.693" v="18" actId="6549"/>
      <pc:docMkLst>
        <pc:docMk/>
      </pc:docMkLst>
      <pc:sldChg chg="modSp mod">
        <pc:chgData name="Tiemen Mink" userId="02c75056-c953-496c-b2d7-5759e7a9e3ca" providerId="ADAL" clId="{E40530A5-9B19-4CF7-A787-6BE3C1D82FB2}" dt="2023-06-02T13:15:04.693" v="18" actId="6549"/>
        <pc:sldMkLst>
          <pc:docMk/>
          <pc:sldMk cId="0" sldId="256"/>
        </pc:sldMkLst>
        <pc:spChg chg="mod">
          <ac:chgData name="Tiemen Mink" userId="02c75056-c953-496c-b2d7-5759e7a9e3ca" providerId="ADAL" clId="{E40530A5-9B19-4CF7-A787-6BE3C1D82FB2}" dt="2023-06-02T13:15:04.693" v="18" actId="6549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389119"/>
            <a:ext cx="1069847" cy="24688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98189" y="6335861"/>
            <a:ext cx="1758711" cy="192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2885" y="215267"/>
            <a:ext cx="4193789" cy="4351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521" y="1266901"/>
            <a:ext cx="10458957" cy="560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89658" y="1989937"/>
            <a:ext cx="9871075" cy="418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E00A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jp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54496" y="0"/>
            <a:ext cx="5937885" cy="6858000"/>
            <a:chOff x="6254496" y="0"/>
            <a:chExt cx="593788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4496" y="0"/>
              <a:ext cx="5937504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7672" y="6001511"/>
              <a:ext cx="2624328" cy="8564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2988" y="0"/>
              <a:ext cx="5049011" cy="85648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39085" y="3818382"/>
            <a:ext cx="1582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E00AE"/>
                </a:solidFill>
                <a:latin typeface="Arial"/>
                <a:cs typeface="Arial"/>
              </a:rPr>
              <a:t>Network</a:t>
            </a:r>
            <a:r>
              <a:rPr sz="1500" b="1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E00AE"/>
                </a:solidFill>
                <a:latin typeface="Arial"/>
                <a:cs typeface="Arial"/>
              </a:rPr>
              <a:t>Security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91032" y="2391282"/>
            <a:ext cx="4472305" cy="104900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474470" marR="5080" indent="-1461770">
              <a:lnSpc>
                <a:spcPts val="3779"/>
              </a:lnSpc>
              <a:spcBef>
                <a:spcPts val="580"/>
              </a:spcBef>
            </a:pPr>
            <a:r>
              <a:rPr dirty="0"/>
              <a:t>Network</a:t>
            </a:r>
            <a:r>
              <a:rPr lang="en-US" dirty="0"/>
              <a:t>ing</a:t>
            </a:r>
            <a:r>
              <a:rPr spc="-10" dirty="0"/>
              <a:t> </a:t>
            </a:r>
            <a:r>
              <a:rPr lang="en-US" spc="-10" dirty="0"/>
              <a:t>Module 6a</a:t>
            </a:r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189" y="6335861"/>
            <a:ext cx="1758711" cy="192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27475"/>
            <a:ext cx="1482851" cy="34305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885" y="215267"/>
            <a:ext cx="4193789" cy="4351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1041" y="2108047"/>
            <a:ext cx="3231515" cy="27444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solidFill>
                  <a:srgbClr val="0E00AE"/>
                </a:solidFill>
                <a:latin typeface="Arial"/>
                <a:cs typeface="Arial"/>
              </a:rPr>
              <a:t>Wat</a:t>
            </a:r>
            <a:r>
              <a:rPr sz="2000" b="1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b="1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E00AE"/>
                </a:solidFill>
                <a:latin typeface="Arial"/>
                <a:cs typeface="Arial"/>
              </a:rPr>
              <a:t>network</a:t>
            </a:r>
            <a:r>
              <a:rPr sz="2000" b="1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E00AE"/>
                </a:solidFill>
                <a:latin typeface="Arial"/>
                <a:cs typeface="Arial"/>
              </a:rPr>
              <a:t>security?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Cryptografie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Digital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signatures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digests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SSL/TLS</a:t>
            </a:r>
            <a:endParaRPr sz="20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Downgrade</a:t>
            </a:r>
            <a:r>
              <a:rPr sz="18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attacks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Wat</a:t>
            </a:r>
            <a:r>
              <a:rPr spc="-7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network</a:t>
            </a:r>
            <a:r>
              <a:rPr spc="-55" dirty="0"/>
              <a:t> </a:t>
            </a:r>
            <a:r>
              <a:rPr spc="-10" dirty="0"/>
              <a:t>security?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2043572"/>
            <a:ext cx="9992360" cy="31489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Confidentiality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alleen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zender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ontvanger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kunnen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lezen</a:t>
            </a:r>
            <a:endParaRPr sz="20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Zender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versleutelt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(encryption)</a:t>
            </a:r>
            <a:endParaRPr sz="18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Ontvanger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ontsleutelt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(decryption)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Authentication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zender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(en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ontvanger)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willen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elkaars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identiteit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bevestigen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Message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integrity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zender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ontvanger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willen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zeker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zijn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dat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niet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tussentijds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ts val="2280"/>
              </a:lnSpc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aangepast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Access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availability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 diensten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moeten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beschikbaar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zijn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voor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gebruikers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Operational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security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Policies,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implementatie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operationele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devices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zoals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ts val="2280"/>
              </a:lnSpc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firewalls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IDS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Wat</a:t>
            </a:r>
            <a:r>
              <a:rPr spc="-80" dirty="0"/>
              <a:t> </a:t>
            </a:r>
            <a:r>
              <a:rPr dirty="0"/>
              <a:t>kunnen</a:t>
            </a:r>
            <a:r>
              <a:rPr spc="-35" dirty="0"/>
              <a:t> </a:t>
            </a:r>
            <a:r>
              <a:rPr dirty="0"/>
              <a:t>“bad</a:t>
            </a:r>
            <a:r>
              <a:rPr spc="-60" dirty="0"/>
              <a:t> </a:t>
            </a:r>
            <a:r>
              <a:rPr dirty="0"/>
              <a:t>guys”</a:t>
            </a:r>
            <a:r>
              <a:rPr spc="-40" dirty="0"/>
              <a:t> </a:t>
            </a:r>
            <a:r>
              <a:rPr spc="-10" dirty="0"/>
              <a:t>doen?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1989937"/>
            <a:ext cx="10078720" cy="28549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Eavesdrop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onderscheppen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berichten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Actief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inserten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verbinding</a:t>
            </a:r>
            <a:endParaRPr sz="2000">
              <a:latin typeface="Arial"/>
              <a:cs typeface="Arial"/>
            </a:endParaRPr>
          </a:p>
          <a:p>
            <a:pPr marL="240665" marR="252095" indent="-228600">
              <a:lnSpc>
                <a:spcPts val="2160"/>
              </a:lnSpc>
              <a:spcBef>
                <a:spcPts val="104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Impersonation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kunnen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source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address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spoofen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in een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packet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(of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packets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maken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andere,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valse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informatie)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2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Hijacking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overnemen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verbinding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door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verzender</a:t>
            </a:r>
            <a:r>
              <a:rPr sz="20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of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ontvanger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ts val="2280"/>
              </a:lnSpc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verwijderen,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diens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plek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in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nemen</a:t>
            </a:r>
            <a:endParaRPr sz="2000">
              <a:latin typeface="Arial"/>
              <a:cs typeface="Arial"/>
            </a:endParaRPr>
          </a:p>
          <a:p>
            <a:pPr marL="240665" marR="5080" indent="-228600">
              <a:lnSpc>
                <a:spcPts val="2160"/>
              </a:lnSpc>
              <a:spcBef>
                <a:spcPts val="102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Denial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service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ervoor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zorgen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dat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diensten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niet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gebruikt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kunnen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worden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(bijvoorbeeld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door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diensten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overloaden)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189" y="6335861"/>
            <a:ext cx="1758711" cy="192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27475"/>
            <a:ext cx="1482851" cy="34305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885" y="215267"/>
            <a:ext cx="4193789" cy="4351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1041" y="2108047"/>
            <a:ext cx="2995930" cy="27444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Wat</a:t>
            </a:r>
            <a:r>
              <a:rPr sz="20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network</a:t>
            </a:r>
            <a:r>
              <a:rPr sz="20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security?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solidFill>
                  <a:srgbClr val="0E00AE"/>
                </a:solidFill>
                <a:latin typeface="Arial"/>
                <a:cs typeface="Arial"/>
              </a:rPr>
              <a:t>Cryptografie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Digital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signatures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digests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SSL/TLS</a:t>
            </a:r>
            <a:endParaRPr sz="20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Downgrade</a:t>
            </a:r>
            <a:r>
              <a:rPr sz="18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attacks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Cryptografie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2043572"/>
            <a:ext cx="9482455" cy="23285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Cryptografie: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veld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waarmee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we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communicatie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“computationally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secure”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maken</a:t>
            </a:r>
            <a:endParaRPr sz="20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Encryption: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garanderen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18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confidentiality</a:t>
            </a:r>
            <a:endParaRPr sz="18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Hashing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&amp;</a:t>
            </a:r>
            <a:r>
              <a:rPr sz="18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digital</a:t>
            </a:r>
            <a:r>
              <a:rPr sz="18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signatures: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garanderen</a:t>
            </a:r>
            <a:r>
              <a:rPr sz="18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18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integrity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E00AE"/>
              </a:buClr>
              <a:buFont typeface="Arial"/>
              <a:buChar char="•"/>
            </a:pPr>
            <a:endParaRPr sz="275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Computationally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secure</a:t>
            </a:r>
            <a:endParaRPr sz="20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Beveiliging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18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niet</a:t>
            </a:r>
            <a:r>
              <a:rPr sz="18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100%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zeker</a:t>
            </a:r>
            <a:endParaRPr sz="18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8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Kan</a:t>
            </a:r>
            <a:r>
              <a:rPr sz="18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niet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binnen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redelijk tijdsbestek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gekraakt</a:t>
            </a:r>
            <a:r>
              <a:rPr sz="18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worden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19829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Cryptografie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291" y="2139442"/>
            <a:ext cx="3910965" cy="715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Symmetric</a:t>
            </a:r>
            <a:r>
              <a:rPr sz="16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cryptography</a:t>
            </a:r>
            <a:endParaRPr sz="16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95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Beide</a:t>
            </a:r>
            <a:r>
              <a:rPr sz="1600" spc="-8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partijen</a:t>
            </a:r>
            <a:r>
              <a:rPr sz="16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gebruiken</a:t>
            </a:r>
            <a:r>
              <a:rPr sz="1600" spc="-7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dezelfde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sleutel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291" y="3079445"/>
            <a:ext cx="9528175" cy="1254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241300" algn="l"/>
                <a:tab pos="5637530" algn="l"/>
                <a:tab pos="586613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Sleutel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wordt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afgesproken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aan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begin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sessie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•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Public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keys</a:t>
            </a:r>
            <a:r>
              <a:rPr sz="16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zijn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E00AE"/>
                </a:solidFill>
                <a:latin typeface="Arial"/>
                <a:cs typeface="Arial"/>
              </a:rPr>
              <a:t>openbaar,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op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16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vragen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E00AE"/>
              </a:buClr>
              <a:buFont typeface="Arial"/>
              <a:buChar char="•"/>
            </a:pP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  <a:tab pos="241300" algn="l"/>
                <a:tab pos="5637530" algn="l"/>
                <a:tab pos="586613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Weinig</a:t>
            </a:r>
            <a:r>
              <a:rPr sz="1600" spc="-114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computerkracht</a:t>
            </a:r>
            <a:r>
              <a:rPr sz="1600" spc="-9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nodig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•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Veel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rekenkracht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nodig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om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berekenen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E00AE"/>
              </a:buClr>
              <a:buFont typeface="Arial"/>
              <a:buChar char="•"/>
            </a:pP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  <a:tab pos="241300" algn="l"/>
                <a:tab pos="5637530" algn="l"/>
                <a:tab pos="586613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DES,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3DES,</a:t>
            </a:r>
            <a:r>
              <a:rPr sz="1600" spc="-10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AES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•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RSA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0376" y="2139442"/>
            <a:ext cx="4509135" cy="715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Public</a:t>
            </a:r>
            <a:r>
              <a:rPr sz="16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key</a:t>
            </a:r>
            <a:r>
              <a:rPr sz="16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cryptography</a:t>
            </a:r>
            <a:endParaRPr sz="16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1595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Elke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partij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heeft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eigen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private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public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Vigenère</a:t>
            </a:r>
            <a:r>
              <a:rPr spc="-65" dirty="0"/>
              <a:t> </a:t>
            </a:r>
            <a:r>
              <a:rPr dirty="0"/>
              <a:t>cipher</a:t>
            </a:r>
            <a:r>
              <a:rPr spc="-10" dirty="0"/>
              <a:t> </a:t>
            </a:r>
            <a:r>
              <a:rPr b="0" spc="-340" dirty="0">
                <a:latin typeface="Wingdings"/>
                <a:cs typeface="Wingdings"/>
              </a:rPr>
              <a:t>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dirty="0"/>
              <a:t>poly</a:t>
            </a:r>
            <a:r>
              <a:rPr spc="-20" dirty="0"/>
              <a:t> </a:t>
            </a:r>
            <a:r>
              <a:rPr spc="-10" dirty="0"/>
              <a:t>alphabetic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3023" y="2085594"/>
            <a:ext cx="3531235" cy="232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Message: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attack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dawn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Keyword: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lemon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a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t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t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a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c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k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a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t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d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a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w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0E00AE"/>
                </a:solidFill>
                <a:latin typeface="Courier New"/>
                <a:cs typeface="Courier New"/>
              </a:rPr>
              <a:t>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l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e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m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o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n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l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e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m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o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n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00AE"/>
                </a:solidFill>
                <a:latin typeface="Courier New"/>
                <a:cs typeface="Courier New"/>
              </a:rPr>
              <a:t>l</a:t>
            </a:r>
            <a:r>
              <a:rPr sz="2000" spc="-5" dirty="0">
                <a:solidFill>
                  <a:srgbClr val="0E00AE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0E00AE"/>
                </a:solidFill>
                <a:latin typeface="Courier New"/>
                <a:cs typeface="Courier New"/>
              </a:rPr>
              <a:t>e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724" y="1921764"/>
            <a:ext cx="4576571" cy="4576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Vigenère</a:t>
            </a:r>
            <a:r>
              <a:rPr spc="-65" dirty="0"/>
              <a:t> </a:t>
            </a:r>
            <a:r>
              <a:rPr dirty="0"/>
              <a:t>cipher</a:t>
            </a:r>
            <a:r>
              <a:rPr spc="-10" dirty="0"/>
              <a:t> </a:t>
            </a:r>
            <a:r>
              <a:rPr b="0" spc="-340" dirty="0">
                <a:latin typeface="Wingdings"/>
                <a:cs typeface="Wingdings"/>
              </a:rPr>
              <a:t>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dirty="0"/>
              <a:t>poly</a:t>
            </a:r>
            <a:r>
              <a:rPr spc="-20" dirty="0"/>
              <a:t> </a:t>
            </a:r>
            <a:r>
              <a:rPr spc="-10" dirty="0"/>
              <a:t>alphabetic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5625" y="2085594"/>
            <a:ext cx="2831465" cy="113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Message: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attack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dawn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Keyword: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lemon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86575" y="3730451"/>
          <a:ext cx="3646170" cy="1090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k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724" y="1921764"/>
            <a:ext cx="4576571" cy="4576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Vigenère</a:t>
            </a:r>
            <a:r>
              <a:rPr spc="-65" dirty="0"/>
              <a:t> </a:t>
            </a:r>
            <a:r>
              <a:rPr dirty="0"/>
              <a:t>cipher</a:t>
            </a:r>
            <a:r>
              <a:rPr spc="-10" dirty="0"/>
              <a:t> </a:t>
            </a:r>
            <a:r>
              <a:rPr b="0" spc="-340" dirty="0">
                <a:latin typeface="Wingdings"/>
                <a:cs typeface="Wingdings"/>
              </a:rPr>
              <a:t>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dirty="0"/>
              <a:t>poly</a:t>
            </a:r>
            <a:r>
              <a:rPr spc="-20" dirty="0"/>
              <a:t> </a:t>
            </a:r>
            <a:r>
              <a:rPr spc="-10" dirty="0"/>
              <a:t>alphabetic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5625" y="2085594"/>
            <a:ext cx="2831465" cy="113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Message: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attack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dawn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Keyword: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lemon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86575" y="3730451"/>
          <a:ext cx="3646170" cy="1090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k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2000" spc="-5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724" y="1921764"/>
            <a:ext cx="4576571" cy="45765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Vigenère</a:t>
            </a:r>
            <a:r>
              <a:rPr spc="-65" dirty="0"/>
              <a:t> </a:t>
            </a:r>
            <a:r>
              <a:rPr dirty="0"/>
              <a:t>cipher</a:t>
            </a:r>
            <a:r>
              <a:rPr spc="-10" dirty="0"/>
              <a:t> </a:t>
            </a:r>
            <a:r>
              <a:rPr b="0" spc="-340" dirty="0">
                <a:latin typeface="Wingdings"/>
                <a:cs typeface="Wingdings"/>
              </a:rPr>
              <a:t>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dirty="0"/>
              <a:t>poly</a:t>
            </a:r>
            <a:r>
              <a:rPr spc="-20" dirty="0"/>
              <a:t> </a:t>
            </a:r>
            <a:r>
              <a:rPr spc="-10" dirty="0"/>
              <a:t>alphabetic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5625" y="2085594"/>
            <a:ext cx="2831465" cy="113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Message: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attack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at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dawn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Keyword: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lemon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86575" y="3730451"/>
          <a:ext cx="3646170" cy="1090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09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460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000" dirty="0">
                          <a:solidFill>
                            <a:srgbClr val="0E00A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724" y="1921764"/>
            <a:ext cx="4576571" cy="4576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Symmetric</a:t>
            </a:r>
            <a:r>
              <a:rPr spc="-30" dirty="0"/>
              <a:t> </a:t>
            </a:r>
            <a:r>
              <a:rPr dirty="0"/>
              <a:t>key </a:t>
            </a:r>
            <a:r>
              <a:rPr spc="-10" dirty="0"/>
              <a:t>cryptography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4258" y="4171315"/>
            <a:ext cx="887793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100" marR="304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Symmetric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cryptography: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Bob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1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Alice</a:t>
            </a:r>
            <a:r>
              <a:rPr sz="2000" spc="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delen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dezelfde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(symmetric)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key: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K</a:t>
            </a:r>
            <a:r>
              <a:rPr sz="1950" spc="-37" baseline="-21367" dirty="0">
                <a:solidFill>
                  <a:srgbClr val="0E00AE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.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Deze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gedeelde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sleutel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gebruiken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voor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substitution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cipher.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7030" y="3148076"/>
            <a:ext cx="11290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ciphertext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2029" y="2249551"/>
            <a:ext cx="53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4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spc="-89" baseline="-29166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3000" baseline="-29166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4976" y="2183892"/>
            <a:ext cx="665527" cy="8285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304032" y="3090672"/>
            <a:ext cx="1391920" cy="803275"/>
          </a:xfrm>
          <a:prstGeom prst="rect">
            <a:avLst/>
          </a:prstGeom>
          <a:solidFill>
            <a:srgbClr val="000000"/>
          </a:solidFill>
          <a:ln w="9360">
            <a:solidFill>
              <a:srgbClr val="0E00AE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84785" marR="87630" indent="-64135">
              <a:lnSpc>
                <a:spcPct val="100000"/>
              </a:lnSpc>
              <a:spcBef>
                <a:spcPts val="32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encryption algorithm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0611" y="3089148"/>
            <a:ext cx="1377950" cy="803275"/>
          </a:xfrm>
          <a:prstGeom prst="rect">
            <a:avLst/>
          </a:prstGeom>
          <a:solidFill>
            <a:srgbClr val="000000"/>
          </a:solidFill>
          <a:ln w="9360">
            <a:solidFill>
              <a:srgbClr val="0E00AE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217170" marR="73660" indent="-96520">
              <a:lnSpc>
                <a:spcPct val="100000"/>
              </a:lnSpc>
              <a:spcBef>
                <a:spcPts val="43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decryption algorithm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25034" y="3454272"/>
            <a:ext cx="1692275" cy="114935"/>
          </a:xfrm>
          <a:custGeom>
            <a:avLst/>
            <a:gdLst/>
            <a:ahLst/>
            <a:cxnLst/>
            <a:rect l="l" t="t" r="r" b="b"/>
            <a:pathLst>
              <a:path w="1692275" h="114935">
                <a:moveTo>
                  <a:pt x="1577593" y="0"/>
                </a:moveTo>
                <a:lnTo>
                  <a:pt x="1577424" y="38142"/>
                </a:lnTo>
                <a:lnTo>
                  <a:pt x="1596389" y="38226"/>
                </a:lnTo>
                <a:lnTo>
                  <a:pt x="1596263" y="76453"/>
                </a:lnTo>
                <a:lnTo>
                  <a:pt x="1577254" y="76453"/>
                </a:lnTo>
                <a:lnTo>
                  <a:pt x="1577086" y="114553"/>
                </a:lnTo>
                <a:lnTo>
                  <a:pt x="1654053" y="76453"/>
                </a:lnTo>
                <a:lnTo>
                  <a:pt x="1596263" y="76453"/>
                </a:lnTo>
                <a:lnTo>
                  <a:pt x="1654227" y="76367"/>
                </a:lnTo>
                <a:lnTo>
                  <a:pt x="1691766" y="57785"/>
                </a:lnTo>
                <a:lnTo>
                  <a:pt x="1577593" y="0"/>
                </a:lnTo>
                <a:close/>
              </a:path>
              <a:path w="1692275" h="114935">
                <a:moveTo>
                  <a:pt x="1577424" y="38142"/>
                </a:moveTo>
                <a:lnTo>
                  <a:pt x="1577255" y="76367"/>
                </a:lnTo>
                <a:lnTo>
                  <a:pt x="1596263" y="76453"/>
                </a:lnTo>
                <a:lnTo>
                  <a:pt x="1596389" y="38226"/>
                </a:lnTo>
                <a:lnTo>
                  <a:pt x="1577424" y="38142"/>
                </a:lnTo>
                <a:close/>
              </a:path>
              <a:path w="1692275" h="114935">
                <a:moveTo>
                  <a:pt x="253" y="31114"/>
                </a:moveTo>
                <a:lnTo>
                  <a:pt x="0" y="69214"/>
                </a:lnTo>
                <a:lnTo>
                  <a:pt x="1577255" y="76367"/>
                </a:lnTo>
                <a:lnTo>
                  <a:pt x="1577424" y="38142"/>
                </a:lnTo>
                <a:lnTo>
                  <a:pt x="253" y="31114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38169" y="2711830"/>
            <a:ext cx="114935" cy="391795"/>
          </a:xfrm>
          <a:custGeom>
            <a:avLst/>
            <a:gdLst/>
            <a:ahLst/>
            <a:cxnLst/>
            <a:rect l="l" t="t" r="r" b="b"/>
            <a:pathLst>
              <a:path w="114935" h="391794">
                <a:moveTo>
                  <a:pt x="0" y="277114"/>
                </a:moveTo>
                <a:lnTo>
                  <a:pt x="56768" y="391795"/>
                </a:lnTo>
                <a:lnTo>
                  <a:pt x="104881" y="296418"/>
                </a:lnTo>
                <a:lnTo>
                  <a:pt x="76200" y="296418"/>
                </a:lnTo>
                <a:lnTo>
                  <a:pt x="38100" y="296291"/>
                </a:lnTo>
                <a:lnTo>
                  <a:pt x="38173" y="277241"/>
                </a:lnTo>
                <a:lnTo>
                  <a:pt x="0" y="277114"/>
                </a:lnTo>
                <a:close/>
              </a:path>
              <a:path w="114935" h="391794">
                <a:moveTo>
                  <a:pt x="38173" y="277241"/>
                </a:moveTo>
                <a:lnTo>
                  <a:pt x="38100" y="296291"/>
                </a:lnTo>
                <a:lnTo>
                  <a:pt x="76200" y="296418"/>
                </a:lnTo>
                <a:lnTo>
                  <a:pt x="76273" y="277367"/>
                </a:lnTo>
                <a:lnTo>
                  <a:pt x="38173" y="277241"/>
                </a:lnTo>
                <a:close/>
              </a:path>
              <a:path w="114935" h="391794">
                <a:moveTo>
                  <a:pt x="76273" y="277367"/>
                </a:moveTo>
                <a:lnTo>
                  <a:pt x="76200" y="296418"/>
                </a:lnTo>
                <a:lnTo>
                  <a:pt x="104881" y="296418"/>
                </a:lnTo>
                <a:lnTo>
                  <a:pt x="114426" y="277495"/>
                </a:lnTo>
                <a:lnTo>
                  <a:pt x="76273" y="277367"/>
                </a:lnTo>
                <a:close/>
              </a:path>
              <a:path w="114935" h="391794">
                <a:moveTo>
                  <a:pt x="39242" y="0"/>
                </a:moveTo>
                <a:lnTo>
                  <a:pt x="38173" y="277241"/>
                </a:lnTo>
                <a:lnTo>
                  <a:pt x="76273" y="277367"/>
                </a:lnTo>
                <a:lnTo>
                  <a:pt x="77342" y="254"/>
                </a:lnTo>
                <a:lnTo>
                  <a:pt x="39242" y="0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7031" y="2372867"/>
            <a:ext cx="812292" cy="79597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559557" y="3471545"/>
            <a:ext cx="675640" cy="114935"/>
          </a:xfrm>
          <a:custGeom>
            <a:avLst/>
            <a:gdLst/>
            <a:ahLst/>
            <a:cxnLst/>
            <a:rect l="l" t="t" r="r" b="b"/>
            <a:pathLst>
              <a:path w="675639" h="114935">
                <a:moveTo>
                  <a:pt x="560705" y="0"/>
                </a:moveTo>
                <a:lnTo>
                  <a:pt x="560705" y="114553"/>
                </a:lnTo>
                <a:lnTo>
                  <a:pt x="637074" y="76326"/>
                </a:lnTo>
                <a:lnTo>
                  <a:pt x="579755" y="76326"/>
                </a:lnTo>
                <a:lnTo>
                  <a:pt x="579755" y="38226"/>
                </a:lnTo>
                <a:lnTo>
                  <a:pt x="637074" y="38226"/>
                </a:lnTo>
                <a:lnTo>
                  <a:pt x="560705" y="0"/>
                </a:lnTo>
                <a:close/>
              </a:path>
              <a:path w="675639" h="114935">
                <a:moveTo>
                  <a:pt x="560705" y="38226"/>
                </a:moveTo>
                <a:lnTo>
                  <a:pt x="0" y="38226"/>
                </a:lnTo>
                <a:lnTo>
                  <a:pt x="0" y="76326"/>
                </a:lnTo>
                <a:lnTo>
                  <a:pt x="560705" y="76326"/>
                </a:lnTo>
                <a:lnTo>
                  <a:pt x="560705" y="38226"/>
                </a:lnTo>
                <a:close/>
              </a:path>
              <a:path w="675639" h="114935">
                <a:moveTo>
                  <a:pt x="637074" y="38226"/>
                </a:moveTo>
                <a:lnTo>
                  <a:pt x="579755" y="38226"/>
                </a:lnTo>
                <a:lnTo>
                  <a:pt x="579755" y="76326"/>
                </a:lnTo>
                <a:lnTo>
                  <a:pt x="637074" y="76326"/>
                </a:lnTo>
                <a:lnTo>
                  <a:pt x="675132" y="57276"/>
                </a:lnTo>
                <a:lnTo>
                  <a:pt x="637074" y="38226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97" y="3468496"/>
            <a:ext cx="673735" cy="114935"/>
          </a:xfrm>
          <a:custGeom>
            <a:avLst/>
            <a:gdLst/>
            <a:ahLst/>
            <a:cxnLst/>
            <a:rect l="l" t="t" r="r" b="b"/>
            <a:pathLst>
              <a:path w="673734" h="114935">
                <a:moveTo>
                  <a:pt x="559180" y="0"/>
                </a:moveTo>
                <a:lnTo>
                  <a:pt x="559180" y="114553"/>
                </a:lnTo>
                <a:lnTo>
                  <a:pt x="635550" y="76326"/>
                </a:lnTo>
                <a:lnTo>
                  <a:pt x="578230" y="76326"/>
                </a:lnTo>
                <a:lnTo>
                  <a:pt x="578230" y="38226"/>
                </a:lnTo>
                <a:lnTo>
                  <a:pt x="635550" y="38226"/>
                </a:lnTo>
                <a:lnTo>
                  <a:pt x="559180" y="0"/>
                </a:lnTo>
                <a:close/>
              </a:path>
              <a:path w="673734" h="114935">
                <a:moveTo>
                  <a:pt x="559180" y="38226"/>
                </a:moveTo>
                <a:lnTo>
                  <a:pt x="0" y="38226"/>
                </a:lnTo>
                <a:lnTo>
                  <a:pt x="0" y="76326"/>
                </a:lnTo>
                <a:lnTo>
                  <a:pt x="559180" y="76326"/>
                </a:lnTo>
                <a:lnTo>
                  <a:pt x="559180" y="38226"/>
                </a:lnTo>
                <a:close/>
              </a:path>
              <a:path w="673734" h="114935">
                <a:moveTo>
                  <a:pt x="635550" y="38226"/>
                </a:moveTo>
                <a:lnTo>
                  <a:pt x="578230" y="38226"/>
                </a:lnTo>
                <a:lnTo>
                  <a:pt x="578230" y="76326"/>
                </a:lnTo>
                <a:lnTo>
                  <a:pt x="635550" y="76326"/>
                </a:lnTo>
                <a:lnTo>
                  <a:pt x="673607" y="57276"/>
                </a:lnTo>
                <a:lnTo>
                  <a:pt x="635550" y="38226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927593" y="3166999"/>
            <a:ext cx="1845945" cy="840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plaintext</a:t>
            </a:r>
            <a:endParaRPr sz="2000">
              <a:latin typeface="Arial"/>
              <a:cs typeface="Arial"/>
            </a:endParaRPr>
          </a:p>
          <a:p>
            <a:pPr marL="193040">
              <a:lnSpc>
                <a:spcPct val="100000"/>
              </a:lnSpc>
              <a:spcBef>
                <a:spcPts val="1610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0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1950" spc="-15" baseline="-21367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(K</a:t>
            </a:r>
            <a:r>
              <a:rPr sz="1950" spc="-15" baseline="-21367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(m))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35763" y="2161182"/>
            <a:ext cx="462280" cy="234950"/>
            <a:chOff x="3835763" y="2161182"/>
            <a:chExt cx="462280" cy="234950"/>
          </a:xfrm>
        </p:grpSpPr>
        <p:sp>
          <p:nvSpPr>
            <p:cNvPr id="16" name="object 16"/>
            <p:cNvSpPr/>
            <p:nvPr/>
          </p:nvSpPr>
          <p:spPr>
            <a:xfrm>
              <a:off x="3843566" y="2172525"/>
              <a:ext cx="446405" cy="215265"/>
            </a:xfrm>
            <a:custGeom>
              <a:avLst/>
              <a:gdLst/>
              <a:ahLst/>
              <a:cxnLst/>
              <a:rect l="l" t="t" r="r" b="b"/>
              <a:pathLst>
                <a:path w="446404" h="215264">
                  <a:moveTo>
                    <a:pt x="446151" y="72263"/>
                  </a:moveTo>
                  <a:lnTo>
                    <a:pt x="398703" y="40106"/>
                  </a:lnTo>
                  <a:lnTo>
                    <a:pt x="361657" y="50673"/>
                  </a:lnTo>
                  <a:lnTo>
                    <a:pt x="327228" y="29083"/>
                  </a:lnTo>
                  <a:lnTo>
                    <a:pt x="269976" y="52514"/>
                  </a:lnTo>
                  <a:lnTo>
                    <a:pt x="246570" y="35826"/>
                  </a:lnTo>
                  <a:lnTo>
                    <a:pt x="210299" y="53733"/>
                  </a:lnTo>
                  <a:lnTo>
                    <a:pt x="199110" y="22199"/>
                  </a:lnTo>
                  <a:lnTo>
                    <a:pt x="164071" y="43167"/>
                  </a:lnTo>
                  <a:lnTo>
                    <a:pt x="117233" y="17322"/>
                  </a:lnTo>
                  <a:lnTo>
                    <a:pt x="117233" y="85737"/>
                  </a:lnTo>
                  <a:lnTo>
                    <a:pt x="107276" y="121564"/>
                  </a:lnTo>
                  <a:lnTo>
                    <a:pt x="87083" y="141312"/>
                  </a:lnTo>
                  <a:lnTo>
                    <a:pt x="72847" y="143764"/>
                  </a:lnTo>
                  <a:lnTo>
                    <a:pt x="62433" y="138861"/>
                  </a:lnTo>
                  <a:lnTo>
                    <a:pt x="53708" y="130898"/>
                  </a:lnTo>
                  <a:lnTo>
                    <a:pt x="42075" y="118503"/>
                  </a:lnTo>
                  <a:lnTo>
                    <a:pt x="48780" y="96113"/>
                  </a:lnTo>
                  <a:lnTo>
                    <a:pt x="59486" y="80657"/>
                  </a:lnTo>
                  <a:lnTo>
                    <a:pt x="93814" y="65366"/>
                  </a:lnTo>
                  <a:lnTo>
                    <a:pt x="117233" y="85737"/>
                  </a:lnTo>
                  <a:lnTo>
                    <a:pt x="117233" y="17322"/>
                  </a:lnTo>
                  <a:lnTo>
                    <a:pt x="85852" y="0"/>
                  </a:lnTo>
                  <a:lnTo>
                    <a:pt x="20955" y="35763"/>
                  </a:lnTo>
                  <a:lnTo>
                    <a:pt x="17284" y="31838"/>
                  </a:lnTo>
                  <a:lnTo>
                    <a:pt x="0" y="55422"/>
                  </a:lnTo>
                  <a:lnTo>
                    <a:pt x="7569" y="61785"/>
                  </a:lnTo>
                  <a:lnTo>
                    <a:pt x="5651" y="152336"/>
                  </a:lnTo>
                  <a:lnTo>
                    <a:pt x="59220" y="212191"/>
                  </a:lnTo>
                  <a:lnTo>
                    <a:pt x="113563" y="214795"/>
                  </a:lnTo>
                  <a:lnTo>
                    <a:pt x="186258" y="152336"/>
                  </a:lnTo>
                  <a:lnTo>
                    <a:pt x="219481" y="169024"/>
                  </a:lnTo>
                  <a:lnTo>
                    <a:pt x="221919" y="121564"/>
                  </a:lnTo>
                  <a:lnTo>
                    <a:pt x="437578" y="90170"/>
                  </a:lnTo>
                  <a:lnTo>
                    <a:pt x="446151" y="72263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5763" y="2161182"/>
              <a:ext cx="461916" cy="23471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728459" y="2198623"/>
            <a:ext cx="53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4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spc="-89" baseline="-29166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3000" baseline="-29166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23709" y="2661539"/>
            <a:ext cx="114935" cy="391795"/>
          </a:xfrm>
          <a:custGeom>
            <a:avLst/>
            <a:gdLst/>
            <a:ahLst/>
            <a:cxnLst/>
            <a:rect l="l" t="t" r="r" b="b"/>
            <a:pathLst>
              <a:path w="114934" h="391794">
                <a:moveTo>
                  <a:pt x="0" y="276860"/>
                </a:moveTo>
                <a:lnTo>
                  <a:pt x="56388" y="391795"/>
                </a:lnTo>
                <a:lnTo>
                  <a:pt x="104967" y="296545"/>
                </a:lnTo>
                <a:lnTo>
                  <a:pt x="76200" y="296545"/>
                </a:lnTo>
                <a:lnTo>
                  <a:pt x="38100" y="296290"/>
                </a:lnTo>
                <a:lnTo>
                  <a:pt x="38247" y="277156"/>
                </a:lnTo>
                <a:lnTo>
                  <a:pt x="0" y="276860"/>
                </a:lnTo>
                <a:close/>
              </a:path>
              <a:path w="114934" h="391794">
                <a:moveTo>
                  <a:pt x="38247" y="277156"/>
                </a:moveTo>
                <a:lnTo>
                  <a:pt x="38100" y="296290"/>
                </a:lnTo>
                <a:lnTo>
                  <a:pt x="76200" y="296545"/>
                </a:lnTo>
                <a:lnTo>
                  <a:pt x="76347" y="277452"/>
                </a:lnTo>
                <a:lnTo>
                  <a:pt x="38247" y="277156"/>
                </a:lnTo>
                <a:close/>
              </a:path>
              <a:path w="114934" h="391794">
                <a:moveTo>
                  <a:pt x="76347" y="277452"/>
                </a:moveTo>
                <a:lnTo>
                  <a:pt x="76200" y="296545"/>
                </a:lnTo>
                <a:lnTo>
                  <a:pt x="104967" y="296545"/>
                </a:lnTo>
                <a:lnTo>
                  <a:pt x="114554" y="277749"/>
                </a:lnTo>
                <a:lnTo>
                  <a:pt x="76347" y="277452"/>
                </a:lnTo>
                <a:close/>
              </a:path>
              <a:path w="114934" h="391794">
                <a:moveTo>
                  <a:pt x="40386" y="0"/>
                </a:moveTo>
                <a:lnTo>
                  <a:pt x="38247" y="277156"/>
                </a:lnTo>
                <a:lnTo>
                  <a:pt x="76347" y="277452"/>
                </a:lnTo>
                <a:lnTo>
                  <a:pt x="78486" y="253"/>
                </a:lnTo>
                <a:lnTo>
                  <a:pt x="40386" y="0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022447" y="2109366"/>
            <a:ext cx="462280" cy="234950"/>
            <a:chOff x="7022447" y="2109366"/>
            <a:chExt cx="462280" cy="234950"/>
          </a:xfrm>
        </p:grpSpPr>
        <p:sp>
          <p:nvSpPr>
            <p:cNvPr id="21" name="object 21"/>
            <p:cNvSpPr/>
            <p:nvPr/>
          </p:nvSpPr>
          <p:spPr>
            <a:xfrm>
              <a:off x="7030250" y="2120709"/>
              <a:ext cx="446405" cy="215265"/>
            </a:xfrm>
            <a:custGeom>
              <a:avLst/>
              <a:gdLst/>
              <a:ahLst/>
              <a:cxnLst/>
              <a:rect l="l" t="t" r="r" b="b"/>
              <a:pathLst>
                <a:path w="446404" h="215264">
                  <a:moveTo>
                    <a:pt x="446151" y="72263"/>
                  </a:moveTo>
                  <a:lnTo>
                    <a:pt x="398703" y="40106"/>
                  </a:lnTo>
                  <a:lnTo>
                    <a:pt x="361657" y="50673"/>
                  </a:lnTo>
                  <a:lnTo>
                    <a:pt x="327228" y="29083"/>
                  </a:lnTo>
                  <a:lnTo>
                    <a:pt x="269976" y="52514"/>
                  </a:lnTo>
                  <a:lnTo>
                    <a:pt x="246570" y="35826"/>
                  </a:lnTo>
                  <a:lnTo>
                    <a:pt x="210299" y="53733"/>
                  </a:lnTo>
                  <a:lnTo>
                    <a:pt x="199110" y="22199"/>
                  </a:lnTo>
                  <a:lnTo>
                    <a:pt x="164071" y="43167"/>
                  </a:lnTo>
                  <a:lnTo>
                    <a:pt x="117233" y="17322"/>
                  </a:lnTo>
                  <a:lnTo>
                    <a:pt x="117233" y="85737"/>
                  </a:lnTo>
                  <a:lnTo>
                    <a:pt x="107276" y="121564"/>
                  </a:lnTo>
                  <a:lnTo>
                    <a:pt x="87083" y="141312"/>
                  </a:lnTo>
                  <a:lnTo>
                    <a:pt x="72847" y="143764"/>
                  </a:lnTo>
                  <a:lnTo>
                    <a:pt x="62433" y="138861"/>
                  </a:lnTo>
                  <a:lnTo>
                    <a:pt x="53708" y="130898"/>
                  </a:lnTo>
                  <a:lnTo>
                    <a:pt x="42075" y="118503"/>
                  </a:lnTo>
                  <a:lnTo>
                    <a:pt x="48780" y="96113"/>
                  </a:lnTo>
                  <a:lnTo>
                    <a:pt x="59486" y="80657"/>
                  </a:lnTo>
                  <a:lnTo>
                    <a:pt x="93814" y="65366"/>
                  </a:lnTo>
                  <a:lnTo>
                    <a:pt x="117233" y="85737"/>
                  </a:lnTo>
                  <a:lnTo>
                    <a:pt x="117233" y="17322"/>
                  </a:lnTo>
                  <a:lnTo>
                    <a:pt x="85852" y="0"/>
                  </a:lnTo>
                  <a:lnTo>
                    <a:pt x="20955" y="35763"/>
                  </a:lnTo>
                  <a:lnTo>
                    <a:pt x="17284" y="31838"/>
                  </a:lnTo>
                  <a:lnTo>
                    <a:pt x="0" y="55422"/>
                  </a:lnTo>
                  <a:lnTo>
                    <a:pt x="7569" y="61785"/>
                  </a:lnTo>
                  <a:lnTo>
                    <a:pt x="5651" y="152336"/>
                  </a:lnTo>
                  <a:lnTo>
                    <a:pt x="59220" y="212191"/>
                  </a:lnTo>
                  <a:lnTo>
                    <a:pt x="113563" y="214795"/>
                  </a:lnTo>
                  <a:lnTo>
                    <a:pt x="186258" y="152336"/>
                  </a:lnTo>
                  <a:lnTo>
                    <a:pt x="219481" y="169024"/>
                  </a:lnTo>
                  <a:lnTo>
                    <a:pt x="221919" y="121564"/>
                  </a:lnTo>
                  <a:lnTo>
                    <a:pt x="437578" y="90170"/>
                  </a:lnTo>
                  <a:lnTo>
                    <a:pt x="446151" y="72263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2447" y="2109366"/>
              <a:ext cx="461916" cy="23471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763014" y="3178301"/>
            <a:ext cx="14065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159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plaintext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message,</a:t>
            </a:r>
            <a:r>
              <a:rPr sz="20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9204" y="3684777"/>
            <a:ext cx="855344" cy="46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70"/>
              </a:lnSpc>
              <a:spcBef>
                <a:spcPts val="100"/>
              </a:spcBef>
              <a:tabLst>
                <a:tab pos="460375" algn="l"/>
              </a:tabLst>
            </a:pPr>
            <a:r>
              <a:rPr sz="2000" spc="-5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C00000"/>
                </a:solidFill>
                <a:latin typeface="Arial"/>
                <a:cs typeface="Arial"/>
              </a:rPr>
              <a:t>(m)</a:t>
            </a:r>
            <a:endParaRPr sz="2000">
              <a:latin typeface="Arial"/>
              <a:cs typeface="Arial"/>
            </a:endParaRPr>
          </a:p>
          <a:p>
            <a:pPr marL="260985">
              <a:lnSpc>
                <a:spcPts val="149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Symmetric</a:t>
            </a:r>
            <a:r>
              <a:rPr spc="-30" dirty="0"/>
              <a:t> </a:t>
            </a:r>
            <a:r>
              <a:rPr dirty="0"/>
              <a:t>key </a:t>
            </a:r>
            <a:r>
              <a:rPr spc="-10" dirty="0"/>
              <a:t>cryptography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888" y="2033924"/>
            <a:ext cx="2902597" cy="43593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10376" y="2036724"/>
            <a:ext cx="4169410" cy="354837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Hoe</a:t>
            </a:r>
            <a:r>
              <a:rPr sz="16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werkt</a:t>
            </a:r>
            <a:r>
              <a:rPr sz="16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het?</a:t>
            </a:r>
            <a:endParaRPr sz="1600">
              <a:latin typeface="Arial"/>
              <a:cs typeface="Arial"/>
            </a:endParaRPr>
          </a:p>
          <a:p>
            <a:pPr marL="241300" marR="172085" indent="-229235">
              <a:lnSpc>
                <a:spcPts val="1730"/>
              </a:lnSpc>
              <a:spcBef>
                <a:spcPts val="1020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Je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splitst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hoeveelheid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informatie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E00AE"/>
                </a:solidFill>
                <a:latin typeface="Arial"/>
                <a:cs typeface="Arial"/>
              </a:rPr>
              <a:t>(een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block)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in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2</a:t>
            </a:r>
            <a:r>
              <a:rPr sz="16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delen,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links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rechts.</a:t>
            </a:r>
            <a:endParaRPr sz="1600">
              <a:latin typeface="Arial"/>
              <a:cs typeface="Arial"/>
            </a:endParaRPr>
          </a:p>
          <a:p>
            <a:pPr marL="241300" indent="-229235">
              <a:lnSpc>
                <a:spcPts val="1825"/>
              </a:lnSpc>
              <a:spcBef>
                <a:spcPts val="775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Je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gebruikt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sleutel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om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linkerdeel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endParaRPr sz="1600">
              <a:latin typeface="Arial"/>
              <a:cs typeface="Arial"/>
            </a:endParaRPr>
          </a:p>
          <a:p>
            <a:pPr marL="241300">
              <a:lnSpc>
                <a:spcPts val="1825"/>
              </a:lnSpc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veranderen</a:t>
            </a:r>
            <a:r>
              <a:rPr sz="1600" spc="-10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(exclusive</a:t>
            </a:r>
            <a:r>
              <a:rPr sz="1600" spc="-10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or)</a:t>
            </a:r>
            <a:endParaRPr sz="1600">
              <a:latin typeface="Arial"/>
              <a:cs typeface="Arial"/>
            </a:endParaRPr>
          </a:p>
          <a:p>
            <a:pPr marL="241300" marR="97155" indent="-229235">
              <a:lnSpc>
                <a:spcPts val="1730"/>
              </a:lnSpc>
              <a:spcBef>
                <a:spcPts val="1030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16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twee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stukjes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informatie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wisselen</a:t>
            </a:r>
            <a:r>
              <a:rPr sz="16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van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plek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(links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wordt</a:t>
            </a:r>
            <a:r>
              <a:rPr sz="16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rechts,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rechts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wordt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links)</a:t>
            </a:r>
            <a:endParaRPr sz="1600">
              <a:latin typeface="Arial"/>
              <a:cs typeface="Arial"/>
            </a:endParaRPr>
          </a:p>
          <a:p>
            <a:pPr marL="241300" indent="-229235">
              <a:lnSpc>
                <a:spcPts val="1825"/>
              </a:lnSpc>
              <a:spcBef>
                <a:spcPts val="775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Herhaal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dit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aantal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stappen,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met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E00AE"/>
                </a:solidFill>
                <a:latin typeface="Arial"/>
                <a:cs typeface="Arial"/>
              </a:rPr>
              <a:t>voor</a:t>
            </a:r>
            <a:endParaRPr sz="1600">
              <a:latin typeface="Arial"/>
              <a:cs typeface="Arial"/>
            </a:endParaRPr>
          </a:p>
          <a:p>
            <a:pPr marL="241300">
              <a:lnSpc>
                <a:spcPts val="1825"/>
              </a:lnSpc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elke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stap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nieuwe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sleutel.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730"/>
              </a:lnSpc>
              <a:spcBef>
                <a:spcPts val="5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Decryption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in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omgekeerde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volgorde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hetzelfde uitvoeren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Kraken</a:t>
            </a:r>
            <a:r>
              <a:rPr spc="-35" dirty="0"/>
              <a:t> </a:t>
            </a:r>
            <a:r>
              <a:rPr dirty="0"/>
              <a:t>van</a:t>
            </a:r>
            <a:r>
              <a:rPr spc="-35" dirty="0"/>
              <a:t> </a:t>
            </a:r>
            <a:r>
              <a:rPr dirty="0"/>
              <a:t>symmetric</a:t>
            </a:r>
            <a:r>
              <a:rPr spc="-20" dirty="0"/>
              <a:t> </a:t>
            </a:r>
            <a:r>
              <a:rPr dirty="0"/>
              <a:t>key</a:t>
            </a:r>
            <a:r>
              <a:rPr spc="-10" dirty="0"/>
              <a:t> cryptography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1098" y="2117496"/>
            <a:ext cx="3957954" cy="2752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7965">
              <a:lnSpc>
                <a:spcPct val="150000"/>
              </a:lnSpc>
              <a:spcBef>
                <a:spcPts val="100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Cipher-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text</a:t>
            </a:r>
            <a:r>
              <a:rPr sz="16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only</a:t>
            </a:r>
            <a:r>
              <a:rPr sz="16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attack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Trudy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kan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ciphertext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(versleutelde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tekst)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analyseren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2</a:t>
            </a:r>
            <a:r>
              <a:rPr sz="16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aanpakken:</a:t>
            </a:r>
            <a:endParaRPr sz="1600">
              <a:latin typeface="Arial"/>
              <a:cs typeface="Arial"/>
            </a:endParaRPr>
          </a:p>
          <a:p>
            <a:pPr marL="697865" marR="290830" lvl="1" indent="-227965">
              <a:lnSpc>
                <a:spcPct val="150000"/>
              </a:lnSpc>
              <a:spcBef>
                <a:spcPts val="535"/>
              </a:spcBef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Brute</a:t>
            </a: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force:</a:t>
            </a:r>
            <a:r>
              <a:rPr sz="15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alle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keys</a:t>
            </a:r>
            <a:r>
              <a:rPr sz="1500" spc="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doorzoeken,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proberen</a:t>
            </a: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of</a:t>
            </a:r>
            <a:r>
              <a:rPr sz="15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ze daarmee</a:t>
            </a:r>
            <a:r>
              <a:rPr sz="15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500" spc="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zinnig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terugkrijgt</a:t>
            </a:r>
            <a:endParaRPr sz="15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1395"/>
              </a:spcBef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Statistische</a:t>
            </a:r>
            <a:r>
              <a:rPr sz="15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analyse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0376" y="2117496"/>
            <a:ext cx="37128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Known-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plaintext</a:t>
            </a:r>
            <a:r>
              <a:rPr sz="16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attack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1600" spc="-7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Trudy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heeft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de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plaintext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die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hoort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bij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ciphertext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0376" y="3469665"/>
            <a:ext cx="4075429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Chosen-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plaintext</a:t>
            </a:r>
            <a:r>
              <a:rPr sz="16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attack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:</a:t>
            </a:r>
            <a:r>
              <a:rPr sz="16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Trudy</a:t>
            </a:r>
            <a:r>
              <a:rPr sz="16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heeft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E00AE"/>
                </a:solidFill>
                <a:latin typeface="Arial"/>
                <a:cs typeface="Arial"/>
              </a:rPr>
              <a:t>zelf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plaintext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gekozen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om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encrypten,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kan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6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pakketje</a:t>
            </a:r>
            <a:r>
              <a:rPr sz="1600" spc="-8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achterhalen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waarin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dat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encrypted</a:t>
            </a:r>
            <a:r>
              <a:rPr sz="1600" spc="-8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Symmetric</a:t>
            </a:r>
            <a:r>
              <a:rPr spc="-45" dirty="0"/>
              <a:t> </a:t>
            </a:r>
            <a:r>
              <a:rPr dirty="0"/>
              <a:t>key</a:t>
            </a:r>
            <a:r>
              <a:rPr spc="-25" dirty="0"/>
              <a:t> </a:t>
            </a:r>
            <a:r>
              <a:rPr dirty="0"/>
              <a:t>cryptography:</a:t>
            </a:r>
            <a:r>
              <a:rPr spc="-35" dirty="0"/>
              <a:t> </a:t>
            </a:r>
            <a:r>
              <a:rPr spc="-25" dirty="0"/>
              <a:t>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1989937"/>
            <a:ext cx="7847965" cy="33667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DES: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encryption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standard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US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encryption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standaard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(NIST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1993)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56-bit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symmetric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key,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64-bit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plaintext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input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Block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cipher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cipher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block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chaining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Hoe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veilig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DES?</a:t>
            </a:r>
            <a:endParaRPr sz="20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DES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challenge:</a:t>
            </a:r>
            <a:r>
              <a:rPr sz="1800" spc="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minder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dan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dag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kan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je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56-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bit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sleutel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kraken</a:t>
            </a:r>
            <a:endParaRPr sz="18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90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Geen</a:t>
            </a:r>
            <a:r>
              <a:rPr sz="18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bekende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analytische</a:t>
            </a:r>
            <a:r>
              <a:rPr sz="1800" spc="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aanvallen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DES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beveiligen</a:t>
            </a:r>
            <a:endParaRPr sz="20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3DES: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DES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3x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toepassen, telkens</a:t>
            </a:r>
            <a:r>
              <a:rPr sz="18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andere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start-sleutel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AES:</a:t>
            </a:r>
            <a:r>
              <a:rPr spc="-175" dirty="0"/>
              <a:t> </a:t>
            </a:r>
            <a:r>
              <a:rPr dirty="0"/>
              <a:t>Advanced</a:t>
            </a:r>
            <a:r>
              <a:rPr spc="-25" dirty="0"/>
              <a:t> </a:t>
            </a:r>
            <a:r>
              <a:rPr dirty="0"/>
              <a:t>Encryption</a:t>
            </a:r>
            <a:r>
              <a:rPr spc="-30" dirty="0"/>
              <a:t> </a:t>
            </a:r>
            <a:r>
              <a:rPr spc="-10" dirty="0"/>
              <a:t>Standard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1989937"/>
            <a:ext cx="9999980" cy="19056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symmetric-key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NIST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standard,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heeft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DES</a:t>
            </a:r>
            <a:r>
              <a:rPr sz="2000" spc="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vervangen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(Nov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2001)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verwerkt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data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in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128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bit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blocks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128,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192,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or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256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bit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keys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brute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force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decryption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(elke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sleutel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proberen)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kost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1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sec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DES,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kost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149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biljoen</a:t>
            </a:r>
            <a:r>
              <a:rPr sz="2000" spc="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jaar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ts val="2280"/>
              </a:lnSpc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voor</a:t>
            </a:r>
            <a:r>
              <a:rPr sz="2000" spc="-10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AES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Public</a:t>
            </a:r>
            <a:r>
              <a:rPr spc="-35" dirty="0"/>
              <a:t> </a:t>
            </a:r>
            <a:r>
              <a:rPr dirty="0"/>
              <a:t>key </a:t>
            </a:r>
            <a:r>
              <a:rPr spc="-10" dirty="0"/>
              <a:t>cryptography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2211781"/>
            <a:ext cx="6011545" cy="2084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Radicaal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andere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aanpak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(Diffie-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Helman76,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RSA78)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E00AE"/>
              </a:buClr>
              <a:buFont typeface="Arial"/>
              <a:buChar char="•"/>
            </a:pP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Zender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ontvanger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delen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E00AE"/>
                </a:solidFill>
                <a:latin typeface="Arial"/>
                <a:cs typeface="Arial"/>
              </a:rPr>
              <a:t>geen</a:t>
            </a:r>
            <a:r>
              <a:rPr sz="2000" i="1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geheime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sleutel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E00AE"/>
              </a:buClr>
              <a:buFont typeface="Arial"/>
              <a:buChar char="•"/>
            </a:pP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Public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bekend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bij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0E00AE"/>
                </a:solidFill>
                <a:latin typeface="Arial"/>
                <a:cs typeface="Arial"/>
              </a:rPr>
              <a:t>iedereen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E00AE"/>
              </a:buClr>
              <a:buFont typeface="Arial"/>
              <a:buChar char="•"/>
            </a:pP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i="1" dirty="0">
                <a:solidFill>
                  <a:srgbClr val="0E00AE"/>
                </a:solidFill>
                <a:latin typeface="Arial"/>
                <a:cs typeface="Arial"/>
              </a:rPr>
              <a:t>Private</a:t>
            </a:r>
            <a:r>
              <a:rPr sz="2000" i="1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alleen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bekend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bij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eigenaar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658" y="1266901"/>
            <a:ext cx="519049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Public</a:t>
            </a:r>
            <a:r>
              <a:rPr spc="-35" dirty="0"/>
              <a:t> </a:t>
            </a:r>
            <a:r>
              <a:rPr dirty="0"/>
              <a:t>key </a:t>
            </a:r>
            <a:r>
              <a:rPr spc="-10" dirty="0"/>
              <a:t>cryptography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9664" y="4018026"/>
            <a:ext cx="14065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9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plaintext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message,</a:t>
            </a:r>
            <a:r>
              <a:rPr sz="20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3034" y="4021327"/>
            <a:ext cx="11290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ciphertext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746" y="3249167"/>
            <a:ext cx="486793" cy="6056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10255" y="3948684"/>
            <a:ext cx="1391920" cy="803275"/>
          </a:xfrm>
          <a:prstGeom prst="rect">
            <a:avLst/>
          </a:prstGeom>
          <a:solidFill>
            <a:srgbClr val="000000"/>
          </a:solidFill>
          <a:ln w="9360">
            <a:solidFill>
              <a:srgbClr val="0E00AE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32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encryption</a:t>
            </a:r>
            <a:endParaRPr sz="200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30467" y="3962400"/>
            <a:ext cx="1377950" cy="802005"/>
          </a:xfrm>
          <a:prstGeom prst="rect">
            <a:avLst/>
          </a:prstGeom>
          <a:solidFill>
            <a:srgbClr val="000000"/>
          </a:solidFill>
          <a:ln w="9360">
            <a:solidFill>
              <a:srgbClr val="0E00AE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16535" marR="73660" indent="-96520">
              <a:lnSpc>
                <a:spcPct val="100000"/>
              </a:lnSpc>
              <a:spcBef>
                <a:spcPts val="42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decryption algorithm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31385" y="4300982"/>
            <a:ext cx="1811020" cy="114935"/>
          </a:xfrm>
          <a:custGeom>
            <a:avLst/>
            <a:gdLst/>
            <a:ahLst/>
            <a:cxnLst/>
            <a:rect l="l" t="t" r="r" b="b"/>
            <a:pathLst>
              <a:path w="1811020" h="114935">
                <a:moveTo>
                  <a:pt x="1772626" y="38100"/>
                </a:moveTo>
                <a:lnTo>
                  <a:pt x="1715008" y="38100"/>
                </a:lnTo>
                <a:lnTo>
                  <a:pt x="1715135" y="76200"/>
                </a:lnTo>
                <a:lnTo>
                  <a:pt x="1696084" y="76247"/>
                </a:lnTo>
                <a:lnTo>
                  <a:pt x="1696212" y="114427"/>
                </a:lnTo>
                <a:lnTo>
                  <a:pt x="1810512" y="56896"/>
                </a:lnTo>
                <a:lnTo>
                  <a:pt x="1772626" y="38100"/>
                </a:lnTo>
                <a:close/>
              </a:path>
              <a:path w="1811020" h="114935">
                <a:moveTo>
                  <a:pt x="1695958" y="38147"/>
                </a:moveTo>
                <a:lnTo>
                  <a:pt x="0" y="42418"/>
                </a:lnTo>
                <a:lnTo>
                  <a:pt x="0" y="80518"/>
                </a:lnTo>
                <a:lnTo>
                  <a:pt x="1696084" y="76247"/>
                </a:lnTo>
                <a:lnTo>
                  <a:pt x="1695958" y="38147"/>
                </a:lnTo>
                <a:close/>
              </a:path>
              <a:path w="1811020" h="114935">
                <a:moveTo>
                  <a:pt x="1715008" y="38100"/>
                </a:moveTo>
                <a:lnTo>
                  <a:pt x="1695958" y="38147"/>
                </a:lnTo>
                <a:lnTo>
                  <a:pt x="1696084" y="76247"/>
                </a:lnTo>
                <a:lnTo>
                  <a:pt x="1715135" y="76200"/>
                </a:lnTo>
                <a:lnTo>
                  <a:pt x="1715008" y="38100"/>
                </a:lnTo>
                <a:close/>
              </a:path>
              <a:path w="1811020" h="114935">
                <a:moveTo>
                  <a:pt x="1695830" y="0"/>
                </a:moveTo>
                <a:lnTo>
                  <a:pt x="1695958" y="38147"/>
                </a:lnTo>
                <a:lnTo>
                  <a:pt x="1772626" y="38100"/>
                </a:lnTo>
                <a:lnTo>
                  <a:pt x="1695830" y="0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216736" y="2684420"/>
            <a:ext cx="818515" cy="1231900"/>
            <a:chOff x="6216736" y="2684420"/>
            <a:chExt cx="818515" cy="12319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8796" y="3265931"/>
              <a:ext cx="665988" cy="6499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25832" y="2697555"/>
              <a:ext cx="521334" cy="248920"/>
            </a:xfrm>
            <a:custGeom>
              <a:avLst/>
              <a:gdLst/>
              <a:ahLst/>
              <a:cxnLst/>
              <a:rect l="l" t="t" r="r" b="b"/>
              <a:pathLst>
                <a:path w="521334" h="248919">
                  <a:moveTo>
                    <a:pt x="520763" y="83693"/>
                  </a:moveTo>
                  <a:lnTo>
                    <a:pt x="465378" y="46456"/>
                  </a:lnTo>
                  <a:lnTo>
                    <a:pt x="422148" y="58686"/>
                  </a:lnTo>
                  <a:lnTo>
                    <a:pt x="381952" y="33693"/>
                  </a:lnTo>
                  <a:lnTo>
                    <a:pt x="315137" y="60820"/>
                  </a:lnTo>
                  <a:lnTo>
                    <a:pt x="287807" y="41490"/>
                  </a:lnTo>
                  <a:lnTo>
                    <a:pt x="245478" y="62242"/>
                  </a:lnTo>
                  <a:lnTo>
                    <a:pt x="232422" y="25704"/>
                  </a:lnTo>
                  <a:lnTo>
                    <a:pt x="191516" y="49999"/>
                  </a:lnTo>
                  <a:lnTo>
                    <a:pt x="136855" y="20066"/>
                  </a:lnTo>
                  <a:lnTo>
                    <a:pt x="136855" y="99301"/>
                  </a:lnTo>
                  <a:lnTo>
                    <a:pt x="125234" y="140804"/>
                  </a:lnTo>
                  <a:lnTo>
                    <a:pt x="101650" y="163664"/>
                  </a:lnTo>
                  <a:lnTo>
                    <a:pt x="85039" y="166522"/>
                  </a:lnTo>
                  <a:lnTo>
                    <a:pt x="72885" y="160832"/>
                  </a:lnTo>
                  <a:lnTo>
                    <a:pt x="62712" y="151612"/>
                  </a:lnTo>
                  <a:lnTo>
                    <a:pt x="49123" y="137248"/>
                  </a:lnTo>
                  <a:lnTo>
                    <a:pt x="56946" y="111340"/>
                  </a:lnTo>
                  <a:lnTo>
                    <a:pt x="69456" y="93408"/>
                  </a:lnTo>
                  <a:lnTo>
                    <a:pt x="109512" y="75717"/>
                  </a:lnTo>
                  <a:lnTo>
                    <a:pt x="136855" y="99301"/>
                  </a:lnTo>
                  <a:lnTo>
                    <a:pt x="136855" y="20066"/>
                  </a:lnTo>
                  <a:lnTo>
                    <a:pt x="100228" y="0"/>
                  </a:lnTo>
                  <a:lnTo>
                    <a:pt x="24472" y="41414"/>
                  </a:lnTo>
                  <a:lnTo>
                    <a:pt x="20193" y="36880"/>
                  </a:lnTo>
                  <a:lnTo>
                    <a:pt x="0" y="64185"/>
                  </a:lnTo>
                  <a:lnTo>
                    <a:pt x="8851" y="71577"/>
                  </a:lnTo>
                  <a:lnTo>
                    <a:pt x="6616" y="176453"/>
                  </a:lnTo>
                  <a:lnTo>
                    <a:pt x="69138" y="245770"/>
                  </a:lnTo>
                  <a:lnTo>
                    <a:pt x="132562" y="248793"/>
                  </a:lnTo>
                  <a:lnTo>
                    <a:pt x="217411" y="176453"/>
                  </a:lnTo>
                  <a:lnTo>
                    <a:pt x="256197" y="195770"/>
                  </a:lnTo>
                  <a:lnTo>
                    <a:pt x="259041" y="140804"/>
                  </a:lnTo>
                  <a:lnTo>
                    <a:pt x="510755" y="104444"/>
                  </a:lnTo>
                  <a:lnTo>
                    <a:pt x="520763" y="83693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6726" y="2684424"/>
              <a:ext cx="539750" cy="272415"/>
            </a:xfrm>
            <a:custGeom>
              <a:avLst/>
              <a:gdLst/>
              <a:ahLst/>
              <a:cxnLst/>
              <a:rect l="l" t="t" r="r" b="b"/>
              <a:pathLst>
                <a:path w="539750" h="272414">
                  <a:moveTo>
                    <a:pt x="478777" y="93103"/>
                  </a:moveTo>
                  <a:lnTo>
                    <a:pt x="478599" y="88493"/>
                  </a:lnTo>
                  <a:lnTo>
                    <a:pt x="337642" y="97002"/>
                  </a:lnTo>
                  <a:lnTo>
                    <a:pt x="200266" y="103212"/>
                  </a:lnTo>
                  <a:lnTo>
                    <a:pt x="200990" y="112610"/>
                  </a:lnTo>
                  <a:lnTo>
                    <a:pt x="208483" y="119697"/>
                  </a:lnTo>
                  <a:lnTo>
                    <a:pt x="239915" y="127863"/>
                  </a:lnTo>
                  <a:lnTo>
                    <a:pt x="286905" y="129286"/>
                  </a:lnTo>
                  <a:lnTo>
                    <a:pt x="341401" y="125374"/>
                  </a:lnTo>
                  <a:lnTo>
                    <a:pt x="395528" y="117932"/>
                  </a:lnTo>
                  <a:lnTo>
                    <a:pt x="441794" y="108178"/>
                  </a:lnTo>
                  <a:lnTo>
                    <a:pt x="476275" y="95415"/>
                  </a:lnTo>
                  <a:lnTo>
                    <a:pt x="478777" y="93103"/>
                  </a:lnTo>
                  <a:close/>
                </a:path>
                <a:path w="539750" h="272414">
                  <a:moveTo>
                    <a:pt x="539165" y="108889"/>
                  </a:moveTo>
                  <a:lnTo>
                    <a:pt x="519506" y="70053"/>
                  </a:lnTo>
                  <a:lnTo>
                    <a:pt x="507898" y="60655"/>
                  </a:lnTo>
                  <a:lnTo>
                    <a:pt x="507898" y="101257"/>
                  </a:lnTo>
                  <a:lnTo>
                    <a:pt x="507187" y="107289"/>
                  </a:lnTo>
                  <a:lnTo>
                    <a:pt x="455904" y="120408"/>
                  </a:lnTo>
                  <a:lnTo>
                    <a:pt x="388200" y="129286"/>
                  </a:lnTo>
                  <a:lnTo>
                    <a:pt x="319786" y="135483"/>
                  </a:lnTo>
                  <a:lnTo>
                    <a:pt x="265823" y="140449"/>
                  </a:lnTo>
                  <a:lnTo>
                    <a:pt x="253492" y="142227"/>
                  </a:lnTo>
                  <a:lnTo>
                    <a:pt x="256895" y="165811"/>
                  </a:lnTo>
                  <a:lnTo>
                    <a:pt x="258508" y="189039"/>
                  </a:lnTo>
                  <a:lnTo>
                    <a:pt x="252971" y="192227"/>
                  </a:lnTo>
                  <a:lnTo>
                    <a:pt x="247954" y="191871"/>
                  </a:lnTo>
                  <a:lnTo>
                    <a:pt x="238848" y="184962"/>
                  </a:lnTo>
                  <a:lnTo>
                    <a:pt x="234556" y="180530"/>
                  </a:lnTo>
                  <a:lnTo>
                    <a:pt x="230276" y="176618"/>
                  </a:lnTo>
                  <a:lnTo>
                    <a:pt x="225806" y="174675"/>
                  </a:lnTo>
                  <a:lnTo>
                    <a:pt x="220992" y="175387"/>
                  </a:lnTo>
                  <a:lnTo>
                    <a:pt x="207937" y="185851"/>
                  </a:lnTo>
                  <a:lnTo>
                    <a:pt x="203835" y="190995"/>
                  </a:lnTo>
                  <a:lnTo>
                    <a:pt x="199377" y="196659"/>
                  </a:lnTo>
                  <a:lnTo>
                    <a:pt x="194538" y="202882"/>
                  </a:lnTo>
                  <a:lnTo>
                    <a:pt x="189179" y="209435"/>
                  </a:lnTo>
                  <a:lnTo>
                    <a:pt x="154889" y="240461"/>
                  </a:lnTo>
                  <a:lnTo>
                    <a:pt x="127546" y="251282"/>
                  </a:lnTo>
                  <a:lnTo>
                    <a:pt x="97358" y="248272"/>
                  </a:lnTo>
                  <a:lnTo>
                    <a:pt x="60210" y="223977"/>
                  </a:lnTo>
                  <a:lnTo>
                    <a:pt x="35001" y="183718"/>
                  </a:lnTo>
                  <a:lnTo>
                    <a:pt x="23761" y="121119"/>
                  </a:lnTo>
                  <a:lnTo>
                    <a:pt x="25552" y="106045"/>
                  </a:lnTo>
                  <a:lnTo>
                    <a:pt x="43230" y="67741"/>
                  </a:lnTo>
                  <a:lnTo>
                    <a:pt x="46812" y="62953"/>
                  </a:lnTo>
                  <a:lnTo>
                    <a:pt x="86283" y="35471"/>
                  </a:lnTo>
                  <a:lnTo>
                    <a:pt x="116306" y="31572"/>
                  </a:lnTo>
                  <a:lnTo>
                    <a:pt x="136309" y="34937"/>
                  </a:lnTo>
                  <a:lnTo>
                    <a:pt x="172389" y="55689"/>
                  </a:lnTo>
                  <a:lnTo>
                    <a:pt x="186867" y="72885"/>
                  </a:lnTo>
                  <a:lnTo>
                    <a:pt x="194538" y="77139"/>
                  </a:lnTo>
                  <a:lnTo>
                    <a:pt x="201333" y="77139"/>
                  </a:lnTo>
                  <a:lnTo>
                    <a:pt x="212775" y="68808"/>
                  </a:lnTo>
                  <a:lnTo>
                    <a:pt x="217766" y="62776"/>
                  </a:lnTo>
                  <a:lnTo>
                    <a:pt x="222770" y="57099"/>
                  </a:lnTo>
                  <a:lnTo>
                    <a:pt x="227787" y="52844"/>
                  </a:lnTo>
                  <a:lnTo>
                    <a:pt x="232778" y="51079"/>
                  </a:lnTo>
                  <a:lnTo>
                    <a:pt x="238671" y="61709"/>
                  </a:lnTo>
                  <a:lnTo>
                    <a:pt x="241528" y="74485"/>
                  </a:lnTo>
                  <a:lnTo>
                    <a:pt x="243674" y="80162"/>
                  </a:lnTo>
                  <a:lnTo>
                    <a:pt x="246710" y="84416"/>
                  </a:lnTo>
                  <a:lnTo>
                    <a:pt x="251714" y="86537"/>
                  </a:lnTo>
                  <a:lnTo>
                    <a:pt x="259041" y="85839"/>
                  </a:lnTo>
                  <a:lnTo>
                    <a:pt x="265823" y="82816"/>
                  </a:lnTo>
                  <a:lnTo>
                    <a:pt x="293687" y="70053"/>
                  </a:lnTo>
                  <a:lnTo>
                    <a:pt x="303707" y="73774"/>
                  </a:lnTo>
                  <a:lnTo>
                    <a:pt x="312813" y="80518"/>
                  </a:lnTo>
                  <a:lnTo>
                    <a:pt x="317461" y="83527"/>
                  </a:lnTo>
                  <a:lnTo>
                    <a:pt x="322097" y="85661"/>
                  </a:lnTo>
                  <a:lnTo>
                    <a:pt x="332638" y="84772"/>
                  </a:lnTo>
                  <a:lnTo>
                    <a:pt x="346392" y="79451"/>
                  </a:lnTo>
                  <a:lnTo>
                    <a:pt x="352640" y="74307"/>
                  </a:lnTo>
                  <a:lnTo>
                    <a:pt x="358724" y="69164"/>
                  </a:lnTo>
                  <a:lnTo>
                    <a:pt x="364794" y="64909"/>
                  </a:lnTo>
                  <a:lnTo>
                    <a:pt x="371221" y="62598"/>
                  </a:lnTo>
                  <a:lnTo>
                    <a:pt x="378193" y="63309"/>
                  </a:lnTo>
                  <a:lnTo>
                    <a:pt x="386054" y="68097"/>
                  </a:lnTo>
                  <a:lnTo>
                    <a:pt x="397675" y="76784"/>
                  </a:lnTo>
                  <a:lnTo>
                    <a:pt x="407314" y="82283"/>
                  </a:lnTo>
                  <a:lnTo>
                    <a:pt x="423570" y="84950"/>
                  </a:lnTo>
                  <a:lnTo>
                    <a:pt x="440182" y="80518"/>
                  </a:lnTo>
                  <a:lnTo>
                    <a:pt x="450367" y="76784"/>
                  </a:lnTo>
                  <a:lnTo>
                    <a:pt x="462876" y="72885"/>
                  </a:lnTo>
                  <a:lnTo>
                    <a:pt x="486283" y="77673"/>
                  </a:lnTo>
                  <a:lnTo>
                    <a:pt x="500748" y="85661"/>
                  </a:lnTo>
                  <a:lnTo>
                    <a:pt x="507187" y="95592"/>
                  </a:lnTo>
                  <a:lnTo>
                    <a:pt x="507898" y="101257"/>
                  </a:lnTo>
                  <a:lnTo>
                    <a:pt x="507898" y="60655"/>
                  </a:lnTo>
                  <a:lnTo>
                    <a:pt x="501827" y="56743"/>
                  </a:lnTo>
                  <a:lnTo>
                    <a:pt x="495744" y="53555"/>
                  </a:lnTo>
                  <a:lnTo>
                    <a:pt x="489851" y="51079"/>
                  </a:lnTo>
                  <a:lnTo>
                    <a:pt x="476275" y="48590"/>
                  </a:lnTo>
                  <a:lnTo>
                    <a:pt x="463588" y="51257"/>
                  </a:lnTo>
                  <a:lnTo>
                    <a:pt x="451446" y="56400"/>
                  </a:lnTo>
                  <a:lnTo>
                    <a:pt x="439470" y="61544"/>
                  </a:lnTo>
                  <a:lnTo>
                    <a:pt x="428574" y="56045"/>
                  </a:lnTo>
                  <a:lnTo>
                    <a:pt x="419468" y="51257"/>
                  </a:lnTo>
                  <a:lnTo>
                    <a:pt x="411784" y="47523"/>
                  </a:lnTo>
                  <a:lnTo>
                    <a:pt x="405345" y="44335"/>
                  </a:lnTo>
                  <a:lnTo>
                    <a:pt x="395173" y="40614"/>
                  </a:lnTo>
                  <a:lnTo>
                    <a:pt x="387299" y="39725"/>
                  </a:lnTo>
                  <a:lnTo>
                    <a:pt x="370509" y="45224"/>
                  </a:lnTo>
                  <a:lnTo>
                    <a:pt x="357822" y="50901"/>
                  </a:lnTo>
                  <a:lnTo>
                    <a:pt x="349440" y="54444"/>
                  </a:lnTo>
                  <a:lnTo>
                    <a:pt x="339610" y="58521"/>
                  </a:lnTo>
                  <a:lnTo>
                    <a:pt x="330860" y="53911"/>
                  </a:lnTo>
                  <a:lnTo>
                    <a:pt x="323354" y="50546"/>
                  </a:lnTo>
                  <a:lnTo>
                    <a:pt x="311378" y="46113"/>
                  </a:lnTo>
                  <a:lnTo>
                    <a:pt x="296189" y="45580"/>
                  </a:lnTo>
                  <a:lnTo>
                    <a:pt x="284403" y="52133"/>
                  </a:lnTo>
                  <a:lnTo>
                    <a:pt x="277088" y="56743"/>
                  </a:lnTo>
                  <a:lnTo>
                    <a:pt x="266890" y="61544"/>
                  </a:lnTo>
                  <a:lnTo>
                    <a:pt x="265823" y="58521"/>
                  </a:lnTo>
                  <a:lnTo>
                    <a:pt x="258330" y="36537"/>
                  </a:lnTo>
                  <a:lnTo>
                    <a:pt x="253669" y="30861"/>
                  </a:lnTo>
                  <a:lnTo>
                    <a:pt x="244386" y="28194"/>
                  </a:lnTo>
                  <a:lnTo>
                    <a:pt x="235635" y="29438"/>
                  </a:lnTo>
                  <a:lnTo>
                    <a:pt x="227241" y="34048"/>
                  </a:lnTo>
                  <a:lnTo>
                    <a:pt x="219024" y="40259"/>
                  </a:lnTo>
                  <a:lnTo>
                    <a:pt x="210616" y="46113"/>
                  </a:lnTo>
                  <a:lnTo>
                    <a:pt x="179552" y="22529"/>
                  </a:lnTo>
                  <a:lnTo>
                    <a:pt x="140944" y="6388"/>
                  </a:lnTo>
                  <a:lnTo>
                    <a:pt x="105587" y="0"/>
                  </a:lnTo>
                  <a:lnTo>
                    <a:pt x="70383" y="2844"/>
                  </a:lnTo>
                  <a:lnTo>
                    <a:pt x="31800" y="26428"/>
                  </a:lnTo>
                  <a:lnTo>
                    <a:pt x="6070" y="78917"/>
                  </a:lnTo>
                  <a:lnTo>
                    <a:pt x="0" y="135839"/>
                  </a:lnTo>
                  <a:lnTo>
                    <a:pt x="2501" y="160312"/>
                  </a:lnTo>
                  <a:lnTo>
                    <a:pt x="16789" y="203758"/>
                  </a:lnTo>
                  <a:lnTo>
                    <a:pt x="40906" y="238163"/>
                  </a:lnTo>
                  <a:lnTo>
                    <a:pt x="72351" y="261391"/>
                  </a:lnTo>
                  <a:lnTo>
                    <a:pt x="108623" y="271868"/>
                  </a:lnTo>
                  <a:lnTo>
                    <a:pt x="127914" y="271500"/>
                  </a:lnTo>
                  <a:lnTo>
                    <a:pt x="166674" y="258902"/>
                  </a:lnTo>
                  <a:lnTo>
                    <a:pt x="204012" y="228765"/>
                  </a:lnTo>
                  <a:lnTo>
                    <a:pt x="221157" y="206425"/>
                  </a:lnTo>
                  <a:lnTo>
                    <a:pt x="224561" y="202704"/>
                  </a:lnTo>
                  <a:lnTo>
                    <a:pt x="228854" y="202158"/>
                  </a:lnTo>
                  <a:lnTo>
                    <a:pt x="239395" y="207124"/>
                  </a:lnTo>
                  <a:lnTo>
                    <a:pt x="245452" y="210858"/>
                  </a:lnTo>
                  <a:lnTo>
                    <a:pt x="251904" y="214401"/>
                  </a:lnTo>
                  <a:lnTo>
                    <a:pt x="258673" y="216700"/>
                  </a:lnTo>
                  <a:lnTo>
                    <a:pt x="265823" y="216877"/>
                  </a:lnTo>
                  <a:lnTo>
                    <a:pt x="267258" y="216700"/>
                  </a:lnTo>
                  <a:lnTo>
                    <a:pt x="272897" y="214045"/>
                  </a:lnTo>
                  <a:lnTo>
                    <a:pt x="273342" y="213868"/>
                  </a:lnTo>
                  <a:lnTo>
                    <a:pt x="277431" y="211912"/>
                  </a:lnTo>
                  <a:lnTo>
                    <a:pt x="283159" y="204647"/>
                  </a:lnTo>
                  <a:lnTo>
                    <a:pt x="285470" y="186207"/>
                  </a:lnTo>
                  <a:lnTo>
                    <a:pt x="283870" y="169189"/>
                  </a:lnTo>
                  <a:lnTo>
                    <a:pt x="284581" y="163677"/>
                  </a:lnTo>
                  <a:lnTo>
                    <a:pt x="330504" y="155168"/>
                  </a:lnTo>
                  <a:lnTo>
                    <a:pt x="398030" y="146304"/>
                  </a:lnTo>
                  <a:lnTo>
                    <a:pt x="434467" y="141160"/>
                  </a:lnTo>
                  <a:lnTo>
                    <a:pt x="469303" y="135661"/>
                  </a:lnTo>
                  <a:lnTo>
                    <a:pt x="499681" y="129806"/>
                  </a:lnTo>
                  <a:lnTo>
                    <a:pt x="523074" y="124142"/>
                  </a:lnTo>
                  <a:lnTo>
                    <a:pt x="534517" y="117754"/>
                  </a:lnTo>
                  <a:lnTo>
                    <a:pt x="539165" y="108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1219" y="2764221"/>
              <a:ext cx="98789" cy="105511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2065782" y="4331080"/>
            <a:ext cx="675640" cy="114935"/>
          </a:xfrm>
          <a:custGeom>
            <a:avLst/>
            <a:gdLst/>
            <a:ahLst/>
            <a:cxnLst/>
            <a:rect l="l" t="t" r="r" b="b"/>
            <a:pathLst>
              <a:path w="675639" h="114935">
                <a:moveTo>
                  <a:pt x="560705" y="0"/>
                </a:moveTo>
                <a:lnTo>
                  <a:pt x="560705" y="114554"/>
                </a:lnTo>
                <a:lnTo>
                  <a:pt x="637074" y="76327"/>
                </a:lnTo>
                <a:lnTo>
                  <a:pt x="579755" y="76327"/>
                </a:lnTo>
                <a:lnTo>
                  <a:pt x="579755" y="38227"/>
                </a:lnTo>
                <a:lnTo>
                  <a:pt x="637074" y="38227"/>
                </a:lnTo>
                <a:lnTo>
                  <a:pt x="560705" y="0"/>
                </a:lnTo>
                <a:close/>
              </a:path>
              <a:path w="675639" h="114935">
                <a:moveTo>
                  <a:pt x="560705" y="38227"/>
                </a:moveTo>
                <a:lnTo>
                  <a:pt x="0" y="38227"/>
                </a:lnTo>
                <a:lnTo>
                  <a:pt x="0" y="76327"/>
                </a:lnTo>
                <a:lnTo>
                  <a:pt x="560705" y="76327"/>
                </a:lnTo>
                <a:lnTo>
                  <a:pt x="560705" y="38227"/>
                </a:lnTo>
                <a:close/>
              </a:path>
              <a:path w="675639" h="114935">
                <a:moveTo>
                  <a:pt x="637074" y="38227"/>
                </a:moveTo>
                <a:lnTo>
                  <a:pt x="579755" y="38227"/>
                </a:lnTo>
                <a:lnTo>
                  <a:pt x="579755" y="76327"/>
                </a:lnTo>
                <a:lnTo>
                  <a:pt x="637074" y="76327"/>
                </a:lnTo>
                <a:lnTo>
                  <a:pt x="675132" y="57277"/>
                </a:lnTo>
                <a:lnTo>
                  <a:pt x="637074" y="38227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51597" y="4286884"/>
            <a:ext cx="673735" cy="114935"/>
          </a:xfrm>
          <a:custGeom>
            <a:avLst/>
            <a:gdLst/>
            <a:ahLst/>
            <a:cxnLst/>
            <a:rect l="l" t="t" r="r" b="b"/>
            <a:pathLst>
              <a:path w="673734" h="114935">
                <a:moveTo>
                  <a:pt x="559180" y="0"/>
                </a:moveTo>
                <a:lnTo>
                  <a:pt x="559180" y="114553"/>
                </a:lnTo>
                <a:lnTo>
                  <a:pt x="635550" y="76326"/>
                </a:lnTo>
                <a:lnTo>
                  <a:pt x="578230" y="76326"/>
                </a:lnTo>
                <a:lnTo>
                  <a:pt x="578230" y="38226"/>
                </a:lnTo>
                <a:lnTo>
                  <a:pt x="635550" y="38226"/>
                </a:lnTo>
                <a:lnTo>
                  <a:pt x="559180" y="0"/>
                </a:lnTo>
                <a:close/>
              </a:path>
              <a:path w="673734" h="114935">
                <a:moveTo>
                  <a:pt x="559180" y="38226"/>
                </a:moveTo>
                <a:lnTo>
                  <a:pt x="0" y="38226"/>
                </a:lnTo>
                <a:lnTo>
                  <a:pt x="0" y="76326"/>
                </a:lnTo>
                <a:lnTo>
                  <a:pt x="559180" y="76326"/>
                </a:lnTo>
                <a:lnTo>
                  <a:pt x="559180" y="38226"/>
                </a:lnTo>
                <a:close/>
              </a:path>
              <a:path w="673734" h="114935">
                <a:moveTo>
                  <a:pt x="635550" y="38226"/>
                </a:moveTo>
                <a:lnTo>
                  <a:pt x="578230" y="38226"/>
                </a:lnTo>
                <a:lnTo>
                  <a:pt x="578230" y="76326"/>
                </a:lnTo>
                <a:lnTo>
                  <a:pt x="635550" y="76326"/>
                </a:lnTo>
                <a:lnTo>
                  <a:pt x="673607" y="57276"/>
                </a:lnTo>
                <a:lnTo>
                  <a:pt x="635550" y="38226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220772" y="2011770"/>
            <a:ext cx="454659" cy="230504"/>
            <a:chOff x="6220772" y="2011770"/>
            <a:chExt cx="454659" cy="230504"/>
          </a:xfrm>
        </p:grpSpPr>
        <p:sp>
          <p:nvSpPr>
            <p:cNvPr id="17" name="object 17"/>
            <p:cNvSpPr/>
            <p:nvPr/>
          </p:nvSpPr>
          <p:spPr>
            <a:xfrm>
              <a:off x="6228436" y="2022893"/>
              <a:ext cx="439420" cy="210820"/>
            </a:xfrm>
            <a:custGeom>
              <a:avLst/>
              <a:gdLst/>
              <a:ahLst/>
              <a:cxnLst/>
              <a:rect l="l" t="t" r="r" b="b"/>
              <a:pathLst>
                <a:path w="439420" h="210819">
                  <a:moveTo>
                    <a:pt x="438848" y="70891"/>
                  </a:moveTo>
                  <a:lnTo>
                    <a:pt x="392176" y="39344"/>
                  </a:lnTo>
                  <a:lnTo>
                    <a:pt x="355752" y="49707"/>
                  </a:lnTo>
                  <a:lnTo>
                    <a:pt x="321868" y="28536"/>
                  </a:lnTo>
                  <a:lnTo>
                    <a:pt x="265557" y="51511"/>
                  </a:lnTo>
                  <a:lnTo>
                    <a:pt x="242531" y="35140"/>
                  </a:lnTo>
                  <a:lnTo>
                    <a:pt x="206857" y="52717"/>
                  </a:lnTo>
                  <a:lnTo>
                    <a:pt x="195859" y="21780"/>
                  </a:lnTo>
                  <a:lnTo>
                    <a:pt x="161391" y="42354"/>
                  </a:lnTo>
                  <a:lnTo>
                    <a:pt x="115328" y="17005"/>
                  </a:lnTo>
                  <a:lnTo>
                    <a:pt x="115328" y="84112"/>
                  </a:lnTo>
                  <a:lnTo>
                    <a:pt x="105537" y="119253"/>
                  </a:lnTo>
                  <a:lnTo>
                    <a:pt x="85661" y="138633"/>
                  </a:lnTo>
                  <a:lnTo>
                    <a:pt x="71666" y="141046"/>
                  </a:lnTo>
                  <a:lnTo>
                    <a:pt x="61417" y="136232"/>
                  </a:lnTo>
                  <a:lnTo>
                    <a:pt x="52844" y="128409"/>
                  </a:lnTo>
                  <a:lnTo>
                    <a:pt x="41402" y="116255"/>
                  </a:lnTo>
                  <a:lnTo>
                    <a:pt x="47980" y="94322"/>
                  </a:lnTo>
                  <a:lnTo>
                    <a:pt x="58534" y="79121"/>
                  </a:lnTo>
                  <a:lnTo>
                    <a:pt x="92290" y="64135"/>
                  </a:lnTo>
                  <a:lnTo>
                    <a:pt x="115328" y="84112"/>
                  </a:lnTo>
                  <a:lnTo>
                    <a:pt x="115328" y="17005"/>
                  </a:lnTo>
                  <a:lnTo>
                    <a:pt x="84455" y="0"/>
                  </a:lnTo>
                  <a:lnTo>
                    <a:pt x="20624" y="35077"/>
                  </a:lnTo>
                  <a:lnTo>
                    <a:pt x="17018" y="31242"/>
                  </a:lnTo>
                  <a:lnTo>
                    <a:pt x="0" y="54368"/>
                  </a:lnTo>
                  <a:lnTo>
                    <a:pt x="7454" y="60629"/>
                  </a:lnTo>
                  <a:lnTo>
                    <a:pt x="5575" y="149453"/>
                  </a:lnTo>
                  <a:lnTo>
                    <a:pt x="58267" y="208165"/>
                  </a:lnTo>
                  <a:lnTo>
                    <a:pt x="111709" y="210718"/>
                  </a:lnTo>
                  <a:lnTo>
                    <a:pt x="183210" y="149453"/>
                  </a:lnTo>
                  <a:lnTo>
                    <a:pt x="215900" y="165811"/>
                  </a:lnTo>
                  <a:lnTo>
                    <a:pt x="218287" y="119253"/>
                  </a:lnTo>
                  <a:lnTo>
                    <a:pt x="430415" y="88468"/>
                  </a:lnTo>
                  <a:lnTo>
                    <a:pt x="438848" y="70891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0772" y="2011770"/>
              <a:ext cx="454347" cy="23026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605521" y="4016197"/>
            <a:ext cx="10598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plaintext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2614" y="4632197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09159" y="4435297"/>
            <a:ext cx="7677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400" spc="-15" baseline="36458" dirty="0">
                <a:solidFill>
                  <a:srgbClr val="C00000"/>
                </a:solidFill>
                <a:latin typeface="Arial"/>
                <a:cs typeface="Arial"/>
              </a:rPr>
              <a:t>+</a:t>
            </a: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(m)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68972" y="1795399"/>
            <a:ext cx="347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-37" baseline="-31944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1600" spc="-25" dirty="0">
                <a:solidFill>
                  <a:srgbClr val="C00000"/>
                </a:solidFill>
                <a:latin typeface="Arial"/>
                <a:cs typeface="Arial"/>
              </a:rPr>
              <a:t>+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8898" y="2126742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49159" y="1885315"/>
            <a:ext cx="134048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Bob’s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i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public</a:t>
            </a:r>
            <a:endParaRPr sz="18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key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800" dirty="0">
                <a:latin typeface="Arial"/>
                <a:cs typeface="Arial"/>
              </a:rPr>
              <a:t>Bob’s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i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private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86651" y="2837815"/>
            <a:ext cx="669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868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400" spc="502" baseline="86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key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78497" y="2498851"/>
            <a:ext cx="385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aseline="-29166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3000" spc="7" baseline="-2916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96070" y="4848225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81543" y="4829047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94727" y="4607179"/>
            <a:ext cx="177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000" spc="-25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15" baseline="43402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2400" spc="-262" baseline="43402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2000" spc="-1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400" spc="-15" baseline="41666" dirty="0">
                <a:solidFill>
                  <a:srgbClr val="C00000"/>
                </a:solidFill>
                <a:latin typeface="Arial"/>
                <a:cs typeface="Arial"/>
              </a:rPr>
              <a:t>+</a:t>
            </a:r>
            <a:r>
              <a:rPr sz="2400" spc="-419" baseline="4166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Arial"/>
                <a:cs typeface="Arial"/>
              </a:rPr>
              <a:t>(m)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672078" y="2132456"/>
            <a:ext cx="2806065" cy="1764030"/>
          </a:xfrm>
          <a:custGeom>
            <a:avLst/>
            <a:gdLst/>
            <a:ahLst/>
            <a:cxnLst/>
            <a:rect l="l" t="t" r="r" b="b"/>
            <a:pathLst>
              <a:path w="2806065" h="1764029">
                <a:moveTo>
                  <a:pt x="40386" y="95631"/>
                </a:moveTo>
                <a:lnTo>
                  <a:pt x="40005" y="19304"/>
                </a:lnTo>
                <a:lnTo>
                  <a:pt x="20955" y="19431"/>
                </a:lnTo>
                <a:lnTo>
                  <a:pt x="21336" y="95758"/>
                </a:lnTo>
                <a:lnTo>
                  <a:pt x="40386" y="95631"/>
                </a:lnTo>
                <a:close/>
              </a:path>
              <a:path w="2806065" h="1764029">
                <a:moveTo>
                  <a:pt x="41021" y="229235"/>
                </a:moveTo>
                <a:lnTo>
                  <a:pt x="40640" y="152908"/>
                </a:lnTo>
                <a:lnTo>
                  <a:pt x="21590" y="153035"/>
                </a:lnTo>
                <a:lnTo>
                  <a:pt x="21971" y="229362"/>
                </a:lnTo>
                <a:lnTo>
                  <a:pt x="41021" y="229235"/>
                </a:lnTo>
                <a:close/>
              </a:path>
              <a:path w="2806065" h="1764029">
                <a:moveTo>
                  <a:pt x="41656" y="362839"/>
                </a:moveTo>
                <a:lnTo>
                  <a:pt x="41275" y="286512"/>
                </a:lnTo>
                <a:lnTo>
                  <a:pt x="22225" y="286512"/>
                </a:lnTo>
                <a:lnTo>
                  <a:pt x="22479" y="362839"/>
                </a:lnTo>
                <a:lnTo>
                  <a:pt x="41656" y="362839"/>
                </a:lnTo>
                <a:close/>
              </a:path>
              <a:path w="2806065" h="1764029">
                <a:moveTo>
                  <a:pt x="42164" y="496316"/>
                </a:moveTo>
                <a:lnTo>
                  <a:pt x="41910" y="419989"/>
                </a:lnTo>
                <a:lnTo>
                  <a:pt x="22733" y="420116"/>
                </a:lnTo>
                <a:lnTo>
                  <a:pt x="23114" y="496443"/>
                </a:lnTo>
                <a:lnTo>
                  <a:pt x="42164" y="496316"/>
                </a:lnTo>
                <a:close/>
              </a:path>
              <a:path w="2806065" h="1764029">
                <a:moveTo>
                  <a:pt x="42799" y="629920"/>
                </a:moveTo>
                <a:lnTo>
                  <a:pt x="42418" y="553593"/>
                </a:lnTo>
                <a:lnTo>
                  <a:pt x="23368" y="553720"/>
                </a:lnTo>
                <a:lnTo>
                  <a:pt x="23749" y="630047"/>
                </a:lnTo>
                <a:lnTo>
                  <a:pt x="42799" y="629920"/>
                </a:lnTo>
                <a:close/>
              </a:path>
              <a:path w="2806065" h="1764029">
                <a:moveTo>
                  <a:pt x="43434" y="763524"/>
                </a:moveTo>
                <a:lnTo>
                  <a:pt x="43053" y="687197"/>
                </a:lnTo>
                <a:lnTo>
                  <a:pt x="24003" y="687197"/>
                </a:lnTo>
                <a:lnTo>
                  <a:pt x="24384" y="763524"/>
                </a:lnTo>
                <a:lnTo>
                  <a:pt x="43434" y="763524"/>
                </a:lnTo>
                <a:close/>
              </a:path>
              <a:path w="2806065" h="1764029">
                <a:moveTo>
                  <a:pt x="44069" y="897001"/>
                </a:moveTo>
                <a:lnTo>
                  <a:pt x="43688" y="820674"/>
                </a:lnTo>
                <a:lnTo>
                  <a:pt x="24638" y="820801"/>
                </a:lnTo>
                <a:lnTo>
                  <a:pt x="24892" y="897128"/>
                </a:lnTo>
                <a:lnTo>
                  <a:pt x="44069" y="897001"/>
                </a:lnTo>
                <a:close/>
              </a:path>
              <a:path w="2806065" h="1764029">
                <a:moveTo>
                  <a:pt x="44577" y="1030605"/>
                </a:moveTo>
                <a:lnTo>
                  <a:pt x="44323" y="954278"/>
                </a:lnTo>
                <a:lnTo>
                  <a:pt x="25273" y="954405"/>
                </a:lnTo>
                <a:lnTo>
                  <a:pt x="25527" y="1030732"/>
                </a:lnTo>
                <a:lnTo>
                  <a:pt x="44577" y="1030605"/>
                </a:lnTo>
                <a:close/>
              </a:path>
              <a:path w="2806065" h="1764029">
                <a:moveTo>
                  <a:pt x="45212" y="1164082"/>
                </a:moveTo>
                <a:lnTo>
                  <a:pt x="44958" y="1087882"/>
                </a:lnTo>
                <a:lnTo>
                  <a:pt x="25781" y="1087882"/>
                </a:lnTo>
                <a:lnTo>
                  <a:pt x="26162" y="1164209"/>
                </a:lnTo>
                <a:lnTo>
                  <a:pt x="45212" y="1164082"/>
                </a:lnTo>
                <a:close/>
              </a:path>
              <a:path w="2806065" h="1764029">
                <a:moveTo>
                  <a:pt x="45847" y="1297686"/>
                </a:moveTo>
                <a:lnTo>
                  <a:pt x="45466" y="1221359"/>
                </a:lnTo>
                <a:lnTo>
                  <a:pt x="26416" y="1221486"/>
                </a:lnTo>
                <a:lnTo>
                  <a:pt x="26797" y="1297813"/>
                </a:lnTo>
                <a:lnTo>
                  <a:pt x="45847" y="1297686"/>
                </a:lnTo>
                <a:close/>
              </a:path>
              <a:path w="2806065" h="1764029">
                <a:moveTo>
                  <a:pt x="46482" y="1431290"/>
                </a:moveTo>
                <a:lnTo>
                  <a:pt x="46101" y="1354963"/>
                </a:lnTo>
                <a:lnTo>
                  <a:pt x="27051" y="1355090"/>
                </a:lnTo>
                <a:lnTo>
                  <a:pt x="27432" y="1431290"/>
                </a:lnTo>
                <a:lnTo>
                  <a:pt x="46482" y="1431290"/>
                </a:lnTo>
                <a:close/>
              </a:path>
              <a:path w="2806065" h="1764029">
                <a:moveTo>
                  <a:pt x="47117" y="1564767"/>
                </a:moveTo>
                <a:lnTo>
                  <a:pt x="46736" y="1488440"/>
                </a:lnTo>
                <a:lnTo>
                  <a:pt x="27686" y="1488567"/>
                </a:lnTo>
                <a:lnTo>
                  <a:pt x="27940" y="1564894"/>
                </a:lnTo>
                <a:lnTo>
                  <a:pt x="47117" y="1564767"/>
                </a:lnTo>
                <a:close/>
              </a:path>
              <a:path w="2806065" h="1764029">
                <a:moveTo>
                  <a:pt x="76200" y="1687322"/>
                </a:moveTo>
                <a:lnTo>
                  <a:pt x="47586" y="1687423"/>
                </a:lnTo>
                <a:lnTo>
                  <a:pt x="47371" y="1622044"/>
                </a:lnTo>
                <a:lnTo>
                  <a:pt x="28194" y="1622171"/>
                </a:lnTo>
                <a:lnTo>
                  <a:pt x="28511" y="1687487"/>
                </a:lnTo>
                <a:lnTo>
                  <a:pt x="0" y="1687576"/>
                </a:lnTo>
                <a:lnTo>
                  <a:pt x="38354" y="1763649"/>
                </a:lnTo>
                <a:lnTo>
                  <a:pt x="70650" y="1698498"/>
                </a:lnTo>
                <a:lnTo>
                  <a:pt x="76200" y="1687322"/>
                </a:lnTo>
                <a:close/>
              </a:path>
              <a:path w="2806065" h="1764029">
                <a:moveTo>
                  <a:pt x="154178" y="0"/>
                </a:moveTo>
                <a:lnTo>
                  <a:pt x="77851" y="0"/>
                </a:lnTo>
                <a:lnTo>
                  <a:pt x="77851" y="19050"/>
                </a:lnTo>
                <a:lnTo>
                  <a:pt x="154178" y="19050"/>
                </a:lnTo>
                <a:lnTo>
                  <a:pt x="154178" y="0"/>
                </a:lnTo>
                <a:close/>
              </a:path>
              <a:path w="2806065" h="1764029">
                <a:moveTo>
                  <a:pt x="287782" y="0"/>
                </a:moveTo>
                <a:lnTo>
                  <a:pt x="211455" y="0"/>
                </a:lnTo>
                <a:lnTo>
                  <a:pt x="211455" y="19050"/>
                </a:lnTo>
                <a:lnTo>
                  <a:pt x="287782" y="19050"/>
                </a:lnTo>
                <a:lnTo>
                  <a:pt x="287782" y="0"/>
                </a:lnTo>
                <a:close/>
              </a:path>
              <a:path w="2806065" h="1764029">
                <a:moveTo>
                  <a:pt x="421259" y="0"/>
                </a:moveTo>
                <a:lnTo>
                  <a:pt x="344932" y="0"/>
                </a:lnTo>
                <a:lnTo>
                  <a:pt x="344932" y="19050"/>
                </a:lnTo>
                <a:lnTo>
                  <a:pt x="421259" y="19050"/>
                </a:lnTo>
                <a:lnTo>
                  <a:pt x="421259" y="0"/>
                </a:lnTo>
                <a:close/>
              </a:path>
              <a:path w="2806065" h="1764029">
                <a:moveTo>
                  <a:pt x="554863" y="0"/>
                </a:moveTo>
                <a:lnTo>
                  <a:pt x="478536" y="0"/>
                </a:lnTo>
                <a:lnTo>
                  <a:pt x="478536" y="19050"/>
                </a:lnTo>
                <a:lnTo>
                  <a:pt x="554863" y="19050"/>
                </a:lnTo>
                <a:lnTo>
                  <a:pt x="554863" y="0"/>
                </a:lnTo>
                <a:close/>
              </a:path>
              <a:path w="2806065" h="1764029">
                <a:moveTo>
                  <a:pt x="688340" y="0"/>
                </a:moveTo>
                <a:lnTo>
                  <a:pt x="612140" y="0"/>
                </a:lnTo>
                <a:lnTo>
                  <a:pt x="612140" y="19050"/>
                </a:lnTo>
                <a:lnTo>
                  <a:pt x="688340" y="19050"/>
                </a:lnTo>
                <a:lnTo>
                  <a:pt x="688340" y="0"/>
                </a:lnTo>
                <a:close/>
              </a:path>
              <a:path w="2806065" h="1764029">
                <a:moveTo>
                  <a:pt x="821944" y="0"/>
                </a:moveTo>
                <a:lnTo>
                  <a:pt x="745617" y="0"/>
                </a:lnTo>
                <a:lnTo>
                  <a:pt x="745617" y="19050"/>
                </a:lnTo>
                <a:lnTo>
                  <a:pt x="821944" y="19050"/>
                </a:lnTo>
                <a:lnTo>
                  <a:pt x="821944" y="0"/>
                </a:lnTo>
                <a:close/>
              </a:path>
              <a:path w="2806065" h="1764029">
                <a:moveTo>
                  <a:pt x="955548" y="0"/>
                </a:moveTo>
                <a:lnTo>
                  <a:pt x="879221" y="0"/>
                </a:lnTo>
                <a:lnTo>
                  <a:pt x="879221" y="19050"/>
                </a:lnTo>
                <a:lnTo>
                  <a:pt x="955548" y="19050"/>
                </a:lnTo>
                <a:lnTo>
                  <a:pt x="955548" y="0"/>
                </a:lnTo>
                <a:close/>
              </a:path>
              <a:path w="2806065" h="1764029">
                <a:moveTo>
                  <a:pt x="1089025" y="0"/>
                </a:moveTo>
                <a:lnTo>
                  <a:pt x="1012698" y="0"/>
                </a:lnTo>
                <a:lnTo>
                  <a:pt x="1012698" y="19050"/>
                </a:lnTo>
                <a:lnTo>
                  <a:pt x="1089025" y="19050"/>
                </a:lnTo>
                <a:lnTo>
                  <a:pt x="1089025" y="0"/>
                </a:lnTo>
                <a:close/>
              </a:path>
              <a:path w="2806065" h="1764029">
                <a:moveTo>
                  <a:pt x="1222629" y="0"/>
                </a:moveTo>
                <a:lnTo>
                  <a:pt x="1146302" y="0"/>
                </a:lnTo>
                <a:lnTo>
                  <a:pt x="1146302" y="19050"/>
                </a:lnTo>
                <a:lnTo>
                  <a:pt x="1222629" y="19050"/>
                </a:lnTo>
                <a:lnTo>
                  <a:pt x="1222629" y="0"/>
                </a:lnTo>
                <a:close/>
              </a:path>
              <a:path w="2806065" h="1764029">
                <a:moveTo>
                  <a:pt x="1356233" y="0"/>
                </a:moveTo>
                <a:lnTo>
                  <a:pt x="1279906" y="0"/>
                </a:lnTo>
                <a:lnTo>
                  <a:pt x="1279906" y="19050"/>
                </a:lnTo>
                <a:lnTo>
                  <a:pt x="1356233" y="19050"/>
                </a:lnTo>
                <a:lnTo>
                  <a:pt x="1356233" y="0"/>
                </a:lnTo>
                <a:close/>
              </a:path>
              <a:path w="2806065" h="1764029">
                <a:moveTo>
                  <a:pt x="1489710" y="0"/>
                </a:moveTo>
                <a:lnTo>
                  <a:pt x="1413383" y="0"/>
                </a:lnTo>
                <a:lnTo>
                  <a:pt x="1413383" y="19050"/>
                </a:lnTo>
                <a:lnTo>
                  <a:pt x="1489710" y="19050"/>
                </a:lnTo>
                <a:lnTo>
                  <a:pt x="1489710" y="0"/>
                </a:lnTo>
                <a:close/>
              </a:path>
              <a:path w="2806065" h="1764029">
                <a:moveTo>
                  <a:pt x="1623314" y="0"/>
                </a:moveTo>
                <a:lnTo>
                  <a:pt x="1546987" y="0"/>
                </a:lnTo>
                <a:lnTo>
                  <a:pt x="1546987" y="19050"/>
                </a:lnTo>
                <a:lnTo>
                  <a:pt x="1623314" y="19050"/>
                </a:lnTo>
                <a:lnTo>
                  <a:pt x="1623314" y="0"/>
                </a:lnTo>
                <a:close/>
              </a:path>
              <a:path w="2806065" h="1764029">
                <a:moveTo>
                  <a:pt x="1756918" y="0"/>
                </a:moveTo>
                <a:lnTo>
                  <a:pt x="1680591" y="0"/>
                </a:lnTo>
                <a:lnTo>
                  <a:pt x="1680591" y="19050"/>
                </a:lnTo>
                <a:lnTo>
                  <a:pt x="1756918" y="19050"/>
                </a:lnTo>
                <a:lnTo>
                  <a:pt x="1756918" y="0"/>
                </a:lnTo>
                <a:close/>
              </a:path>
              <a:path w="2806065" h="1764029">
                <a:moveTo>
                  <a:pt x="1890395" y="0"/>
                </a:moveTo>
                <a:lnTo>
                  <a:pt x="1814068" y="0"/>
                </a:lnTo>
                <a:lnTo>
                  <a:pt x="1814068" y="19050"/>
                </a:lnTo>
                <a:lnTo>
                  <a:pt x="1890395" y="19050"/>
                </a:lnTo>
                <a:lnTo>
                  <a:pt x="1890395" y="0"/>
                </a:lnTo>
                <a:close/>
              </a:path>
              <a:path w="2806065" h="1764029">
                <a:moveTo>
                  <a:pt x="2023999" y="0"/>
                </a:moveTo>
                <a:lnTo>
                  <a:pt x="1947672" y="0"/>
                </a:lnTo>
                <a:lnTo>
                  <a:pt x="1947672" y="19050"/>
                </a:lnTo>
                <a:lnTo>
                  <a:pt x="2023999" y="19050"/>
                </a:lnTo>
                <a:lnTo>
                  <a:pt x="2023999" y="0"/>
                </a:lnTo>
                <a:close/>
              </a:path>
              <a:path w="2806065" h="1764029">
                <a:moveTo>
                  <a:pt x="2157603" y="0"/>
                </a:moveTo>
                <a:lnTo>
                  <a:pt x="2081276" y="0"/>
                </a:lnTo>
                <a:lnTo>
                  <a:pt x="2081276" y="19050"/>
                </a:lnTo>
                <a:lnTo>
                  <a:pt x="2157603" y="19050"/>
                </a:lnTo>
                <a:lnTo>
                  <a:pt x="2157603" y="0"/>
                </a:lnTo>
                <a:close/>
              </a:path>
              <a:path w="2806065" h="1764029">
                <a:moveTo>
                  <a:pt x="2291080" y="0"/>
                </a:moveTo>
                <a:lnTo>
                  <a:pt x="2214753" y="0"/>
                </a:lnTo>
                <a:lnTo>
                  <a:pt x="2214753" y="19050"/>
                </a:lnTo>
                <a:lnTo>
                  <a:pt x="2291080" y="19050"/>
                </a:lnTo>
                <a:lnTo>
                  <a:pt x="2291080" y="0"/>
                </a:lnTo>
                <a:close/>
              </a:path>
              <a:path w="2806065" h="1764029">
                <a:moveTo>
                  <a:pt x="2424684" y="0"/>
                </a:moveTo>
                <a:lnTo>
                  <a:pt x="2348357" y="0"/>
                </a:lnTo>
                <a:lnTo>
                  <a:pt x="2348357" y="19050"/>
                </a:lnTo>
                <a:lnTo>
                  <a:pt x="2424684" y="19050"/>
                </a:lnTo>
                <a:lnTo>
                  <a:pt x="2424684" y="0"/>
                </a:lnTo>
                <a:close/>
              </a:path>
              <a:path w="2806065" h="1764029">
                <a:moveTo>
                  <a:pt x="2487295" y="838454"/>
                </a:moveTo>
                <a:lnTo>
                  <a:pt x="2486660" y="762127"/>
                </a:lnTo>
                <a:lnTo>
                  <a:pt x="2467610" y="762381"/>
                </a:lnTo>
                <a:lnTo>
                  <a:pt x="2468245" y="838708"/>
                </a:lnTo>
                <a:lnTo>
                  <a:pt x="2487295" y="838454"/>
                </a:lnTo>
                <a:close/>
              </a:path>
              <a:path w="2806065" h="1764029">
                <a:moveTo>
                  <a:pt x="2488438" y="972058"/>
                </a:moveTo>
                <a:lnTo>
                  <a:pt x="2487803" y="895731"/>
                </a:lnTo>
                <a:lnTo>
                  <a:pt x="2468626" y="895858"/>
                </a:lnTo>
                <a:lnTo>
                  <a:pt x="2469261" y="972185"/>
                </a:lnTo>
                <a:lnTo>
                  <a:pt x="2488438" y="972058"/>
                </a:lnTo>
                <a:close/>
              </a:path>
              <a:path w="2806065" h="1764029">
                <a:moveTo>
                  <a:pt x="2489581" y="1105535"/>
                </a:moveTo>
                <a:lnTo>
                  <a:pt x="2488819" y="1029335"/>
                </a:lnTo>
                <a:lnTo>
                  <a:pt x="2469769" y="1029462"/>
                </a:lnTo>
                <a:lnTo>
                  <a:pt x="2470404" y="1105789"/>
                </a:lnTo>
                <a:lnTo>
                  <a:pt x="2489581" y="1105535"/>
                </a:lnTo>
                <a:close/>
              </a:path>
              <a:path w="2806065" h="1764029">
                <a:moveTo>
                  <a:pt x="2490597" y="1239139"/>
                </a:moveTo>
                <a:lnTo>
                  <a:pt x="2489962" y="1162812"/>
                </a:lnTo>
                <a:lnTo>
                  <a:pt x="2470912" y="1162939"/>
                </a:lnTo>
                <a:lnTo>
                  <a:pt x="2471547" y="1239266"/>
                </a:lnTo>
                <a:lnTo>
                  <a:pt x="2490597" y="1239139"/>
                </a:lnTo>
                <a:close/>
              </a:path>
              <a:path w="2806065" h="1764029">
                <a:moveTo>
                  <a:pt x="2491740" y="1372743"/>
                </a:moveTo>
                <a:lnTo>
                  <a:pt x="2491105" y="1296416"/>
                </a:lnTo>
                <a:lnTo>
                  <a:pt x="2472055" y="1296543"/>
                </a:lnTo>
                <a:lnTo>
                  <a:pt x="2472690" y="1372870"/>
                </a:lnTo>
                <a:lnTo>
                  <a:pt x="2491740" y="1372743"/>
                </a:lnTo>
                <a:close/>
              </a:path>
              <a:path w="2806065" h="1764029">
                <a:moveTo>
                  <a:pt x="2492883" y="1506220"/>
                </a:moveTo>
                <a:lnTo>
                  <a:pt x="2492248" y="1429893"/>
                </a:lnTo>
                <a:lnTo>
                  <a:pt x="2473198" y="1430147"/>
                </a:lnTo>
                <a:lnTo>
                  <a:pt x="2473833" y="1506474"/>
                </a:lnTo>
                <a:lnTo>
                  <a:pt x="2492883" y="1506220"/>
                </a:lnTo>
                <a:close/>
              </a:path>
              <a:path w="2806065" h="1764029">
                <a:moveTo>
                  <a:pt x="2494026" y="1639824"/>
                </a:moveTo>
                <a:lnTo>
                  <a:pt x="2493391" y="1563497"/>
                </a:lnTo>
                <a:lnTo>
                  <a:pt x="2474341" y="1563624"/>
                </a:lnTo>
                <a:lnTo>
                  <a:pt x="2474976" y="1639951"/>
                </a:lnTo>
                <a:lnTo>
                  <a:pt x="2494026" y="1639824"/>
                </a:lnTo>
                <a:close/>
              </a:path>
              <a:path w="2806065" h="1764029">
                <a:moveTo>
                  <a:pt x="2522855" y="1679448"/>
                </a:moveTo>
                <a:lnTo>
                  <a:pt x="2446655" y="1680210"/>
                </a:lnTo>
                <a:lnTo>
                  <a:pt x="2485390" y="1756029"/>
                </a:lnTo>
                <a:lnTo>
                  <a:pt x="2522855" y="1679448"/>
                </a:lnTo>
                <a:close/>
              </a:path>
              <a:path w="2806065" h="1764029">
                <a:moveTo>
                  <a:pt x="2538857" y="698881"/>
                </a:moveTo>
                <a:lnTo>
                  <a:pt x="2538628" y="690753"/>
                </a:lnTo>
                <a:lnTo>
                  <a:pt x="2538349" y="679831"/>
                </a:lnTo>
                <a:lnTo>
                  <a:pt x="2471039" y="681482"/>
                </a:lnTo>
                <a:lnTo>
                  <a:pt x="2466975" y="685673"/>
                </a:lnTo>
                <a:lnTo>
                  <a:pt x="2467102" y="705104"/>
                </a:lnTo>
                <a:lnTo>
                  <a:pt x="2486152" y="704977"/>
                </a:lnTo>
                <a:lnTo>
                  <a:pt x="2486101" y="700405"/>
                </a:lnTo>
                <a:lnTo>
                  <a:pt x="2486101" y="700176"/>
                </a:lnTo>
                <a:lnTo>
                  <a:pt x="2538857" y="698881"/>
                </a:lnTo>
                <a:close/>
              </a:path>
              <a:path w="2806065" h="1764029">
                <a:moveTo>
                  <a:pt x="2672334" y="695833"/>
                </a:moveTo>
                <a:lnTo>
                  <a:pt x="2671953" y="676783"/>
                </a:lnTo>
                <a:lnTo>
                  <a:pt x="2595626" y="678561"/>
                </a:lnTo>
                <a:lnTo>
                  <a:pt x="2596134" y="697611"/>
                </a:lnTo>
                <a:lnTo>
                  <a:pt x="2672334" y="695833"/>
                </a:lnTo>
                <a:close/>
              </a:path>
              <a:path w="2806065" h="1764029">
                <a:moveTo>
                  <a:pt x="2805938" y="692658"/>
                </a:moveTo>
                <a:lnTo>
                  <a:pt x="2805430" y="673608"/>
                </a:lnTo>
                <a:lnTo>
                  <a:pt x="2729103" y="675386"/>
                </a:lnTo>
                <a:lnTo>
                  <a:pt x="2729611" y="694436"/>
                </a:lnTo>
                <a:lnTo>
                  <a:pt x="2805938" y="692658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24203" y="5626709"/>
            <a:ext cx="6254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Uses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C00000"/>
                </a:solidFill>
                <a:latin typeface="Arial"/>
                <a:cs typeface="Arial"/>
              </a:rPr>
              <a:t>RSA:</a:t>
            </a:r>
            <a:r>
              <a:rPr sz="24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Rivest,</a:t>
            </a:r>
            <a:r>
              <a:rPr sz="2400" spc="-25" dirty="0">
                <a:latin typeface="Arial"/>
                <a:cs typeface="Arial"/>
              </a:rPr>
              <a:t> Shamir,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Adleman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algorithm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RSA</a:t>
            </a:r>
            <a:r>
              <a:rPr spc="-16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praktijk:</a:t>
            </a:r>
            <a:r>
              <a:rPr spc="-20" dirty="0"/>
              <a:t> </a:t>
            </a:r>
            <a:r>
              <a:rPr dirty="0"/>
              <a:t>session</a:t>
            </a:r>
            <a:r>
              <a:rPr spc="10" dirty="0"/>
              <a:t> </a:t>
            </a:r>
            <a:r>
              <a:rPr spc="-20" dirty="0"/>
              <a:t>keys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1558" y="1989937"/>
            <a:ext cx="9511665" cy="31248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787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78765" algn="l"/>
                <a:tab pos="2794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wiskunde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achter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RSA</a:t>
            </a:r>
            <a:r>
              <a:rPr sz="2000" spc="-1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computationeel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‘duur’: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kost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veel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rekenkracht</a:t>
            </a:r>
            <a:endParaRPr sz="200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520"/>
              </a:spcBef>
              <a:buChar char="•"/>
              <a:tabLst>
                <a:tab pos="278765" algn="l"/>
                <a:tab pos="2794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DES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minstens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100x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sneller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dan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RSA</a:t>
            </a:r>
            <a:endParaRPr sz="200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525"/>
              </a:spcBef>
              <a:buChar char="•"/>
              <a:tabLst>
                <a:tab pos="278765" algn="l"/>
                <a:tab pos="2794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Daarom:</a:t>
            </a:r>
            <a:endParaRPr sz="2000">
              <a:latin typeface="Arial"/>
              <a:cs typeface="Arial"/>
            </a:endParaRPr>
          </a:p>
          <a:p>
            <a:pPr marL="735965" marR="17780" lvl="1" indent="-228600">
              <a:lnSpc>
                <a:spcPct val="80000"/>
              </a:lnSpc>
              <a:spcBef>
                <a:spcPts val="500"/>
              </a:spcBef>
              <a:buChar char="•"/>
              <a:tabLst>
                <a:tab pos="735965" algn="l"/>
                <a:tab pos="7366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Gebruik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public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cryptography om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beveiligde</a:t>
            </a:r>
            <a:r>
              <a:rPr sz="1800" spc="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verbinding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op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zetten,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gebruik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vervolgens</a:t>
            </a:r>
            <a:r>
              <a:rPr sz="18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tweede</a:t>
            </a:r>
            <a:r>
              <a:rPr sz="1800" spc="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8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symmetric</a:t>
            </a:r>
            <a:r>
              <a:rPr sz="1800" spc="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session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om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encrypten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Session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key,</a:t>
            </a:r>
            <a:r>
              <a:rPr sz="20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sz="1950" spc="-37" baseline="-21367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950" baseline="-21367">
              <a:latin typeface="Arial"/>
              <a:cs typeface="Arial"/>
            </a:endParaRPr>
          </a:p>
          <a:p>
            <a:pPr marL="50800" marR="1139190">
              <a:lnSpc>
                <a:spcPts val="2930"/>
              </a:lnSpc>
              <a:spcBef>
                <a:spcPts val="8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Bob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1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Alice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gebruiken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RSA</a:t>
            </a:r>
            <a:r>
              <a:rPr sz="2000" spc="-114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om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symmetric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</a:t>
            </a:r>
            <a:r>
              <a:rPr sz="1950" baseline="-21367" dirty="0">
                <a:solidFill>
                  <a:srgbClr val="0E00AE"/>
                </a:solidFill>
                <a:latin typeface="Arial"/>
                <a:cs typeface="Arial"/>
              </a:rPr>
              <a:t>s</a:t>
            </a:r>
            <a:r>
              <a:rPr sz="1950" spc="292" baseline="-21367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uit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wisselen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Zodra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allebei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</a:t>
            </a:r>
            <a:r>
              <a:rPr sz="1950" baseline="-21367" dirty="0">
                <a:solidFill>
                  <a:srgbClr val="0E00AE"/>
                </a:solidFill>
                <a:latin typeface="Arial"/>
                <a:cs typeface="Arial"/>
              </a:rPr>
              <a:t>s</a:t>
            </a:r>
            <a:r>
              <a:rPr sz="1950" spc="292" baseline="-21367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hebben,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wisselen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ze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naar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symmetric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cryptography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205" y="1489966"/>
            <a:ext cx="9192852" cy="34207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27" y="769619"/>
            <a:ext cx="9718548" cy="51694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189" y="6335861"/>
            <a:ext cx="1758711" cy="192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27475"/>
            <a:ext cx="1482851" cy="34305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885" y="215267"/>
            <a:ext cx="4193789" cy="4351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1041" y="2108047"/>
            <a:ext cx="2995930" cy="27444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Wat</a:t>
            </a:r>
            <a:r>
              <a:rPr sz="20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network</a:t>
            </a:r>
            <a:r>
              <a:rPr sz="20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security?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Cryptografie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solidFill>
                  <a:srgbClr val="0E00AE"/>
                </a:solidFill>
                <a:latin typeface="Arial"/>
                <a:cs typeface="Arial"/>
              </a:rPr>
              <a:t>Digital</a:t>
            </a:r>
            <a:r>
              <a:rPr sz="2000" b="1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E00AE"/>
                </a:solidFill>
                <a:latin typeface="Arial"/>
                <a:cs typeface="Arial"/>
              </a:rPr>
              <a:t>signatures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digests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SSL/TLS</a:t>
            </a:r>
            <a:endParaRPr sz="20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Downgrade</a:t>
            </a:r>
            <a:r>
              <a:rPr sz="18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attacks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Digital</a:t>
            </a:r>
            <a:r>
              <a:rPr spc="-25" dirty="0"/>
              <a:t> </a:t>
            </a:r>
            <a:r>
              <a:rPr spc="-10" dirty="0"/>
              <a:t>signatures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1853031"/>
            <a:ext cx="9673590" cy="11017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Simpele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digitale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signature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voor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bericht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m: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2160"/>
              </a:lnSpc>
              <a:spcBef>
                <a:spcPts val="102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Bob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versleutelt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zijn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private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key.</a:t>
            </a:r>
            <a:r>
              <a:rPr sz="2000" spc="-1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Alleen</a:t>
            </a:r>
            <a:r>
              <a:rPr sz="2000" spc="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zijn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public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 te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gebruiken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om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decrypten,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dus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weet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je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dat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hem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komt.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1951" y="4076700"/>
            <a:ext cx="2312035" cy="1550035"/>
          </a:xfrm>
          <a:prstGeom prst="rect">
            <a:avLst/>
          </a:prstGeom>
          <a:ln w="9360">
            <a:solidFill>
              <a:srgbClr val="0E00AE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270"/>
              </a:spcBef>
            </a:pPr>
            <a:r>
              <a:rPr sz="1800" spc="-10" dirty="0">
                <a:latin typeface="Arial"/>
                <a:cs typeface="Arial"/>
              </a:rPr>
              <a:t>Dear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Alice</a:t>
            </a:r>
            <a:endParaRPr sz="1800">
              <a:latin typeface="Arial"/>
              <a:cs typeface="Arial"/>
            </a:endParaRPr>
          </a:p>
          <a:p>
            <a:pPr marL="128270" marR="265430">
              <a:lnSpc>
                <a:spcPct val="98600"/>
              </a:lnSpc>
              <a:spcBef>
                <a:spcPts val="780"/>
              </a:spcBef>
            </a:pPr>
            <a:r>
              <a:rPr sz="1400" dirty="0">
                <a:latin typeface="Arial"/>
                <a:cs typeface="Arial"/>
              </a:rPr>
              <a:t>Oh,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missed </a:t>
            </a:r>
            <a:r>
              <a:rPr sz="1400" dirty="0">
                <a:latin typeface="Arial"/>
                <a:cs typeface="Arial"/>
              </a:rPr>
              <a:t>you.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think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time!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…(blah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blah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blah)</a:t>
            </a:r>
            <a:endParaRPr sz="1400">
              <a:latin typeface="Arial"/>
              <a:cs typeface="Arial"/>
            </a:endParaRPr>
          </a:p>
          <a:p>
            <a:pPr marL="128270">
              <a:lnSpc>
                <a:spcPct val="100000"/>
              </a:lnSpc>
              <a:spcBef>
                <a:spcPts val="885"/>
              </a:spcBef>
            </a:pPr>
            <a:r>
              <a:rPr sz="1800" spc="-25" dirty="0">
                <a:latin typeface="Arial"/>
                <a:cs typeface="Arial"/>
              </a:rPr>
              <a:t>Bob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6048" y="3675634"/>
            <a:ext cx="21069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Bob’s</a:t>
            </a:r>
            <a:r>
              <a:rPr sz="20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message,</a:t>
            </a:r>
            <a:r>
              <a:rPr sz="200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1684" y="4419600"/>
            <a:ext cx="1417320" cy="1082040"/>
          </a:xfrm>
          <a:prstGeom prst="rect">
            <a:avLst/>
          </a:prstGeom>
          <a:solidFill>
            <a:srgbClr val="008000"/>
          </a:solidFill>
          <a:ln w="9360">
            <a:solidFill>
              <a:srgbClr val="0E00AE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35255" marR="99060" indent="8890" algn="just">
              <a:lnSpc>
                <a:spcPct val="100000"/>
              </a:lnSpc>
              <a:spcBef>
                <a:spcPts val="52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key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encryption algorithm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60926" y="4826380"/>
            <a:ext cx="673735" cy="114935"/>
          </a:xfrm>
          <a:custGeom>
            <a:avLst/>
            <a:gdLst/>
            <a:ahLst/>
            <a:cxnLst/>
            <a:rect l="l" t="t" r="r" b="b"/>
            <a:pathLst>
              <a:path w="673735" h="114935">
                <a:moveTo>
                  <a:pt x="559181" y="0"/>
                </a:moveTo>
                <a:lnTo>
                  <a:pt x="559181" y="114554"/>
                </a:lnTo>
                <a:lnTo>
                  <a:pt x="635550" y="76327"/>
                </a:lnTo>
                <a:lnTo>
                  <a:pt x="578231" y="76327"/>
                </a:lnTo>
                <a:lnTo>
                  <a:pt x="578231" y="38227"/>
                </a:lnTo>
                <a:lnTo>
                  <a:pt x="635550" y="38227"/>
                </a:lnTo>
                <a:lnTo>
                  <a:pt x="559181" y="0"/>
                </a:lnTo>
                <a:close/>
              </a:path>
              <a:path w="673735" h="114935">
                <a:moveTo>
                  <a:pt x="559181" y="38227"/>
                </a:moveTo>
                <a:lnTo>
                  <a:pt x="0" y="38227"/>
                </a:lnTo>
                <a:lnTo>
                  <a:pt x="0" y="76327"/>
                </a:lnTo>
                <a:lnTo>
                  <a:pt x="559181" y="76327"/>
                </a:lnTo>
                <a:lnTo>
                  <a:pt x="559181" y="38227"/>
                </a:lnTo>
                <a:close/>
              </a:path>
              <a:path w="673735" h="114935">
                <a:moveTo>
                  <a:pt x="635550" y="38227"/>
                </a:moveTo>
                <a:lnTo>
                  <a:pt x="578231" y="38227"/>
                </a:lnTo>
                <a:lnTo>
                  <a:pt x="578231" y="76327"/>
                </a:lnTo>
                <a:lnTo>
                  <a:pt x="635550" y="76327"/>
                </a:lnTo>
                <a:lnTo>
                  <a:pt x="673608" y="57277"/>
                </a:lnTo>
                <a:lnTo>
                  <a:pt x="635550" y="38227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36360" y="3631183"/>
            <a:ext cx="1339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Bob’s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private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6360" y="3905504"/>
            <a:ext cx="381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key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68051" y="3794850"/>
            <a:ext cx="530860" cy="619760"/>
            <a:chOff x="4968051" y="3794850"/>
            <a:chExt cx="530860" cy="619760"/>
          </a:xfrm>
        </p:grpSpPr>
        <p:sp>
          <p:nvSpPr>
            <p:cNvPr id="11" name="object 11"/>
            <p:cNvSpPr/>
            <p:nvPr/>
          </p:nvSpPr>
          <p:spPr>
            <a:xfrm>
              <a:off x="4975746" y="3805974"/>
              <a:ext cx="440690" cy="210820"/>
            </a:xfrm>
            <a:custGeom>
              <a:avLst/>
              <a:gdLst/>
              <a:ahLst/>
              <a:cxnLst/>
              <a:rect l="l" t="t" r="r" b="b"/>
              <a:pathLst>
                <a:path w="440689" h="210820">
                  <a:moveTo>
                    <a:pt x="440309" y="70891"/>
                  </a:moveTo>
                  <a:lnTo>
                    <a:pt x="393484" y="39344"/>
                  </a:lnTo>
                  <a:lnTo>
                    <a:pt x="356933" y="49707"/>
                  </a:lnTo>
                  <a:lnTo>
                    <a:pt x="322948" y="28536"/>
                  </a:lnTo>
                  <a:lnTo>
                    <a:pt x="266446" y="51511"/>
                  </a:lnTo>
                  <a:lnTo>
                    <a:pt x="243344" y="35140"/>
                  </a:lnTo>
                  <a:lnTo>
                    <a:pt x="207543" y="52717"/>
                  </a:lnTo>
                  <a:lnTo>
                    <a:pt x="196507" y="21780"/>
                  </a:lnTo>
                  <a:lnTo>
                    <a:pt x="161925" y="42354"/>
                  </a:lnTo>
                  <a:lnTo>
                    <a:pt x="115709" y="17005"/>
                  </a:lnTo>
                  <a:lnTo>
                    <a:pt x="115709" y="84112"/>
                  </a:lnTo>
                  <a:lnTo>
                    <a:pt x="105879" y="119253"/>
                  </a:lnTo>
                  <a:lnTo>
                    <a:pt x="85940" y="138633"/>
                  </a:lnTo>
                  <a:lnTo>
                    <a:pt x="71894" y="141046"/>
                  </a:lnTo>
                  <a:lnTo>
                    <a:pt x="61620" y="136232"/>
                  </a:lnTo>
                  <a:lnTo>
                    <a:pt x="53022" y="128409"/>
                  </a:lnTo>
                  <a:lnTo>
                    <a:pt x="41529" y="116255"/>
                  </a:lnTo>
                  <a:lnTo>
                    <a:pt x="48145" y="94310"/>
                  </a:lnTo>
                  <a:lnTo>
                    <a:pt x="58724" y="79121"/>
                  </a:lnTo>
                  <a:lnTo>
                    <a:pt x="92595" y="64135"/>
                  </a:lnTo>
                  <a:lnTo>
                    <a:pt x="115709" y="84112"/>
                  </a:lnTo>
                  <a:lnTo>
                    <a:pt x="115709" y="17005"/>
                  </a:lnTo>
                  <a:lnTo>
                    <a:pt x="84734" y="0"/>
                  </a:lnTo>
                  <a:lnTo>
                    <a:pt x="20688" y="35077"/>
                  </a:lnTo>
                  <a:lnTo>
                    <a:pt x="17068" y="31242"/>
                  </a:lnTo>
                  <a:lnTo>
                    <a:pt x="0" y="54368"/>
                  </a:lnTo>
                  <a:lnTo>
                    <a:pt x="7467" y="60617"/>
                  </a:lnTo>
                  <a:lnTo>
                    <a:pt x="5588" y="149453"/>
                  </a:lnTo>
                  <a:lnTo>
                    <a:pt x="58445" y="208165"/>
                  </a:lnTo>
                  <a:lnTo>
                    <a:pt x="112077" y="210718"/>
                  </a:lnTo>
                  <a:lnTo>
                    <a:pt x="183819" y="149453"/>
                  </a:lnTo>
                  <a:lnTo>
                    <a:pt x="216611" y="165811"/>
                  </a:lnTo>
                  <a:lnTo>
                    <a:pt x="219011" y="119253"/>
                  </a:lnTo>
                  <a:lnTo>
                    <a:pt x="431850" y="88468"/>
                  </a:lnTo>
                  <a:lnTo>
                    <a:pt x="440309" y="70891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8051" y="3794850"/>
              <a:ext cx="455865" cy="2302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83784" y="3944747"/>
              <a:ext cx="114935" cy="469900"/>
            </a:xfrm>
            <a:custGeom>
              <a:avLst/>
              <a:gdLst/>
              <a:ahLst/>
              <a:cxnLst/>
              <a:rect l="l" t="t" r="r" b="b"/>
              <a:pathLst>
                <a:path w="114935" h="469900">
                  <a:moveTo>
                    <a:pt x="75183" y="0"/>
                  </a:moveTo>
                  <a:lnTo>
                    <a:pt x="37083" y="126"/>
                  </a:lnTo>
                  <a:lnTo>
                    <a:pt x="37211" y="38353"/>
                  </a:lnTo>
                  <a:lnTo>
                    <a:pt x="75311" y="38226"/>
                  </a:lnTo>
                  <a:lnTo>
                    <a:pt x="75183" y="0"/>
                  </a:lnTo>
                  <a:close/>
                </a:path>
                <a:path w="114935" h="469900">
                  <a:moveTo>
                    <a:pt x="75437" y="76326"/>
                  </a:moveTo>
                  <a:lnTo>
                    <a:pt x="37337" y="76453"/>
                  </a:lnTo>
                  <a:lnTo>
                    <a:pt x="37464" y="114680"/>
                  </a:lnTo>
                  <a:lnTo>
                    <a:pt x="75564" y="114553"/>
                  </a:lnTo>
                  <a:lnTo>
                    <a:pt x="75437" y="76326"/>
                  </a:lnTo>
                  <a:close/>
                </a:path>
                <a:path w="114935" h="469900">
                  <a:moveTo>
                    <a:pt x="75691" y="152653"/>
                  </a:moveTo>
                  <a:lnTo>
                    <a:pt x="37591" y="152780"/>
                  </a:lnTo>
                  <a:lnTo>
                    <a:pt x="37718" y="191007"/>
                  </a:lnTo>
                  <a:lnTo>
                    <a:pt x="75818" y="190880"/>
                  </a:lnTo>
                  <a:lnTo>
                    <a:pt x="75691" y="152653"/>
                  </a:lnTo>
                  <a:close/>
                </a:path>
                <a:path w="114935" h="469900">
                  <a:moveTo>
                    <a:pt x="75945" y="228980"/>
                  </a:moveTo>
                  <a:lnTo>
                    <a:pt x="37845" y="229107"/>
                  </a:lnTo>
                  <a:lnTo>
                    <a:pt x="37973" y="267334"/>
                  </a:lnTo>
                  <a:lnTo>
                    <a:pt x="76073" y="267207"/>
                  </a:lnTo>
                  <a:lnTo>
                    <a:pt x="75945" y="228980"/>
                  </a:lnTo>
                  <a:close/>
                </a:path>
                <a:path w="114935" h="469900">
                  <a:moveTo>
                    <a:pt x="76200" y="305307"/>
                  </a:moveTo>
                  <a:lnTo>
                    <a:pt x="38100" y="305434"/>
                  </a:lnTo>
                  <a:lnTo>
                    <a:pt x="38226" y="343661"/>
                  </a:lnTo>
                  <a:lnTo>
                    <a:pt x="76326" y="343534"/>
                  </a:lnTo>
                  <a:lnTo>
                    <a:pt x="76200" y="305307"/>
                  </a:lnTo>
                  <a:close/>
                </a:path>
                <a:path w="114935" h="469900">
                  <a:moveTo>
                    <a:pt x="114553" y="354838"/>
                  </a:moveTo>
                  <a:lnTo>
                    <a:pt x="0" y="355219"/>
                  </a:lnTo>
                  <a:lnTo>
                    <a:pt x="57657" y="469519"/>
                  </a:lnTo>
                  <a:lnTo>
                    <a:pt x="114553" y="354838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542154" y="3354704"/>
            <a:ext cx="42290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000" spc="-22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75" baseline="-29513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endParaRPr sz="2400" baseline="-2951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9457" y="3222751"/>
            <a:ext cx="93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44818" y="4826380"/>
            <a:ext cx="673735" cy="114935"/>
          </a:xfrm>
          <a:custGeom>
            <a:avLst/>
            <a:gdLst/>
            <a:ahLst/>
            <a:cxnLst/>
            <a:rect l="l" t="t" r="r" b="b"/>
            <a:pathLst>
              <a:path w="673734" h="114935">
                <a:moveTo>
                  <a:pt x="559180" y="0"/>
                </a:moveTo>
                <a:lnTo>
                  <a:pt x="559180" y="114554"/>
                </a:lnTo>
                <a:lnTo>
                  <a:pt x="635550" y="76327"/>
                </a:lnTo>
                <a:lnTo>
                  <a:pt x="578230" y="76327"/>
                </a:lnTo>
                <a:lnTo>
                  <a:pt x="578230" y="38227"/>
                </a:lnTo>
                <a:lnTo>
                  <a:pt x="635550" y="38227"/>
                </a:lnTo>
                <a:lnTo>
                  <a:pt x="559180" y="0"/>
                </a:lnTo>
                <a:close/>
              </a:path>
              <a:path w="673734" h="114935">
                <a:moveTo>
                  <a:pt x="559180" y="38227"/>
                </a:moveTo>
                <a:lnTo>
                  <a:pt x="0" y="38227"/>
                </a:lnTo>
                <a:lnTo>
                  <a:pt x="0" y="76327"/>
                </a:lnTo>
                <a:lnTo>
                  <a:pt x="559180" y="76327"/>
                </a:lnTo>
                <a:lnTo>
                  <a:pt x="559180" y="38227"/>
                </a:lnTo>
                <a:close/>
              </a:path>
              <a:path w="673734" h="114935">
                <a:moveTo>
                  <a:pt x="635550" y="38227"/>
                </a:moveTo>
                <a:lnTo>
                  <a:pt x="578230" y="38227"/>
                </a:lnTo>
                <a:lnTo>
                  <a:pt x="578230" y="76327"/>
                </a:lnTo>
                <a:lnTo>
                  <a:pt x="635550" y="76327"/>
                </a:lnTo>
                <a:lnTo>
                  <a:pt x="673607" y="57277"/>
                </a:lnTo>
                <a:lnTo>
                  <a:pt x="635550" y="38227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61859" y="4152900"/>
            <a:ext cx="2310765" cy="1548765"/>
          </a:xfrm>
          <a:prstGeom prst="rect">
            <a:avLst/>
          </a:prstGeom>
          <a:ln w="9360">
            <a:solidFill>
              <a:srgbClr val="0E00AE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225425" marR="146685" indent="-6350" algn="just">
              <a:lnSpc>
                <a:spcPct val="98900"/>
              </a:lnSpc>
              <a:spcBef>
                <a:spcPts val="1135"/>
              </a:spcBef>
            </a:pPr>
            <a:r>
              <a:rPr sz="1800" dirty="0">
                <a:latin typeface="Arial"/>
                <a:cs typeface="Arial"/>
              </a:rPr>
              <a:t>Bob’s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message,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m, </a:t>
            </a:r>
            <a:r>
              <a:rPr sz="1800" dirty="0">
                <a:latin typeface="Arial"/>
                <a:cs typeface="Arial"/>
              </a:rPr>
              <a:t>signed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(encrypted)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private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key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86698" y="3910710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94318" y="3610102"/>
            <a:ext cx="93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67777" y="3721734"/>
            <a:ext cx="10661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46430" algn="l"/>
              </a:tabLst>
            </a:pPr>
            <a:r>
              <a:rPr sz="3000" spc="-37" baseline="-6944" dirty="0">
                <a:solidFill>
                  <a:srgbClr val="C00000"/>
                </a:solidFill>
                <a:latin typeface="Arial"/>
                <a:cs typeface="Arial"/>
              </a:rPr>
              <a:t>m,K</a:t>
            </a:r>
            <a:r>
              <a:rPr sz="3000" baseline="-6944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C00000"/>
                </a:solidFill>
                <a:latin typeface="Arial"/>
                <a:cs typeface="Arial"/>
              </a:rPr>
              <a:t>(m)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189" y="6335861"/>
            <a:ext cx="1758711" cy="192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27475"/>
            <a:ext cx="1482851" cy="34305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885" y="215267"/>
            <a:ext cx="4193789" cy="4351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1041" y="2108047"/>
            <a:ext cx="2995930" cy="27444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Wat</a:t>
            </a:r>
            <a:r>
              <a:rPr sz="20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network</a:t>
            </a:r>
            <a:r>
              <a:rPr sz="20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security?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Cryptografie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Digital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signatures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solidFill>
                  <a:srgbClr val="0E00AE"/>
                </a:solidFill>
                <a:latin typeface="Arial"/>
                <a:cs typeface="Arial"/>
              </a:rPr>
              <a:t>Message</a:t>
            </a:r>
            <a:r>
              <a:rPr sz="2000" b="1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E00AE"/>
                </a:solidFill>
                <a:latin typeface="Arial"/>
                <a:cs typeface="Arial"/>
              </a:rPr>
              <a:t>digests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SSL/TLS</a:t>
            </a:r>
            <a:endParaRPr sz="20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Downgrade</a:t>
            </a:r>
            <a:r>
              <a:rPr sz="18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attacks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Message</a:t>
            </a:r>
            <a:r>
              <a:rPr spc="-20" dirty="0"/>
              <a:t> </a:t>
            </a:r>
            <a:r>
              <a:rPr spc="-10" dirty="0"/>
              <a:t>digests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1989937"/>
            <a:ext cx="10010140" cy="32385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Lange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berichten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versleutelen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met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public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cryptography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kost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veel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rekenkracht</a:t>
            </a:r>
            <a:endParaRPr sz="2000">
              <a:latin typeface="Arial"/>
              <a:cs typeface="Arial"/>
            </a:endParaRPr>
          </a:p>
          <a:p>
            <a:pPr marL="240665" marR="5080" indent="-228600">
              <a:lnSpc>
                <a:spcPts val="2160"/>
              </a:lnSpc>
              <a:spcBef>
                <a:spcPts val="103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Doel: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maak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een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korte,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fixed-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length,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makkelijk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te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berekenen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digitale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‘fingerprint’</a:t>
            </a:r>
            <a:r>
              <a:rPr sz="2000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van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een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bericht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Pas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hash-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functie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E00AE"/>
                </a:solidFill>
                <a:latin typeface="Arial"/>
                <a:cs typeface="Arial"/>
              </a:rPr>
              <a:t>H</a:t>
            </a:r>
            <a:r>
              <a:rPr sz="2000" i="1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toe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op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E00AE"/>
                </a:solidFill>
                <a:latin typeface="Arial"/>
                <a:cs typeface="Arial"/>
              </a:rPr>
              <a:t>m,</a:t>
            </a:r>
            <a:r>
              <a:rPr sz="2000" i="1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krijg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als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waarde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fixed size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digest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0E00AE"/>
                </a:solidFill>
                <a:latin typeface="Arial"/>
                <a:cs typeface="Arial"/>
              </a:rPr>
              <a:t>H(m).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2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38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Hash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functie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kenmerken:</a:t>
            </a:r>
            <a:endParaRPr sz="20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Many-to-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one</a:t>
            </a:r>
            <a:endParaRPr sz="18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90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Produceert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8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fingerprint</a:t>
            </a:r>
            <a:endParaRPr sz="18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Met</a:t>
            </a:r>
            <a:r>
              <a:rPr sz="18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18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gegeven</a:t>
            </a:r>
            <a:r>
              <a:rPr sz="18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waarde</a:t>
            </a:r>
            <a:r>
              <a:rPr sz="1800" spc="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E00AE"/>
                </a:solidFill>
                <a:latin typeface="Arial"/>
                <a:cs typeface="Arial"/>
              </a:rPr>
              <a:t>x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,</a:t>
            </a:r>
            <a:r>
              <a:rPr sz="18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computationeel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onmogelijk</a:t>
            </a:r>
            <a:r>
              <a:rPr sz="18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om</a:t>
            </a:r>
            <a:r>
              <a:rPr sz="18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E00AE"/>
                </a:solidFill>
                <a:latin typeface="Arial"/>
                <a:cs typeface="Arial"/>
              </a:rPr>
              <a:t>m</a:t>
            </a:r>
            <a:r>
              <a:rPr sz="1800" i="1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te</a:t>
            </a:r>
            <a:r>
              <a:rPr sz="18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vinden.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Internet</a:t>
            </a:r>
            <a:r>
              <a:rPr spc="-50" dirty="0"/>
              <a:t> </a:t>
            </a:r>
            <a:r>
              <a:rPr dirty="0"/>
              <a:t>checksum:</a:t>
            </a:r>
            <a:r>
              <a:rPr spc="-25" dirty="0"/>
              <a:t> </a:t>
            </a:r>
            <a:r>
              <a:rPr dirty="0"/>
              <a:t>poor</a:t>
            </a:r>
            <a:r>
              <a:rPr spc="-35" dirty="0"/>
              <a:t> </a:t>
            </a:r>
            <a:r>
              <a:rPr dirty="0"/>
              <a:t>crypto</a:t>
            </a:r>
            <a:r>
              <a:rPr spc="-40" dirty="0"/>
              <a:t> </a:t>
            </a:r>
            <a:r>
              <a:rPr dirty="0"/>
              <a:t>hash</a:t>
            </a:r>
            <a:r>
              <a:rPr spc="-2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658" y="1989937"/>
            <a:ext cx="7656195" cy="16306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Internet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checksum</a:t>
            </a:r>
            <a:r>
              <a:rPr sz="20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heeft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aantal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kenmerken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hash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functie: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Levert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fixed-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length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digest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op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van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het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(16-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bit)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many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to</a:t>
            </a:r>
            <a:r>
              <a:rPr sz="20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one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Maar…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Meerdere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berichten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leveren</a:t>
            </a:r>
            <a:r>
              <a:rPr sz="20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dezelfde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hash-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waarde</a:t>
            </a:r>
            <a:r>
              <a:rPr sz="20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op: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25676" y="3805152"/>
          <a:ext cx="8124825" cy="134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R="220979" algn="r">
                        <a:lnSpc>
                          <a:spcPts val="2375"/>
                        </a:lnSpc>
                      </a:pPr>
                      <a:r>
                        <a:rPr sz="20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message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ts val="2340"/>
                        </a:lnSpc>
                      </a:pPr>
                      <a:r>
                        <a:rPr sz="20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ASCII</a:t>
                      </a:r>
                      <a:r>
                        <a:rPr sz="20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format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ts val="2250"/>
                        </a:lnSpc>
                      </a:pPr>
                      <a:r>
                        <a:rPr sz="20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message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ts val="2215"/>
                        </a:lnSpc>
                      </a:pPr>
                      <a:r>
                        <a:rPr sz="20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ASCII</a:t>
                      </a:r>
                      <a:r>
                        <a:rPr sz="20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format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172720">
                        <a:lnSpc>
                          <a:spcPts val="2345"/>
                        </a:lnSpc>
                        <a:spcBef>
                          <a:spcPts val="17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U </a:t>
                      </a:r>
                      <a:r>
                        <a:rPr sz="2000" b="1" spc="-6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ts val="2345"/>
                        </a:lnSpc>
                        <a:spcBef>
                          <a:spcPts val="17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49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4F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55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31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1305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U </a:t>
                      </a:r>
                      <a:r>
                        <a:rPr sz="2000" b="1" u="sng" spc="-60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49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4F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55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spc="-2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39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22885">
                        <a:lnSpc>
                          <a:spcPts val="230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0 .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30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2E 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39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8725">
                        <a:lnSpc>
                          <a:spcPts val="223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0 .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spc="-50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23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2E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spc="-2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31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R="255270" algn="r">
                        <a:lnSpc>
                          <a:spcPts val="235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B O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ts val="235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39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42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D2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42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5904" algn="r">
                        <a:lnSpc>
                          <a:spcPts val="223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B O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ts val="223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39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42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D2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42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133344" y="5149596"/>
            <a:ext cx="1603375" cy="0"/>
          </a:xfrm>
          <a:custGeom>
            <a:avLst/>
            <a:gdLst/>
            <a:ahLst/>
            <a:cxnLst/>
            <a:rect l="l" t="t" r="r" b="b"/>
            <a:pathLst>
              <a:path w="1603375">
                <a:moveTo>
                  <a:pt x="0" y="0"/>
                </a:moveTo>
                <a:lnTo>
                  <a:pt x="1603247" y="0"/>
                </a:lnTo>
              </a:path>
            </a:pathLst>
          </a:custGeom>
          <a:ln w="9360">
            <a:solidFill>
              <a:srgbClr val="0E00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71825" y="5200903"/>
            <a:ext cx="1567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B2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C1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D2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AC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53400" y="5132832"/>
            <a:ext cx="1605280" cy="0"/>
          </a:xfrm>
          <a:custGeom>
            <a:avLst/>
            <a:gdLst/>
            <a:ahLst/>
            <a:cxnLst/>
            <a:rect l="l" t="t" r="r" b="b"/>
            <a:pathLst>
              <a:path w="1605279">
                <a:moveTo>
                  <a:pt x="0" y="0"/>
                </a:moveTo>
                <a:lnTo>
                  <a:pt x="1604772" y="0"/>
                </a:lnTo>
              </a:path>
            </a:pathLst>
          </a:custGeom>
          <a:ln w="9360">
            <a:solidFill>
              <a:srgbClr val="0E00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93785" y="5185028"/>
            <a:ext cx="1567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B2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C1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D2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AC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0734" y="5259451"/>
            <a:ext cx="279400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99"/>
                </a:solidFill>
                <a:latin typeface="Arial"/>
                <a:cs typeface="Arial"/>
              </a:rPr>
              <a:t>different</a:t>
            </a:r>
            <a:r>
              <a:rPr sz="2000" spc="-9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Arial"/>
                <a:cs typeface="Arial"/>
              </a:rPr>
              <a:t>messages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000099"/>
                </a:solidFill>
                <a:latin typeface="Arial"/>
                <a:cs typeface="Arial"/>
              </a:rPr>
              <a:t>but</a:t>
            </a:r>
            <a:r>
              <a:rPr sz="2000" spc="-5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99"/>
                </a:solidFill>
                <a:latin typeface="Arial"/>
                <a:cs typeface="Arial"/>
              </a:rPr>
              <a:t>identical</a:t>
            </a:r>
            <a:r>
              <a:rPr sz="2000" spc="-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Arial"/>
                <a:cs typeface="Arial"/>
              </a:rPr>
              <a:t>checksums</a:t>
            </a:r>
            <a:r>
              <a:rPr sz="2000" spc="-10" dirty="0">
                <a:solidFill>
                  <a:srgbClr val="C0504D"/>
                </a:solidFill>
                <a:latin typeface="Arial"/>
                <a:cs typeface="Arial"/>
              </a:rPr>
              <a:t>!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21173" y="5374385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381000" y="85343"/>
                </a:moveTo>
                <a:lnTo>
                  <a:pt x="0" y="0"/>
                </a:lnTo>
              </a:path>
            </a:pathLst>
          </a:custGeom>
          <a:ln w="1908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30490" y="5359146"/>
            <a:ext cx="381000" cy="83820"/>
          </a:xfrm>
          <a:custGeom>
            <a:avLst/>
            <a:gdLst/>
            <a:ahLst/>
            <a:cxnLst/>
            <a:rect l="l" t="t" r="r" b="b"/>
            <a:pathLst>
              <a:path w="381000" h="83820">
                <a:moveTo>
                  <a:pt x="0" y="83819"/>
                </a:moveTo>
                <a:lnTo>
                  <a:pt x="381000" y="0"/>
                </a:lnTo>
              </a:path>
            </a:pathLst>
          </a:custGeom>
          <a:ln w="1908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Hash</a:t>
            </a:r>
            <a:r>
              <a:rPr spc="-40" dirty="0"/>
              <a:t> </a:t>
            </a:r>
            <a:r>
              <a:rPr dirty="0"/>
              <a:t>functie</a:t>
            </a:r>
            <a:r>
              <a:rPr spc="-25" dirty="0"/>
              <a:t> </a:t>
            </a:r>
            <a:r>
              <a:rPr spc="-10" dirty="0"/>
              <a:t>algoritmen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>
                <a:solidFill>
                  <a:srgbClr val="FF0000"/>
                </a:solidFill>
              </a:rPr>
              <a:t>MD5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wordt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nog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veel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gebruikt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(RFC1321)</a:t>
            </a: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/>
              <a:t>Berekent</a:t>
            </a:r>
            <a:r>
              <a:rPr spc="-60" dirty="0"/>
              <a:t> </a:t>
            </a:r>
            <a:r>
              <a:rPr dirty="0"/>
              <a:t>128-bit</a:t>
            </a:r>
            <a:r>
              <a:rPr spc="-30" dirty="0"/>
              <a:t> </a:t>
            </a:r>
            <a:r>
              <a:rPr dirty="0"/>
              <a:t>message</a:t>
            </a:r>
            <a:r>
              <a:rPr spc="-45" dirty="0"/>
              <a:t> </a:t>
            </a:r>
            <a:r>
              <a:rPr dirty="0"/>
              <a:t>digest</a:t>
            </a:r>
            <a:r>
              <a:rPr spc="-4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4 </a:t>
            </a:r>
            <a:r>
              <a:rPr spc="-10" dirty="0"/>
              <a:t>stappen</a:t>
            </a:r>
          </a:p>
          <a:p>
            <a:pPr marL="240665" marR="356870" indent="-228600">
              <a:lnSpc>
                <a:spcPts val="2160"/>
              </a:lnSpc>
              <a:spcBef>
                <a:spcPts val="1040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/>
              <a:t>Niet</a:t>
            </a:r>
            <a:r>
              <a:rPr spc="-30" dirty="0"/>
              <a:t> </a:t>
            </a:r>
            <a:r>
              <a:rPr dirty="0"/>
              <a:t>langer</a:t>
            </a:r>
            <a:r>
              <a:rPr spc="-40" dirty="0"/>
              <a:t> </a:t>
            </a:r>
            <a:r>
              <a:rPr dirty="0"/>
              <a:t>veilig:</a:t>
            </a:r>
            <a:r>
              <a:rPr spc="-15" dirty="0"/>
              <a:t> </a:t>
            </a:r>
            <a:r>
              <a:rPr dirty="0"/>
              <a:t>collision</a:t>
            </a:r>
            <a:r>
              <a:rPr spc="-5" dirty="0"/>
              <a:t> </a:t>
            </a:r>
            <a:r>
              <a:rPr dirty="0"/>
              <a:t>attacks</a:t>
            </a:r>
            <a:r>
              <a:rPr spc="-50" dirty="0"/>
              <a:t> </a:t>
            </a:r>
            <a:r>
              <a:rPr dirty="0"/>
              <a:t>(verschillende</a:t>
            </a:r>
            <a:r>
              <a:rPr spc="-35" dirty="0"/>
              <a:t> </a:t>
            </a:r>
            <a:r>
              <a:rPr dirty="0"/>
              <a:t>bestanden</a:t>
            </a:r>
            <a:r>
              <a:rPr spc="-50" dirty="0"/>
              <a:t> </a:t>
            </a:r>
            <a:r>
              <a:rPr dirty="0"/>
              <a:t>hebben</a:t>
            </a:r>
            <a:r>
              <a:rPr spc="-40" dirty="0"/>
              <a:t> </a:t>
            </a:r>
            <a:r>
              <a:rPr dirty="0"/>
              <a:t>dezelfde</a:t>
            </a:r>
            <a:r>
              <a:rPr spc="-40" dirty="0"/>
              <a:t> </a:t>
            </a:r>
            <a:r>
              <a:rPr spc="-20" dirty="0"/>
              <a:t>hash </a:t>
            </a:r>
            <a:r>
              <a:rPr dirty="0"/>
              <a:t>fingerprint)</a:t>
            </a:r>
            <a:r>
              <a:rPr spc="-45" dirty="0"/>
              <a:t> </a:t>
            </a:r>
            <a:r>
              <a:rPr dirty="0"/>
              <a:t>zijn</a:t>
            </a:r>
            <a:r>
              <a:rPr spc="-5" dirty="0"/>
              <a:t> </a:t>
            </a:r>
            <a:r>
              <a:rPr spc="-10" dirty="0"/>
              <a:t>gedemonstreerd</a:t>
            </a:r>
          </a:p>
          <a:p>
            <a:pPr marL="240665" indent="-227965">
              <a:lnSpc>
                <a:spcPts val="2280"/>
              </a:lnSpc>
              <a:spcBef>
                <a:spcPts val="725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/>
              <a:t>Hashed</a:t>
            </a:r>
            <a:r>
              <a:rPr spc="-60" dirty="0"/>
              <a:t> </a:t>
            </a:r>
            <a:r>
              <a:rPr dirty="0"/>
              <a:t>wachtwoorden</a:t>
            </a:r>
            <a:r>
              <a:rPr spc="-60" dirty="0"/>
              <a:t> </a:t>
            </a:r>
            <a:r>
              <a:rPr dirty="0"/>
              <a:t>zijn</a:t>
            </a:r>
            <a:r>
              <a:rPr spc="-30" dirty="0"/>
              <a:t> </a:t>
            </a:r>
            <a:r>
              <a:rPr dirty="0"/>
              <a:t>gevoelig</a:t>
            </a:r>
            <a:r>
              <a:rPr spc="-40" dirty="0"/>
              <a:t> </a:t>
            </a:r>
            <a:r>
              <a:rPr dirty="0"/>
              <a:t>voor</a:t>
            </a:r>
            <a:r>
              <a:rPr spc="-35" dirty="0"/>
              <a:t> </a:t>
            </a:r>
            <a:r>
              <a:rPr dirty="0"/>
              <a:t>aanvallen</a:t>
            </a:r>
            <a:r>
              <a:rPr spc="-45" dirty="0"/>
              <a:t> </a:t>
            </a:r>
            <a:r>
              <a:rPr dirty="0"/>
              <a:t>met</a:t>
            </a:r>
            <a:r>
              <a:rPr spc="-45" dirty="0"/>
              <a:t> </a:t>
            </a:r>
            <a:r>
              <a:rPr dirty="0"/>
              <a:t>‘rainbow</a:t>
            </a:r>
            <a:r>
              <a:rPr spc="-40" dirty="0"/>
              <a:t> </a:t>
            </a:r>
            <a:r>
              <a:rPr dirty="0"/>
              <a:t>tables’,</a:t>
            </a:r>
            <a:r>
              <a:rPr spc="-40" dirty="0"/>
              <a:t> </a:t>
            </a:r>
            <a:r>
              <a:rPr dirty="0"/>
              <a:t>tabellen</a:t>
            </a:r>
            <a:r>
              <a:rPr spc="-40" dirty="0"/>
              <a:t> </a:t>
            </a:r>
            <a:r>
              <a:rPr spc="-25" dirty="0"/>
              <a:t>met</a:t>
            </a:r>
          </a:p>
          <a:p>
            <a:pPr marL="240665">
              <a:lnSpc>
                <a:spcPts val="2280"/>
              </a:lnSpc>
            </a:pPr>
            <a:r>
              <a:rPr dirty="0"/>
              <a:t>bekende</a:t>
            </a:r>
            <a:r>
              <a:rPr spc="-60" dirty="0"/>
              <a:t> </a:t>
            </a:r>
            <a:r>
              <a:rPr dirty="0"/>
              <a:t>wachtwoorden</a:t>
            </a:r>
            <a:r>
              <a:rPr spc="-60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voorberekende</a:t>
            </a:r>
            <a:r>
              <a:rPr spc="-45" dirty="0"/>
              <a:t> </a:t>
            </a:r>
            <a:r>
              <a:rPr spc="-10" dirty="0"/>
              <a:t>hashes</a:t>
            </a:r>
          </a:p>
          <a:p>
            <a:pPr>
              <a:lnSpc>
                <a:spcPct val="100000"/>
              </a:lnSpc>
            </a:pPr>
            <a:endParaRPr sz="2200"/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>
                <a:solidFill>
                  <a:srgbClr val="FF0000"/>
                </a:solidFill>
              </a:rPr>
              <a:t>SHA</a:t>
            </a:r>
            <a:r>
              <a:rPr spc="-1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(Secure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Hash</a:t>
            </a:r>
            <a:r>
              <a:rPr spc="-12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Algorithms):</a:t>
            </a: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/>
              <a:t>Familie</a:t>
            </a:r>
            <a:r>
              <a:rPr spc="-30" dirty="0"/>
              <a:t> </a:t>
            </a:r>
            <a:r>
              <a:rPr dirty="0"/>
              <a:t>van</a:t>
            </a:r>
            <a:r>
              <a:rPr spc="-20" dirty="0"/>
              <a:t> </a:t>
            </a:r>
            <a:r>
              <a:rPr spc="-10" dirty="0"/>
              <a:t>algoritmen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pc="-10" dirty="0"/>
              <a:t>SHA-</a:t>
            </a:r>
            <a:r>
              <a:rPr dirty="0"/>
              <a:t>1:</a:t>
            </a:r>
            <a:r>
              <a:rPr spc="-25" dirty="0"/>
              <a:t> </a:t>
            </a:r>
            <a:r>
              <a:rPr dirty="0"/>
              <a:t>160-bit</a:t>
            </a:r>
            <a:r>
              <a:rPr spc="-25" dirty="0"/>
              <a:t> </a:t>
            </a:r>
            <a:r>
              <a:rPr dirty="0"/>
              <a:t>message</a:t>
            </a:r>
            <a:r>
              <a:rPr spc="-50" dirty="0"/>
              <a:t> </a:t>
            </a:r>
            <a:r>
              <a:rPr dirty="0"/>
              <a:t>digest</a:t>
            </a:r>
            <a:r>
              <a:rPr spc="-10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niet</a:t>
            </a:r>
            <a:r>
              <a:rPr spc="-20" dirty="0"/>
              <a:t> </a:t>
            </a:r>
            <a:r>
              <a:rPr dirty="0"/>
              <a:t>meer</a:t>
            </a:r>
            <a:r>
              <a:rPr spc="-20" dirty="0"/>
              <a:t> </a:t>
            </a:r>
            <a:r>
              <a:rPr spc="-10" dirty="0"/>
              <a:t>veilig</a:t>
            </a: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  <a:tab pos="241300" algn="l"/>
              </a:tabLst>
            </a:pPr>
            <a:r>
              <a:rPr spc="-10" dirty="0"/>
              <a:t>SHA-</a:t>
            </a:r>
            <a:r>
              <a:rPr dirty="0"/>
              <a:t>2:</a:t>
            </a:r>
            <a:r>
              <a:rPr spc="-25" dirty="0"/>
              <a:t> </a:t>
            </a:r>
            <a:r>
              <a:rPr dirty="0"/>
              <a:t>bevat</a:t>
            </a:r>
            <a:r>
              <a:rPr spc="-25" dirty="0"/>
              <a:t> </a:t>
            </a:r>
            <a:r>
              <a:rPr dirty="0"/>
              <a:t>o.a.</a:t>
            </a:r>
            <a:r>
              <a:rPr spc="-25" dirty="0"/>
              <a:t> </a:t>
            </a:r>
            <a:r>
              <a:rPr dirty="0"/>
              <a:t>SHA256</a:t>
            </a:r>
            <a:r>
              <a:rPr spc="-5" dirty="0"/>
              <a:t> </a:t>
            </a:r>
            <a:r>
              <a:rPr dirty="0"/>
              <a:t>(32-bit</a:t>
            </a:r>
            <a:r>
              <a:rPr spc="-35" dirty="0"/>
              <a:t> </a:t>
            </a:r>
            <a:r>
              <a:rPr dirty="0"/>
              <a:t>words)</a:t>
            </a:r>
            <a:r>
              <a:rPr spc="-35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SHA512 (64-bit</a:t>
            </a:r>
            <a:r>
              <a:rPr spc="-50" dirty="0"/>
              <a:t> </a:t>
            </a:r>
            <a:r>
              <a:rPr spc="-10" dirty="0"/>
              <a:t>words)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189" y="6335861"/>
            <a:ext cx="1758711" cy="192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27475"/>
            <a:ext cx="1482851" cy="34305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885" y="215267"/>
            <a:ext cx="4193789" cy="4351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1041" y="2108047"/>
            <a:ext cx="2995930" cy="27444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Wat</a:t>
            </a:r>
            <a:r>
              <a:rPr sz="20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network</a:t>
            </a:r>
            <a:r>
              <a:rPr sz="20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security?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Cryptografie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Digital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signatures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digests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solidFill>
                  <a:srgbClr val="0E00AE"/>
                </a:solidFill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SSL/TLS</a:t>
            </a:r>
            <a:endParaRPr sz="20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Downgrade</a:t>
            </a:r>
            <a:r>
              <a:rPr sz="18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attacks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500" y="2944367"/>
            <a:ext cx="665527" cy="8285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9188" y="4206240"/>
            <a:ext cx="1082039" cy="1295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4900" y="3034283"/>
            <a:ext cx="812291" cy="7959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996183" y="3385820"/>
            <a:ext cx="1870075" cy="172085"/>
          </a:xfrm>
          <a:custGeom>
            <a:avLst/>
            <a:gdLst/>
            <a:ahLst/>
            <a:cxnLst/>
            <a:rect l="l" t="t" r="r" b="b"/>
            <a:pathLst>
              <a:path w="1870075" h="172085">
                <a:moveTo>
                  <a:pt x="1698244" y="0"/>
                </a:moveTo>
                <a:lnTo>
                  <a:pt x="1698244" y="171703"/>
                </a:lnTo>
                <a:lnTo>
                  <a:pt x="1812798" y="114426"/>
                </a:lnTo>
                <a:lnTo>
                  <a:pt x="1726819" y="114426"/>
                </a:lnTo>
                <a:lnTo>
                  <a:pt x="1726819" y="57276"/>
                </a:lnTo>
                <a:lnTo>
                  <a:pt x="1812798" y="57276"/>
                </a:lnTo>
                <a:lnTo>
                  <a:pt x="1698244" y="0"/>
                </a:lnTo>
                <a:close/>
              </a:path>
              <a:path w="1870075" h="172085">
                <a:moveTo>
                  <a:pt x="1698244" y="57276"/>
                </a:moveTo>
                <a:lnTo>
                  <a:pt x="0" y="57276"/>
                </a:lnTo>
                <a:lnTo>
                  <a:pt x="0" y="114426"/>
                </a:lnTo>
                <a:lnTo>
                  <a:pt x="1698244" y="114426"/>
                </a:lnTo>
                <a:lnTo>
                  <a:pt x="1698244" y="57276"/>
                </a:lnTo>
                <a:close/>
              </a:path>
              <a:path w="1870075" h="172085">
                <a:moveTo>
                  <a:pt x="1812798" y="57276"/>
                </a:moveTo>
                <a:lnTo>
                  <a:pt x="1726819" y="57276"/>
                </a:lnTo>
                <a:lnTo>
                  <a:pt x="1726819" y="114426"/>
                </a:lnTo>
                <a:lnTo>
                  <a:pt x="1812798" y="114426"/>
                </a:lnTo>
                <a:lnTo>
                  <a:pt x="1869948" y="85851"/>
                </a:lnTo>
                <a:lnTo>
                  <a:pt x="1812798" y="57276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17851" y="1686354"/>
            <a:ext cx="7315834" cy="208026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000" i="1" dirty="0">
                <a:solidFill>
                  <a:srgbClr val="C00000"/>
                </a:solidFill>
                <a:latin typeface="Arial"/>
                <a:cs typeface="Arial"/>
              </a:rPr>
              <a:t>Goal:</a:t>
            </a:r>
            <a:r>
              <a:rPr sz="2000" i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Bob</a:t>
            </a:r>
            <a:r>
              <a:rPr sz="2000" spc="-10" dirty="0">
                <a:latin typeface="Arial"/>
                <a:cs typeface="Arial"/>
              </a:rPr>
              <a:t> wants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Alice 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“prove”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identity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him</a:t>
            </a:r>
            <a:endParaRPr sz="20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300"/>
              </a:spcBef>
              <a:tabLst>
                <a:tab pos="2189480" algn="l"/>
              </a:tabLst>
            </a:pPr>
            <a:r>
              <a:rPr sz="2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Gill Sans MT"/>
                <a:cs typeface="Gill Sans MT"/>
              </a:rPr>
              <a:t>Protocol</a:t>
            </a:r>
            <a:r>
              <a:rPr sz="2800" i="1" u="sng" spc="-19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Gill Sans MT"/>
                <a:cs typeface="Gill Sans MT"/>
              </a:rPr>
              <a:t> </a:t>
            </a:r>
            <a:r>
              <a:rPr sz="2800" i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Gill Sans MT"/>
                <a:cs typeface="Gill Sans MT"/>
              </a:rPr>
              <a:t>ap1.0:</a:t>
            </a: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	</a:t>
            </a:r>
            <a:r>
              <a:rPr sz="2800" dirty="0">
                <a:latin typeface="Gill Sans MT"/>
                <a:cs typeface="Gill Sans MT"/>
              </a:rPr>
              <a:t>Alice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says</a:t>
            </a:r>
            <a:r>
              <a:rPr sz="2800" spc="-2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“I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am</a:t>
            </a:r>
            <a:r>
              <a:rPr sz="2800" spc="-27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Alice”</a:t>
            </a:r>
            <a:endParaRPr sz="2800">
              <a:latin typeface="Gill Sans MT"/>
              <a:cs typeface="Gill Sans MT"/>
            </a:endParaRPr>
          </a:p>
          <a:p>
            <a:pPr marL="1024255">
              <a:lnSpc>
                <a:spcPct val="100000"/>
              </a:lnSpc>
              <a:spcBef>
                <a:spcPts val="2265"/>
              </a:spcBef>
            </a:pPr>
            <a:r>
              <a:rPr sz="2400" dirty="0">
                <a:latin typeface="Arial"/>
                <a:cs typeface="Arial"/>
              </a:rPr>
              <a:t>“I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Alice”</a:t>
            </a:r>
            <a:endParaRPr sz="2400">
              <a:latin typeface="Arial"/>
              <a:cs typeface="Arial"/>
            </a:endParaRPr>
          </a:p>
          <a:p>
            <a:pPr marL="4796155">
              <a:lnSpc>
                <a:spcPct val="100000"/>
              </a:lnSpc>
              <a:spcBef>
                <a:spcPts val="155"/>
              </a:spcBef>
            </a:pPr>
            <a:r>
              <a:rPr sz="2400" dirty="0">
                <a:latin typeface="Arial"/>
                <a:cs typeface="Arial"/>
              </a:rPr>
              <a:t>Failure</a:t>
            </a:r>
            <a:r>
              <a:rPr sz="2400" spc="-10" dirty="0">
                <a:latin typeface="Arial"/>
                <a:cs typeface="Arial"/>
              </a:rPr>
              <a:t> scenario??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1905" y="5658408"/>
            <a:ext cx="675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5767" y="748360"/>
            <a:ext cx="313626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Authentication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5693" y="3150184"/>
            <a:ext cx="337756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10" dirty="0">
                <a:latin typeface="Arial"/>
                <a:cs typeface="Arial"/>
              </a:rPr>
              <a:t>network,</a:t>
            </a:r>
            <a:endParaRPr sz="2400">
              <a:latin typeface="Arial"/>
              <a:cs typeface="Arial"/>
            </a:endParaRPr>
          </a:p>
          <a:p>
            <a:pPr marL="12700" marR="5080" algn="ctr">
              <a:lnSpc>
                <a:spcPct val="98800"/>
              </a:lnSpc>
              <a:spcBef>
                <a:spcPts val="110"/>
              </a:spcBef>
            </a:pPr>
            <a:r>
              <a:rPr sz="2400" dirty="0">
                <a:latin typeface="Arial"/>
                <a:cs typeface="Arial"/>
              </a:rPr>
              <a:t>Bob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“see”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Alice,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Trudy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simply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declares </a:t>
            </a:r>
            <a:r>
              <a:rPr sz="2400" dirty="0">
                <a:latin typeface="Arial"/>
                <a:cs typeface="Arial"/>
              </a:rPr>
              <a:t>herself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Alice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6356" y="3014472"/>
            <a:ext cx="665527" cy="83003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400044" y="3107435"/>
            <a:ext cx="2330450" cy="2464435"/>
            <a:chOff x="3400044" y="3107435"/>
            <a:chExt cx="2330450" cy="24644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0044" y="4277867"/>
              <a:ext cx="1082039" cy="12938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7947" y="3107435"/>
              <a:ext cx="812291" cy="794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58055" y="3767327"/>
              <a:ext cx="797560" cy="1044575"/>
            </a:xfrm>
            <a:custGeom>
              <a:avLst/>
              <a:gdLst/>
              <a:ahLst/>
              <a:cxnLst/>
              <a:rect l="l" t="t" r="r" b="b"/>
              <a:pathLst>
                <a:path w="797560" h="1044575">
                  <a:moveTo>
                    <a:pt x="670819" y="119934"/>
                  </a:moveTo>
                  <a:lnTo>
                    <a:pt x="0" y="1009904"/>
                  </a:lnTo>
                  <a:lnTo>
                    <a:pt x="45720" y="1044448"/>
                  </a:lnTo>
                  <a:lnTo>
                    <a:pt x="716521" y="154379"/>
                  </a:lnTo>
                  <a:lnTo>
                    <a:pt x="670819" y="119934"/>
                  </a:lnTo>
                  <a:close/>
                </a:path>
                <a:path w="797560" h="1044575">
                  <a:moveTo>
                    <a:pt x="779173" y="97028"/>
                  </a:moveTo>
                  <a:lnTo>
                    <a:pt x="688086" y="97028"/>
                  </a:lnTo>
                  <a:lnTo>
                    <a:pt x="733806" y="131445"/>
                  </a:lnTo>
                  <a:lnTo>
                    <a:pt x="716521" y="154379"/>
                  </a:lnTo>
                  <a:lnTo>
                    <a:pt x="762254" y="188849"/>
                  </a:lnTo>
                  <a:lnTo>
                    <a:pt x="779173" y="97028"/>
                  </a:lnTo>
                  <a:close/>
                </a:path>
                <a:path w="797560" h="1044575">
                  <a:moveTo>
                    <a:pt x="688086" y="97028"/>
                  </a:moveTo>
                  <a:lnTo>
                    <a:pt x="670819" y="119934"/>
                  </a:lnTo>
                  <a:lnTo>
                    <a:pt x="716521" y="154379"/>
                  </a:lnTo>
                  <a:lnTo>
                    <a:pt x="733806" y="131445"/>
                  </a:lnTo>
                  <a:lnTo>
                    <a:pt x="688086" y="97028"/>
                  </a:lnTo>
                  <a:close/>
                </a:path>
                <a:path w="797560" h="1044575">
                  <a:moveTo>
                    <a:pt x="797052" y="0"/>
                  </a:moveTo>
                  <a:lnTo>
                    <a:pt x="625094" y="85471"/>
                  </a:lnTo>
                  <a:lnTo>
                    <a:pt x="670819" y="119934"/>
                  </a:lnTo>
                  <a:lnTo>
                    <a:pt x="688086" y="97028"/>
                  </a:lnTo>
                  <a:lnTo>
                    <a:pt x="779173" y="97028"/>
                  </a:lnTo>
                  <a:lnTo>
                    <a:pt x="797052" y="0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95825" y="4313046"/>
            <a:ext cx="1546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“I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Alice”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5251" y="1376959"/>
            <a:ext cx="7557134" cy="1350010"/>
          </a:xfrm>
          <a:prstGeom prst="rect">
            <a:avLst/>
          </a:prstGeom>
        </p:spPr>
        <p:txBody>
          <a:bodyPr vert="horz" wrap="square" lIns="0" tIns="248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5"/>
              </a:spcBef>
              <a:tabLst>
                <a:tab pos="848994" algn="l"/>
              </a:tabLst>
            </a:pPr>
            <a:r>
              <a:rPr sz="2800" i="1" spc="-10" dirty="0">
                <a:solidFill>
                  <a:srgbClr val="C00000"/>
                </a:solidFill>
                <a:latin typeface="Gill Sans MT"/>
                <a:cs typeface="Gill Sans MT"/>
              </a:rPr>
              <a:t>Goal:</a:t>
            </a: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	</a:t>
            </a:r>
            <a:r>
              <a:rPr sz="2800" dirty="0">
                <a:latin typeface="Gill Sans MT"/>
                <a:cs typeface="Gill Sans MT"/>
              </a:rPr>
              <a:t>Bob</a:t>
            </a:r>
            <a:r>
              <a:rPr sz="2800" spc="-12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wants</a:t>
            </a:r>
            <a:r>
              <a:rPr sz="2800" spc="-2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Alice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to</a:t>
            </a:r>
            <a:r>
              <a:rPr sz="2800" spc="-28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“prove”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her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identity</a:t>
            </a:r>
            <a:r>
              <a:rPr sz="2800" spc="-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to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him</a:t>
            </a:r>
            <a:endParaRPr sz="2800">
              <a:latin typeface="Gill Sans MT"/>
              <a:cs typeface="Gill Sans MT"/>
            </a:endParaRPr>
          </a:p>
          <a:p>
            <a:pPr marL="19685">
              <a:lnSpc>
                <a:spcPct val="100000"/>
              </a:lnSpc>
              <a:spcBef>
                <a:spcPts val="1855"/>
              </a:spcBef>
              <a:tabLst>
                <a:tab pos="2172335" algn="l"/>
              </a:tabLst>
            </a:pPr>
            <a:r>
              <a:rPr sz="2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Gill Sans MT"/>
                <a:cs typeface="Gill Sans MT"/>
              </a:rPr>
              <a:t>Protocol</a:t>
            </a:r>
            <a:r>
              <a:rPr sz="2800" i="1" u="sng" spc="-19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Gill Sans MT"/>
                <a:cs typeface="Gill Sans MT"/>
              </a:rPr>
              <a:t> </a:t>
            </a:r>
            <a:r>
              <a:rPr sz="2800" i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Gill Sans MT"/>
                <a:cs typeface="Gill Sans MT"/>
              </a:rPr>
              <a:t>ap1.0:</a:t>
            </a: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	</a:t>
            </a:r>
            <a:r>
              <a:rPr sz="2800" dirty="0">
                <a:latin typeface="Gill Sans MT"/>
                <a:cs typeface="Gill Sans MT"/>
              </a:rPr>
              <a:t>Alice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says</a:t>
            </a:r>
            <a:r>
              <a:rPr sz="2800" spc="-2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“I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am</a:t>
            </a:r>
            <a:r>
              <a:rPr sz="2800" spc="-27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Alice”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0194" y="6435344"/>
            <a:ext cx="774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45767" y="748360"/>
            <a:ext cx="313626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Authentication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5154" y="1740865"/>
            <a:ext cx="7587615" cy="810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335"/>
              </a:lnSpc>
              <a:spcBef>
                <a:spcPts val="95"/>
              </a:spcBef>
            </a:pP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Protocol</a:t>
            </a:r>
            <a:r>
              <a:rPr sz="2800" i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ap2.0:</a:t>
            </a:r>
            <a:r>
              <a:rPr sz="28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Alice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says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Alice”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IP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packet</a:t>
            </a:r>
            <a:endParaRPr sz="2400">
              <a:latin typeface="Arial"/>
              <a:cs typeface="Arial"/>
            </a:endParaRPr>
          </a:p>
          <a:p>
            <a:pPr marR="89535" algn="r">
              <a:lnSpc>
                <a:spcPts val="2855"/>
              </a:lnSpc>
            </a:pPr>
            <a:r>
              <a:rPr sz="2400" dirty="0">
                <a:latin typeface="Arial"/>
                <a:cs typeface="Arial"/>
              </a:rPr>
              <a:t>containing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address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9530" y="4129785"/>
            <a:ext cx="253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Failure</a:t>
            </a:r>
            <a:r>
              <a:rPr sz="2400" spc="-10" dirty="0">
                <a:latin typeface="Arial"/>
                <a:cs typeface="Arial"/>
              </a:rPr>
              <a:t> scenario??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192" y="3721608"/>
            <a:ext cx="665527" cy="828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7476" y="4983479"/>
            <a:ext cx="1082039" cy="129387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761488" y="3433571"/>
            <a:ext cx="4433570" cy="1046480"/>
            <a:chOff x="2761488" y="3433571"/>
            <a:chExt cx="4433570" cy="10464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2511" y="3685031"/>
              <a:ext cx="812291" cy="7945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61488" y="4176775"/>
              <a:ext cx="3799840" cy="172085"/>
            </a:xfrm>
            <a:custGeom>
              <a:avLst/>
              <a:gdLst/>
              <a:ahLst/>
              <a:cxnLst/>
              <a:rect l="l" t="t" r="r" b="b"/>
              <a:pathLst>
                <a:path w="3799840" h="172085">
                  <a:moveTo>
                    <a:pt x="3627628" y="0"/>
                  </a:moveTo>
                  <a:lnTo>
                    <a:pt x="3627628" y="171704"/>
                  </a:lnTo>
                  <a:lnTo>
                    <a:pt x="3742182" y="114426"/>
                  </a:lnTo>
                  <a:lnTo>
                    <a:pt x="3656203" y="114426"/>
                  </a:lnTo>
                  <a:lnTo>
                    <a:pt x="3656203" y="57276"/>
                  </a:lnTo>
                  <a:lnTo>
                    <a:pt x="3742182" y="57276"/>
                  </a:lnTo>
                  <a:lnTo>
                    <a:pt x="3627628" y="0"/>
                  </a:lnTo>
                  <a:close/>
                </a:path>
                <a:path w="3799840" h="172085">
                  <a:moveTo>
                    <a:pt x="3627628" y="57276"/>
                  </a:moveTo>
                  <a:lnTo>
                    <a:pt x="0" y="57276"/>
                  </a:lnTo>
                  <a:lnTo>
                    <a:pt x="0" y="114426"/>
                  </a:lnTo>
                  <a:lnTo>
                    <a:pt x="3627628" y="114426"/>
                  </a:lnTo>
                  <a:lnTo>
                    <a:pt x="3627628" y="57276"/>
                  </a:lnTo>
                  <a:close/>
                </a:path>
                <a:path w="3799840" h="172085">
                  <a:moveTo>
                    <a:pt x="3742182" y="57276"/>
                  </a:moveTo>
                  <a:lnTo>
                    <a:pt x="3656203" y="57276"/>
                  </a:lnTo>
                  <a:lnTo>
                    <a:pt x="3656203" y="114426"/>
                  </a:lnTo>
                  <a:lnTo>
                    <a:pt x="3742182" y="114426"/>
                  </a:lnTo>
                  <a:lnTo>
                    <a:pt x="3799332" y="85851"/>
                  </a:lnTo>
                  <a:lnTo>
                    <a:pt x="3742182" y="57276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13532" y="3433571"/>
              <a:ext cx="2854960" cy="632460"/>
            </a:xfrm>
            <a:custGeom>
              <a:avLst/>
              <a:gdLst/>
              <a:ahLst/>
              <a:cxnLst/>
              <a:rect l="l" t="t" r="r" b="b"/>
              <a:pathLst>
                <a:path w="2854960" h="632460">
                  <a:moveTo>
                    <a:pt x="2854451" y="0"/>
                  </a:moveTo>
                  <a:lnTo>
                    <a:pt x="0" y="0"/>
                  </a:lnTo>
                  <a:lnTo>
                    <a:pt x="0" y="632459"/>
                  </a:lnTo>
                  <a:lnTo>
                    <a:pt x="2854451" y="632459"/>
                  </a:lnTo>
                  <a:lnTo>
                    <a:pt x="2854451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81500" y="3433571"/>
            <a:ext cx="1586865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320"/>
              </a:spcBef>
            </a:pPr>
            <a:r>
              <a:rPr sz="2000" dirty="0">
                <a:latin typeface="Arial"/>
                <a:cs typeface="Arial"/>
              </a:rPr>
              <a:t>“I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am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Alice”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3532" y="3433571"/>
            <a:ext cx="1268095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290"/>
              </a:spcBef>
            </a:pPr>
            <a:r>
              <a:rPr sz="1800" spc="-10" dirty="0">
                <a:latin typeface="Arial"/>
                <a:cs typeface="Arial"/>
              </a:rPr>
              <a:t>Alice’s</a:t>
            </a:r>
            <a:endParaRPr sz="1800">
              <a:latin typeface="Arial"/>
              <a:cs typeface="Arial"/>
            </a:endParaRPr>
          </a:p>
          <a:p>
            <a:pPr marL="8445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IP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0194" y="6435344"/>
            <a:ext cx="8102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3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45767" y="748360"/>
            <a:ext cx="313626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Authentication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4805" y="4002785"/>
            <a:ext cx="26162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Trudy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create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packet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“spoofing”</a:t>
            </a:r>
            <a:endParaRPr sz="2400">
              <a:latin typeface="Arial"/>
              <a:cs typeface="Arial"/>
            </a:endParaRPr>
          </a:p>
          <a:p>
            <a:pPr marL="28511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Alice’s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address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192" y="3721608"/>
            <a:ext cx="665527" cy="82856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427476" y="3685032"/>
            <a:ext cx="4427220" cy="2592705"/>
            <a:chOff x="3427476" y="3685032"/>
            <a:chExt cx="4427220" cy="25927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7476" y="4983480"/>
              <a:ext cx="1082039" cy="12938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2511" y="3685032"/>
              <a:ext cx="812291" cy="794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35602" y="4262628"/>
              <a:ext cx="2125345" cy="1262380"/>
            </a:xfrm>
            <a:custGeom>
              <a:avLst/>
              <a:gdLst/>
              <a:ahLst/>
              <a:cxnLst/>
              <a:rect l="l" t="t" r="r" b="b"/>
              <a:pathLst>
                <a:path w="2125345" h="1262379">
                  <a:moveTo>
                    <a:pt x="1962575" y="62119"/>
                  </a:moveTo>
                  <a:lnTo>
                    <a:pt x="0" y="1212850"/>
                  </a:lnTo>
                  <a:lnTo>
                    <a:pt x="28956" y="1262126"/>
                  </a:lnTo>
                  <a:lnTo>
                    <a:pt x="1991517" y="111528"/>
                  </a:lnTo>
                  <a:lnTo>
                    <a:pt x="1962575" y="62119"/>
                  </a:lnTo>
                  <a:close/>
                </a:path>
                <a:path w="2125345" h="1262379">
                  <a:moveTo>
                    <a:pt x="2094207" y="47625"/>
                  </a:moveTo>
                  <a:lnTo>
                    <a:pt x="1987296" y="47625"/>
                  </a:lnTo>
                  <a:lnTo>
                    <a:pt x="2016252" y="97028"/>
                  </a:lnTo>
                  <a:lnTo>
                    <a:pt x="1991517" y="111528"/>
                  </a:lnTo>
                  <a:lnTo>
                    <a:pt x="2020443" y="160909"/>
                  </a:lnTo>
                  <a:lnTo>
                    <a:pt x="2094207" y="47625"/>
                  </a:lnTo>
                  <a:close/>
                </a:path>
                <a:path w="2125345" h="1262379">
                  <a:moveTo>
                    <a:pt x="1987296" y="47625"/>
                  </a:moveTo>
                  <a:lnTo>
                    <a:pt x="1962575" y="62119"/>
                  </a:lnTo>
                  <a:lnTo>
                    <a:pt x="1991517" y="111528"/>
                  </a:lnTo>
                  <a:lnTo>
                    <a:pt x="2016252" y="97028"/>
                  </a:lnTo>
                  <a:lnTo>
                    <a:pt x="1987296" y="47625"/>
                  </a:lnTo>
                  <a:close/>
                </a:path>
                <a:path w="2125345" h="1262379">
                  <a:moveTo>
                    <a:pt x="2125218" y="0"/>
                  </a:moveTo>
                  <a:lnTo>
                    <a:pt x="1933702" y="12827"/>
                  </a:lnTo>
                  <a:lnTo>
                    <a:pt x="1962575" y="62119"/>
                  </a:lnTo>
                  <a:lnTo>
                    <a:pt x="1987296" y="47625"/>
                  </a:lnTo>
                  <a:lnTo>
                    <a:pt x="2094207" y="47625"/>
                  </a:lnTo>
                  <a:lnTo>
                    <a:pt x="2125218" y="0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98720" y="4939284"/>
              <a:ext cx="2856230" cy="632460"/>
            </a:xfrm>
            <a:custGeom>
              <a:avLst/>
              <a:gdLst/>
              <a:ahLst/>
              <a:cxnLst/>
              <a:rect l="l" t="t" r="r" b="b"/>
              <a:pathLst>
                <a:path w="2856229" h="632460">
                  <a:moveTo>
                    <a:pt x="2855976" y="0"/>
                  </a:moveTo>
                  <a:lnTo>
                    <a:pt x="0" y="0"/>
                  </a:lnTo>
                  <a:lnTo>
                    <a:pt x="0" y="632459"/>
                  </a:lnTo>
                  <a:lnTo>
                    <a:pt x="2855976" y="632459"/>
                  </a:lnTo>
                  <a:lnTo>
                    <a:pt x="2855976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66688" y="4939284"/>
            <a:ext cx="1588135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320"/>
              </a:spcBef>
            </a:pPr>
            <a:r>
              <a:rPr sz="2000" dirty="0">
                <a:latin typeface="Arial"/>
                <a:cs typeface="Arial"/>
              </a:rPr>
              <a:t>“I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am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Alice”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8720" y="4939284"/>
            <a:ext cx="1268095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85090" marR="89535" indent="182880">
              <a:lnSpc>
                <a:spcPct val="100000"/>
              </a:lnSpc>
              <a:spcBef>
                <a:spcPts val="285"/>
              </a:spcBef>
            </a:pPr>
            <a:r>
              <a:rPr sz="1800" spc="-10" dirty="0">
                <a:latin typeface="Arial"/>
                <a:cs typeface="Arial"/>
              </a:rPr>
              <a:t>Alice’s </a:t>
            </a:r>
            <a:r>
              <a:rPr sz="1800" dirty="0">
                <a:latin typeface="Arial"/>
                <a:cs typeface="Arial"/>
              </a:rPr>
              <a:t>IP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5154" y="1696973"/>
            <a:ext cx="7587615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329"/>
              </a:lnSpc>
              <a:spcBef>
                <a:spcPts val="95"/>
              </a:spcBef>
            </a:pP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Protocol</a:t>
            </a:r>
            <a:r>
              <a:rPr sz="2800" i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ap2.0:</a:t>
            </a:r>
            <a:r>
              <a:rPr sz="2800"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Alice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says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Alice”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IP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packet</a:t>
            </a:r>
            <a:endParaRPr sz="2400">
              <a:latin typeface="Arial"/>
              <a:cs typeface="Arial"/>
            </a:endParaRPr>
          </a:p>
          <a:p>
            <a:pPr marR="89535" algn="r">
              <a:lnSpc>
                <a:spcPts val="2850"/>
              </a:lnSpc>
            </a:pPr>
            <a:r>
              <a:rPr sz="2400" dirty="0">
                <a:latin typeface="Arial"/>
                <a:cs typeface="Arial"/>
              </a:rPr>
              <a:t>containing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address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0194" y="6435344"/>
            <a:ext cx="774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537208" y="602056"/>
            <a:ext cx="313626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Authentication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37965" y="1698498"/>
            <a:ext cx="74187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2151380" algn="l"/>
              </a:tabLst>
            </a:pP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Protocol</a:t>
            </a:r>
            <a:r>
              <a:rPr sz="2800" i="1" spc="-195" dirty="0">
                <a:solidFill>
                  <a:srgbClr val="C00000"/>
                </a:solidFill>
                <a:latin typeface="Gill Sans MT"/>
                <a:cs typeface="Gill Sans MT"/>
              </a:rPr>
              <a:t> </a:t>
            </a:r>
            <a:r>
              <a:rPr sz="2800" i="1" spc="-10" dirty="0">
                <a:solidFill>
                  <a:srgbClr val="C00000"/>
                </a:solidFill>
                <a:latin typeface="Gill Sans MT"/>
                <a:cs typeface="Gill Sans MT"/>
              </a:rPr>
              <a:t>ap3.0:</a:t>
            </a: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	</a:t>
            </a:r>
            <a:r>
              <a:rPr sz="2800" dirty="0">
                <a:latin typeface="Gill Sans MT"/>
                <a:cs typeface="Gill Sans MT"/>
              </a:rPr>
              <a:t>Alice</a:t>
            </a:r>
            <a:r>
              <a:rPr sz="2800" spc="-75" dirty="0">
                <a:latin typeface="Gill Sans MT"/>
                <a:cs typeface="Gill Sans MT"/>
              </a:rPr>
              <a:t> </a:t>
            </a:r>
            <a:r>
              <a:rPr sz="2800" spc="-50" dirty="0">
                <a:latin typeface="Gill Sans MT"/>
                <a:cs typeface="Gill Sans MT"/>
              </a:rPr>
              <a:t>says</a:t>
            </a:r>
            <a:r>
              <a:rPr sz="2800" spc="-2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“I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am</a:t>
            </a:r>
            <a:r>
              <a:rPr sz="2800" spc="-2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Alice”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and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sends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her</a:t>
            </a:r>
            <a:endParaRPr sz="2800">
              <a:latin typeface="Gill Sans MT"/>
              <a:cs typeface="Gill Sans MT"/>
            </a:endParaRPr>
          </a:p>
          <a:p>
            <a:pPr marR="7620" algn="r">
              <a:lnSpc>
                <a:spcPct val="100000"/>
              </a:lnSpc>
            </a:pP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encrypted</a:t>
            </a:r>
            <a:r>
              <a:rPr sz="2800" i="1" spc="-155" dirty="0">
                <a:solidFill>
                  <a:srgbClr val="C00000"/>
                </a:solidFill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secret</a:t>
            </a:r>
            <a:r>
              <a:rPr sz="2800" spc="-114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password</a:t>
            </a:r>
            <a:r>
              <a:rPr sz="2800" spc="-100" dirty="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to</a:t>
            </a:r>
            <a:r>
              <a:rPr sz="2800" spc="-28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“prove”</a:t>
            </a:r>
            <a:r>
              <a:rPr sz="2800" spc="-10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it.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9530" y="4129785"/>
            <a:ext cx="2531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Failure</a:t>
            </a:r>
            <a:r>
              <a:rPr sz="2400" spc="-10" dirty="0">
                <a:latin typeface="Arial"/>
                <a:cs typeface="Arial"/>
              </a:rPr>
              <a:t> scenario??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7192" y="3669791"/>
            <a:ext cx="5330825" cy="880744"/>
            <a:chOff x="2047192" y="3669791"/>
            <a:chExt cx="5330825" cy="88074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7192" y="3721607"/>
              <a:ext cx="665527" cy="8285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2" y="3669791"/>
              <a:ext cx="812292" cy="7959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34055" y="3980179"/>
              <a:ext cx="3797935" cy="172085"/>
            </a:xfrm>
            <a:custGeom>
              <a:avLst/>
              <a:gdLst/>
              <a:ahLst/>
              <a:cxnLst/>
              <a:rect l="l" t="t" r="r" b="b"/>
              <a:pathLst>
                <a:path w="3797934" h="172085">
                  <a:moveTo>
                    <a:pt x="171704" y="0"/>
                  </a:moveTo>
                  <a:lnTo>
                    <a:pt x="0" y="85852"/>
                  </a:lnTo>
                  <a:lnTo>
                    <a:pt x="171704" y="171704"/>
                  </a:lnTo>
                  <a:lnTo>
                    <a:pt x="171704" y="114427"/>
                  </a:lnTo>
                  <a:lnTo>
                    <a:pt x="143129" y="114427"/>
                  </a:lnTo>
                  <a:lnTo>
                    <a:pt x="143129" y="57277"/>
                  </a:lnTo>
                  <a:lnTo>
                    <a:pt x="171704" y="57277"/>
                  </a:lnTo>
                  <a:lnTo>
                    <a:pt x="171704" y="0"/>
                  </a:lnTo>
                  <a:close/>
                </a:path>
                <a:path w="3797934" h="172085">
                  <a:moveTo>
                    <a:pt x="3626104" y="0"/>
                  </a:moveTo>
                  <a:lnTo>
                    <a:pt x="3626104" y="171704"/>
                  </a:lnTo>
                  <a:lnTo>
                    <a:pt x="3740658" y="114427"/>
                  </a:lnTo>
                  <a:lnTo>
                    <a:pt x="3654679" y="114427"/>
                  </a:lnTo>
                  <a:lnTo>
                    <a:pt x="3654679" y="57277"/>
                  </a:lnTo>
                  <a:lnTo>
                    <a:pt x="3740658" y="57277"/>
                  </a:lnTo>
                  <a:lnTo>
                    <a:pt x="3626104" y="0"/>
                  </a:lnTo>
                  <a:close/>
                </a:path>
                <a:path w="3797934" h="172085">
                  <a:moveTo>
                    <a:pt x="171704" y="57277"/>
                  </a:moveTo>
                  <a:lnTo>
                    <a:pt x="143129" y="57277"/>
                  </a:lnTo>
                  <a:lnTo>
                    <a:pt x="143129" y="114427"/>
                  </a:lnTo>
                  <a:lnTo>
                    <a:pt x="171704" y="114427"/>
                  </a:lnTo>
                  <a:lnTo>
                    <a:pt x="171704" y="57277"/>
                  </a:lnTo>
                  <a:close/>
                </a:path>
                <a:path w="3797934" h="172085">
                  <a:moveTo>
                    <a:pt x="3626104" y="57277"/>
                  </a:moveTo>
                  <a:lnTo>
                    <a:pt x="171704" y="57277"/>
                  </a:lnTo>
                  <a:lnTo>
                    <a:pt x="171704" y="114427"/>
                  </a:lnTo>
                  <a:lnTo>
                    <a:pt x="3626104" y="114427"/>
                  </a:lnTo>
                  <a:lnTo>
                    <a:pt x="3626104" y="57277"/>
                  </a:lnTo>
                  <a:close/>
                </a:path>
                <a:path w="3797934" h="172085">
                  <a:moveTo>
                    <a:pt x="3740658" y="57277"/>
                  </a:moveTo>
                  <a:lnTo>
                    <a:pt x="3654679" y="57277"/>
                  </a:lnTo>
                  <a:lnTo>
                    <a:pt x="3654679" y="114427"/>
                  </a:lnTo>
                  <a:lnTo>
                    <a:pt x="3740658" y="114427"/>
                  </a:lnTo>
                  <a:lnTo>
                    <a:pt x="3797808" y="85852"/>
                  </a:lnTo>
                  <a:lnTo>
                    <a:pt x="3740658" y="57277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4800" y="5193791"/>
            <a:ext cx="1082039" cy="1295400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23507" y="3302399"/>
          <a:ext cx="3132455" cy="63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Alice’s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IP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addr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49530" indent="1123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Alice’s password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“I’m</a:t>
                      </a:r>
                      <a:r>
                        <a:rPr sz="1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Alice”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587240" y="4235196"/>
            <a:ext cx="1489075" cy="632460"/>
          </a:xfrm>
          <a:custGeom>
            <a:avLst/>
            <a:gdLst/>
            <a:ahLst/>
            <a:cxnLst/>
            <a:rect l="l" t="t" r="r" b="b"/>
            <a:pathLst>
              <a:path w="1489075" h="632460">
                <a:moveTo>
                  <a:pt x="1488948" y="0"/>
                </a:moveTo>
                <a:lnTo>
                  <a:pt x="0" y="0"/>
                </a:lnTo>
                <a:lnTo>
                  <a:pt x="0" y="632459"/>
                </a:lnTo>
                <a:lnTo>
                  <a:pt x="1488948" y="632459"/>
                </a:lnTo>
                <a:lnTo>
                  <a:pt x="1488948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31535" y="4235196"/>
            <a:ext cx="645160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15113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190"/>
              </a:spcBef>
            </a:pPr>
            <a:r>
              <a:rPr sz="1800" spc="-25" dirty="0">
                <a:latin typeface="Arial"/>
                <a:cs typeface="Arial"/>
              </a:rPr>
              <a:t>OK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7240" y="4235196"/>
            <a:ext cx="844550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100330" marR="84455" indent="5715">
              <a:lnSpc>
                <a:spcPct val="100000"/>
              </a:lnSpc>
              <a:spcBef>
                <a:spcPts val="565"/>
              </a:spcBef>
            </a:pPr>
            <a:r>
              <a:rPr sz="1600" spc="-10" dirty="0">
                <a:latin typeface="Arial"/>
                <a:cs typeface="Arial"/>
              </a:rPr>
              <a:t>Alice’s </a:t>
            </a:r>
            <a:r>
              <a:rPr sz="1600" dirty="0">
                <a:latin typeface="Arial"/>
                <a:cs typeface="Arial"/>
              </a:rPr>
              <a:t>IP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addr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64508" y="3562870"/>
            <a:ext cx="2649220" cy="1027430"/>
          </a:xfrm>
          <a:custGeom>
            <a:avLst/>
            <a:gdLst/>
            <a:ahLst/>
            <a:cxnLst/>
            <a:rect l="l" t="t" r="r" b="b"/>
            <a:pathLst>
              <a:path w="2649220" h="1027429">
                <a:moveTo>
                  <a:pt x="452628" y="981443"/>
                </a:moveTo>
                <a:lnTo>
                  <a:pt x="76174" y="982675"/>
                </a:lnTo>
                <a:lnTo>
                  <a:pt x="76073" y="950963"/>
                </a:lnTo>
                <a:lnTo>
                  <a:pt x="0" y="989317"/>
                </a:lnTo>
                <a:lnTo>
                  <a:pt x="76327" y="1027163"/>
                </a:lnTo>
                <a:lnTo>
                  <a:pt x="76212" y="995413"/>
                </a:lnTo>
                <a:lnTo>
                  <a:pt x="452628" y="994143"/>
                </a:lnTo>
                <a:lnTo>
                  <a:pt x="452628" y="981443"/>
                </a:lnTo>
                <a:close/>
              </a:path>
              <a:path w="2649220" h="1027429">
                <a:moveTo>
                  <a:pt x="2648712" y="38341"/>
                </a:moveTo>
                <a:lnTo>
                  <a:pt x="2572639" y="0"/>
                </a:lnTo>
                <a:lnTo>
                  <a:pt x="2572524" y="31838"/>
                </a:lnTo>
                <a:lnTo>
                  <a:pt x="2086356" y="30467"/>
                </a:lnTo>
                <a:lnTo>
                  <a:pt x="2086356" y="43167"/>
                </a:lnTo>
                <a:lnTo>
                  <a:pt x="2572486" y="44538"/>
                </a:lnTo>
                <a:lnTo>
                  <a:pt x="2572385" y="76187"/>
                </a:lnTo>
                <a:lnTo>
                  <a:pt x="2636151" y="44564"/>
                </a:lnTo>
                <a:lnTo>
                  <a:pt x="2648712" y="38341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60194" y="6435344"/>
            <a:ext cx="774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37208" y="602056"/>
            <a:ext cx="313626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Authentication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3" y="3890848"/>
            <a:ext cx="2549525" cy="12388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>
              <a:lnSpc>
                <a:spcPct val="98800"/>
              </a:lnSpc>
              <a:spcBef>
                <a:spcPts val="135"/>
              </a:spcBef>
            </a:pPr>
            <a:r>
              <a:rPr sz="2000" i="1" dirty="0">
                <a:solidFill>
                  <a:srgbClr val="C00000"/>
                </a:solidFill>
                <a:latin typeface="Arial"/>
                <a:cs typeface="Arial"/>
              </a:rPr>
              <a:t>playback</a:t>
            </a:r>
            <a:r>
              <a:rPr sz="2000" i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C00000"/>
                </a:solidFill>
                <a:latin typeface="Arial"/>
                <a:cs typeface="Arial"/>
              </a:rPr>
              <a:t>attack:</a:t>
            </a:r>
            <a:r>
              <a:rPr sz="2000" i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Trudy </a:t>
            </a:r>
            <a:r>
              <a:rPr sz="2000" dirty="0">
                <a:latin typeface="Arial"/>
                <a:cs typeface="Arial"/>
              </a:rPr>
              <a:t>records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Alice’s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packet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later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plays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back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Bob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192" y="3721608"/>
            <a:ext cx="665527" cy="828567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23507" y="3302399"/>
          <a:ext cx="3132455" cy="63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10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Alice’s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IP</a:t>
                      </a:r>
                      <a:r>
                        <a:rPr sz="1600" spc="-45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6995" marR="48260" indent="1123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spc="-10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Alice’s password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“I’m</a:t>
                      </a:r>
                      <a:r>
                        <a:rPr sz="1800" spc="-110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EDEBE0"/>
                          </a:solidFill>
                          <a:latin typeface="Arial"/>
                          <a:cs typeface="Arial"/>
                        </a:rPr>
                        <a:t>Alice”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114800" y="3669791"/>
            <a:ext cx="3263265" cy="2819400"/>
            <a:chOff x="4114800" y="3669791"/>
            <a:chExt cx="3263265" cy="28194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0" y="5193791"/>
              <a:ext cx="1082039" cy="1295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2" y="3669791"/>
              <a:ext cx="812292" cy="7959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50891" y="4224527"/>
              <a:ext cx="1489075" cy="632460"/>
            </a:xfrm>
            <a:custGeom>
              <a:avLst/>
              <a:gdLst/>
              <a:ahLst/>
              <a:cxnLst/>
              <a:rect l="l" t="t" r="r" b="b"/>
              <a:pathLst>
                <a:path w="1489075" h="632460">
                  <a:moveTo>
                    <a:pt x="1488948" y="0"/>
                  </a:moveTo>
                  <a:lnTo>
                    <a:pt x="0" y="0"/>
                  </a:lnTo>
                  <a:lnTo>
                    <a:pt x="0" y="632460"/>
                  </a:lnTo>
                  <a:lnTo>
                    <a:pt x="1488948" y="632460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50891" y="4224527"/>
              <a:ext cx="1489075" cy="632460"/>
            </a:xfrm>
            <a:custGeom>
              <a:avLst/>
              <a:gdLst/>
              <a:ahLst/>
              <a:cxnLst/>
              <a:rect l="l" t="t" r="r" b="b"/>
              <a:pathLst>
                <a:path w="1489075" h="632460">
                  <a:moveTo>
                    <a:pt x="0" y="632460"/>
                  </a:moveTo>
                  <a:lnTo>
                    <a:pt x="1488948" y="632460"/>
                  </a:lnTo>
                  <a:lnTo>
                    <a:pt x="1488948" y="0"/>
                  </a:lnTo>
                  <a:lnTo>
                    <a:pt x="0" y="0"/>
                  </a:lnTo>
                  <a:lnTo>
                    <a:pt x="0" y="632460"/>
                  </a:lnTo>
                  <a:close/>
                </a:path>
              </a:pathLst>
            </a:custGeom>
            <a:ln w="9360">
              <a:solidFill>
                <a:srgbClr val="0E0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43396" y="4362957"/>
            <a:ext cx="356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OK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8776" y="4283709"/>
            <a:ext cx="6762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Alice’s </a:t>
            </a:r>
            <a:r>
              <a:rPr sz="1600" dirty="0">
                <a:latin typeface="Arial"/>
                <a:cs typeface="Arial"/>
              </a:rPr>
              <a:t>IP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addr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55975" y="4094734"/>
            <a:ext cx="4765675" cy="1906905"/>
            <a:chOff x="3355975" y="4094734"/>
            <a:chExt cx="4765675" cy="1906905"/>
          </a:xfrm>
        </p:grpSpPr>
        <p:sp>
          <p:nvSpPr>
            <p:cNvPr id="13" name="object 13"/>
            <p:cNvSpPr/>
            <p:nvPr/>
          </p:nvSpPr>
          <p:spPr>
            <a:xfrm>
              <a:off x="3499903" y="5351116"/>
              <a:ext cx="874394" cy="462915"/>
            </a:xfrm>
            <a:custGeom>
              <a:avLst/>
              <a:gdLst/>
              <a:ahLst/>
              <a:cxnLst/>
              <a:rect l="l" t="t" r="r" b="b"/>
              <a:pathLst>
                <a:path w="874395" h="462914">
                  <a:moveTo>
                    <a:pt x="262712" y="0"/>
                  </a:moveTo>
                  <a:lnTo>
                    <a:pt x="0" y="203173"/>
                  </a:lnTo>
                  <a:lnTo>
                    <a:pt x="598042" y="462344"/>
                  </a:lnTo>
                  <a:lnTo>
                    <a:pt x="800438" y="280010"/>
                  </a:lnTo>
                  <a:lnTo>
                    <a:pt x="874285" y="184328"/>
                  </a:lnTo>
                  <a:lnTo>
                    <a:pt x="262712" y="0"/>
                  </a:lnTo>
                  <a:close/>
                </a:path>
              </a:pathLst>
            </a:custGeom>
            <a:solidFill>
              <a:srgbClr val="D1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38643" y="5441009"/>
              <a:ext cx="600710" cy="245745"/>
            </a:xfrm>
            <a:custGeom>
              <a:avLst/>
              <a:gdLst/>
              <a:ahLst/>
              <a:cxnLst/>
              <a:rect l="l" t="t" r="r" b="b"/>
              <a:pathLst>
                <a:path w="600710" h="245745">
                  <a:moveTo>
                    <a:pt x="121819" y="0"/>
                  </a:moveTo>
                  <a:lnTo>
                    <a:pt x="71063" y="760"/>
                  </a:lnTo>
                  <a:lnTo>
                    <a:pt x="14457" y="27379"/>
                  </a:lnTo>
                  <a:lnTo>
                    <a:pt x="0" y="62048"/>
                  </a:lnTo>
                  <a:lnTo>
                    <a:pt x="10766" y="93421"/>
                  </a:lnTo>
                  <a:lnTo>
                    <a:pt x="479896" y="245130"/>
                  </a:lnTo>
                  <a:lnTo>
                    <a:pt x="552186" y="235581"/>
                  </a:lnTo>
                  <a:lnTo>
                    <a:pt x="600172" y="196898"/>
                  </a:lnTo>
                  <a:lnTo>
                    <a:pt x="590653" y="150695"/>
                  </a:lnTo>
                  <a:lnTo>
                    <a:pt x="555584" y="117040"/>
                  </a:lnTo>
                  <a:lnTo>
                    <a:pt x="195354" y="8788"/>
                  </a:lnTo>
                  <a:lnTo>
                    <a:pt x="121819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2470" y="5462621"/>
              <a:ext cx="392430" cy="180340"/>
            </a:xfrm>
            <a:custGeom>
              <a:avLst/>
              <a:gdLst/>
              <a:ahLst/>
              <a:cxnLst/>
              <a:rect l="l" t="t" r="r" b="b"/>
              <a:pathLst>
                <a:path w="392429" h="180339">
                  <a:moveTo>
                    <a:pt x="121811" y="0"/>
                  </a:moveTo>
                  <a:lnTo>
                    <a:pt x="0" y="94667"/>
                  </a:lnTo>
                  <a:lnTo>
                    <a:pt x="277492" y="180314"/>
                  </a:lnTo>
                  <a:lnTo>
                    <a:pt x="391906" y="78844"/>
                  </a:lnTo>
                  <a:lnTo>
                    <a:pt x="121811" y="0"/>
                  </a:lnTo>
                  <a:close/>
                </a:path>
              </a:pathLst>
            </a:custGeom>
            <a:solidFill>
              <a:srgbClr val="66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97442" y="5561071"/>
              <a:ext cx="610235" cy="348615"/>
            </a:xfrm>
            <a:custGeom>
              <a:avLst/>
              <a:gdLst/>
              <a:ahLst/>
              <a:cxnLst/>
              <a:rect l="l" t="t" r="r" b="b"/>
              <a:pathLst>
                <a:path w="610235" h="348614">
                  <a:moveTo>
                    <a:pt x="0" y="0"/>
                  </a:moveTo>
                  <a:lnTo>
                    <a:pt x="44605" y="113259"/>
                  </a:lnTo>
                  <a:lnTo>
                    <a:pt x="587275" y="328233"/>
                  </a:lnTo>
                  <a:lnTo>
                    <a:pt x="610022" y="348325"/>
                  </a:lnTo>
                  <a:lnTo>
                    <a:pt x="602941" y="2345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9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79292" y="5339816"/>
              <a:ext cx="906780" cy="569595"/>
            </a:xfrm>
            <a:custGeom>
              <a:avLst/>
              <a:gdLst/>
              <a:ahLst/>
              <a:cxnLst/>
              <a:rect l="l" t="t" r="r" b="b"/>
              <a:pathLst>
                <a:path w="906779" h="569595">
                  <a:moveTo>
                    <a:pt x="776452" y="261188"/>
                  </a:moveTo>
                  <a:lnTo>
                    <a:pt x="752157" y="233045"/>
                  </a:lnTo>
                  <a:lnTo>
                    <a:pt x="743851" y="228587"/>
                  </a:lnTo>
                  <a:lnTo>
                    <a:pt x="743851" y="265709"/>
                  </a:lnTo>
                  <a:lnTo>
                    <a:pt x="742911" y="293065"/>
                  </a:lnTo>
                  <a:lnTo>
                    <a:pt x="726008" y="317677"/>
                  </a:lnTo>
                  <a:lnTo>
                    <a:pt x="688467" y="332257"/>
                  </a:lnTo>
                  <a:lnTo>
                    <a:pt x="634936" y="331495"/>
                  </a:lnTo>
                  <a:lnTo>
                    <a:pt x="585495" y="316636"/>
                  </a:lnTo>
                  <a:lnTo>
                    <a:pt x="265823" y="214680"/>
                  </a:lnTo>
                  <a:lnTo>
                    <a:pt x="382028" y="127495"/>
                  </a:lnTo>
                  <a:lnTo>
                    <a:pt x="691527" y="217728"/>
                  </a:lnTo>
                  <a:lnTo>
                    <a:pt x="727227" y="240842"/>
                  </a:lnTo>
                  <a:lnTo>
                    <a:pt x="743851" y="265709"/>
                  </a:lnTo>
                  <a:lnTo>
                    <a:pt x="743851" y="228587"/>
                  </a:lnTo>
                  <a:lnTo>
                    <a:pt x="712470" y="211709"/>
                  </a:lnTo>
                  <a:lnTo>
                    <a:pt x="414362" y="122047"/>
                  </a:lnTo>
                  <a:lnTo>
                    <a:pt x="365836" y="109562"/>
                  </a:lnTo>
                  <a:lnTo>
                    <a:pt x="365836" y="122783"/>
                  </a:lnTo>
                  <a:lnTo>
                    <a:pt x="248310" y="209092"/>
                  </a:lnTo>
                  <a:lnTo>
                    <a:pt x="179247" y="187058"/>
                  </a:lnTo>
                  <a:lnTo>
                    <a:pt x="172567" y="169773"/>
                  </a:lnTo>
                  <a:lnTo>
                    <a:pt x="181190" y="148412"/>
                  </a:lnTo>
                  <a:lnTo>
                    <a:pt x="206108" y="127076"/>
                  </a:lnTo>
                  <a:lnTo>
                    <a:pt x="253174" y="108229"/>
                  </a:lnTo>
                  <a:lnTo>
                    <a:pt x="325462" y="110998"/>
                  </a:lnTo>
                  <a:lnTo>
                    <a:pt x="365836" y="122783"/>
                  </a:lnTo>
                  <a:lnTo>
                    <a:pt x="365836" y="109562"/>
                  </a:lnTo>
                  <a:lnTo>
                    <a:pt x="324535" y="98933"/>
                  </a:lnTo>
                  <a:lnTo>
                    <a:pt x="259638" y="94665"/>
                  </a:lnTo>
                  <a:lnTo>
                    <a:pt x="205181" y="110998"/>
                  </a:lnTo>
                  <a:lnTo>
                    <a:pt x="169494" y="126314"/>
                  </a:lnTo>
                  <a:lnTo>
                    <a:pt x="152882" y="157962"/>
                  </a:lnTo>
                  <a:lnTo>
                    <a:pt x="163347" y="200660"/>
                  </a:lnTo>
                  <a:lnTo>
                    <a:pt x="181787" y="202145"/>
                  </a:lnTo>
                  <a:lnTo>
                    <a:pt x="539254" y="318668"/>
                  </a:lnTo>
                  <a:lnTo>
                    <a:pt x="618337" y="348589"/>
                  </a:lnTo>
                  <a:lnTo>
                    <a:pt x="691527" y="347573"/>
                  </a:lnTo>
                  <a:lnTo>
                    <a:pt x="736460" y="324713"/>
                  </a:lnTo>
                  <a:lnTo>
                    <a:pt x="766914" y="298094"/>
                  </a:lnTo>
                  <a:lnTo>
                    <a:pt x="776452" y="261188"/>
                  </a:lnTo>
                  <a:close/>
                </a:path>
                <a:path w="906779" h="569595">
                  <a:moveTo>
                    <a:pt x="906589" y="183337"/>
                  </a:moveTo>
                  <a:lnTo>
                    <a:pt x="287616" y="0"/>
                  </a:lnTo>
                  <a:lnTo>
                    <a:pt x="0" y="219989"/>
                  </a:lnTo>
                  <a:lnTo>
                    <a:pt x="67983" y="347573"/>
                  </a:lnTo>
                  <a:lnTo>
                    <a:pt x="618337" y="558038"/>
                  </a:lnTo>
                  <a:lnTo>
                    <a:pt x="606640" y="531418"/>
                  </a:lnTo>
                  <a:lnTo>
                    <a:pt x="91363" y="333248"/>
                  </a:lnTo>
                  <a:lnTo>
                    <a:pt x="48907" y="248361"/>
                  </a:lnTo>
                  <a:lnTo>
                    <a:pt x="601116" y="451053"/>
                  </a:lnTo>
                  <a:lnTo>
                    <a:pt x="618337" y="438746"/>
                  </a:lnTo>
                  <a:lnTo>
                    <a:pt x="33528" y="215214"/>
                  </a:lnTo>
                  <a:lnTo>
                    <a:pt x="291020" y="22098"/>
                  </a:lnTo>
                  <a:lnTo>
                    <a:pt x="886193" y="201637"/>
                  </a:lnTo>
                  <a:lnTo>
                    <a:pt x="618337" y="457581"/>
                  </a:lnTo>
                  <a:lnTo>
                    <a:pt x="627849" y="569582"/>
                  </a:lnTo>
                  <a:lnTo>
                    <a:pt x="895197" y="300355"/>
                  </a:lnTo>
                  <a:lnTo>
                    <a:pt x="905205" y="184924"/>
                  </a:lnTo>
                  <a:lnTo>
                    <a:pt x="906589" y="183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5178" y="5536944"/>
              <a:ext cx="182112" cy="12232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29736" y="5388533"/>
              <a:ext cx="778510" cy="336550"/>
            </a:xfrm>
            <a:custGeom>
              <a:avLst/>
              <a:gdLst/>
              <a:ahLst/>
              <a:cxnLst/>
              <a:rect l="l" t="t" r="r" b="b"/>
              <a:pathLst>
                <a:path w="778510" h="336550">
                  <a:moveTo>
                    <a:pt x="147358" y="329755"/>
                  </a:moveTo>
                  <a:lnTo>
                    <a:pt x="86753" y="249377"/>
                  </a:lnTo>
                  <a:lnTo>
                    <a:pt x="83680" y="275996"/>
                  </a:lnTo>
                  <a:lnTo>
                    <a:pt x="107670" y="316191"/>
                  </a:lnTo>
                  <a:lnTo>
                    <a:pt x="147358" y="329755"/>
                  </a:lnTo>
                  <a:close/>
                </a:path>
                <a:path w="778510" h="336550">
                  <a:moveTo>
                    <a:pt x="626021" y="330250"/>
                  </a:moveTo>
                  <a:lnTo>
                    <a:pt x="14465" y="128066"/>
                  </a:lnTo>
                  <a:lnTo>
                    <a:pt x="0" y="138125"/>
                  </a:lnTo>
                  <a:lnTo>
                    <a:pt x="609104" y="336524"/>
                  </a:lnTo>
                  <a:lnTo>
                    <a:pt x="626021" y="330250"/>
                  </a:lnTo>
                  <a:close/>
                </a:path>
                <a:path w="778510" h="336550">
                  <a:moveTo>
                    <a:pt x="777989" y="175793"/>
                  </a:moveTo>
                  <a:lnTo>
                    <a:pt x="190728" y="0"/>
                  </a:lnTo>
                  <a:lnTo>
                    <a:pt x="177812" y="5257"/>
                  </a:lnTo>
                  <a:lnTo>
                    <a:pt x="771842" y="191109"/>
                  </a:lnTo>
                  <a:lnTo>
                    <a:pt x="777989" y="175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9245" y="5670316"/>
              <a:ext cx="234095" cy="15394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60732" y="5778048"/>
              <a:ext cx="52705" cy="78105"/>
            </a:xfrm>
            <a:custGeom>
              <a:avLst/>
              <a:gdLst/>
              <a:ahLst/>
              <a:cxnLst/>
              <a:rect l="l" t="t" r="r" b="b"/>
              <a:pathLst>
                <a:path w="52704" h="78104">
                  <a:moveTo>
                    <a:pt x="12294" y="0"/>
                  </a:moveTo>
                  <a:lnTo>
                    <a:pt x="0" y="9544"/>
                  </a:lnTo>
                  <a:lnTo>
                    <a:pt x="17534" y="63288"/>
                  </a:lnTo>
                  <a:lnTo>
                    <a:pt x="52291" y="77855"/>
                  </a:lnTo>
                  <a:lnTo>
                    <a:pt x="122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73406" y="5458840"/>
              <a:ext cx="114447" cy="6730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516515" y="5367172"/>
              <a:ext cx="813435" cy="392430"/>
            </a:xfrm>
            <a:custGeom>
              <a:avLst/>
              <a:gdLst/>
              <a:ahLst/>
              <a:cxnLst/>
              <a:rect l="l" t="t" r="r" b="b"/>
              <a:pathLst>
                <a:path w="813435" h="392429">
                  <a:moveTo>
                    <a:pt x="607860" y="372960"/>
                  </a:moveTo>
                  <a:lnTo>
                    <a:pt x="7988" y="165506"/>
                  </a:lnTo>
                  <a:lnTo>
                    <a:pt x="0" y="176301"/>
                  </a:lnTo>
                  <a:lnTo>
                    <a:pt x="602640" y="392049"/>
                  </a:lnTo>
                  <a:lnTo>
                    <a:pt x="607860" y="372960"/>
                  </a:lnTo>
                  <a:close/>
                </a:path>
                <a:path w="813435" h="392429">
                  <a:moveTo>
                    <a:pt x="813054" y="173050"/>
                  </a:moveTo>
                  <a:lnTo>
                    <a:pt x="226098" y="0"/>
                  </a:lnTo>
                  <a:lnTo>
                    <a:pt x="222415" y="10566"/>
                  </a:lnTo>
                  <a:lnTo>
                    <a:pt x="813054" y="189128"/>
                  </a:lnTo>
                  <a:lnTo>
                    <a:pt x="813054" y="173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55975" y="4094734"/>
              <a:ext cx="652145" cy="1304925"/>
            </a:xfrm>
            <a:custGeom>
              <a:avLst/>
              <a:gdLst/>
              <a:ahLst/>
              <a:cxnLst/>
              <a:rect l="l" t="t" r="r" b="b"/>
              <a:pathLst>
                <a:path w="652145" h="1304925">
                  <a:moveTo>
                    <a:pt x="548775" y="1162554"/>
                  </a:moveTo>
                  <a:lnTo>
                    <a:pt x="497204" y="1187450"/>
                  </a:lnTo>
                  <a:lnTo>
                    <a:pt x="649097" y="1304798"/>
                  </a:lnTo>
                  <a:lnTo>
                    <a:pt x="650791" y="1188339"/>
                  </a:lnTo>
                  <a:lnTo>
                    <a:pt x="561213" y="1188339"/>
                  </a:lnTo>
                  <a:lnTo>
                    <a:pt x="548775" y="1162554"/>
                  </a:lnTo>
                  <a:close/>
                </a:path>
                <a:path w="652145" h="1304925">
                  <a:moveTo>
                    <a:pt x="600236" y="1137710"/>
                  </a:moveTo>
                  <a:lnTo>
                    <a:pt x="548775" y="1162554"/>
                  </a:lnTo>
                  <a:lnTo>
                    <a:pt x="561213" y="1188339"/>
                  </a:lnTo>
                  <a:lnTo>
                    <a:pt x="612648" y="1163447"/>
                  </a:lnTo>
                  <a:lnTo>
                    <a:pt x="600236" y="1137710"/>
                  </a:lnTo>
                  <a:close/>
                </a:path>
                <a:path w="652145" h="1304925">
                  <a:moveTo>
                    <a:pt x="651890" y="1112774"/>
                  </a:moveTo>
                  <a:lnTo>
                    <a:pt x="600236" y="1137710"/>
                  </a:lnTo>
                  <a:lnTo>
                    <a:pt x="612648" y="1163447"/>
                  </a:lnTo>
                  <a:lnTo>
                    <a:pt x="561213" y="1188339"/>
                  </a:lnTo>
                  <a:lnTo>
                    <a:pt x="650791" y="1188339"/>
                  </a:lnTo>
                  <a:lnTo>
                    <a:pt x="651890" y="1112774"/>
                  </a:lnTo>
                  <a:close/>
                </a:path>
                <a:path w="652145" h="1304925">
                  <a:moveTo>
                    <a:pt x="51562" y="0"/>
                  </a:moveTo>
                  <a:lnTo>
                    <a:pt x="0" y="24892"/>
                  </a:lnTo>
                  <a:lnTo>
                    <a:pt x="548775" y="1162554"/>
                  </a:lnTo>
                  <a:lnTo>
                    <a:pt x="600236" y="1137710"/>
                  </a:lnTo>
                  <a:lnTo>
                    <a:pt x="51562" y="0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95188" y="4233672"/>
              <a:ext cx="0" cy="623570"/>
            </a:xfrm>
            <a:custGeom>
              <a:avLst/>
              <a:gdLst/>
              <a:ahLst/>
              <a:cxnLst/>
              <a:rect l="l" t="t" r="r" b="b"/>
              <a:pathLst>
                <a:path h="623570">
                  <a:moveTo>
                    <a:pt x="0" y="0"/>
                  </a:moveTo>
                  <a:lnTo>
                    <a:pt x="0" y="623315"/>
                  </a:lnTo>
                </a:path>
              </a:pathLst>
            </a:custGeom>
            <a:ln w="9360">
              <a:solidFill>
                <a:srgbClr val="0E0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69180" y="4213860"/>
              <a:ext cx="1856739" cy="1554480"/>
            </a:xfrm>
            <a:custGeom>
              <a:avLst/>
              <a:gdLst/>
              <a:ahLst/>
              <a:cxnLst/>
              <a:rect l="l" t="t" r="r" b="b"/>
              <a:pathLst>
                <a:path w="1856740" h="1554479">
                  <a:moveTo>
                    <a:pt x="76581" y="1378407"/>
                  </a:moveTo>
                  <a:lnTo>
                    <a:pt x="0" y="1554480"/>
                  </a:lnTo>
                  <a:lnTo>
                    <a:pt x="186817" y="1510055"/>
                  </a:lnTo>
                  <a:lnTo>
                    <a:pt x="165452" y="1484541"/>
                  </a:lnTo>
                  <a:lnTo>
                    <a:pt x="128143" y="1484541"/>
                  </a:lnTo>
                  <a:lnTo>
                    <a:pt x="91312" y="1440662"/>
                  </a:lnTo>
                  <a:lnTo>
                    <a:pt x="113295" y="1422253"/>
                  </a:lnTo>
                  <a:lnTo>
                    <a:pt x="76581" y="1378407"/>
                  </a:lnTo>
                  <a:close/>
                </a:path>
                <a:path w="1856740" h="1554479">
                  <a:moveTo>
                    <a:pt x="113295" y="1422253"/>
                  </a:moveTo>
                  <a:lnTo>
                    <a:pt x="91312" y="1440662"/>
                  </a:lnTo>
                  <a:lnTo>
                    <a:pt x="128143" y="1484541"/>
                  </a:lnTo>
                  <a:lnTo>
                    <a:pt x="150073" y="1466174"/>
                  </a:lnTo>
                  <a:lnTo>
                    <a:pt x="113295" y="1422253"/>
                  </a:lnTo>
                  <a:close/>
                </a:path>
                <a:path w="1856740" h="1554479">
                  <a:moveTo>
                    <a:pt x="150073" y="1466174"/>
                  </a:moveTo>
                  <a:lnTo>
                    <a:pt x="128143" y="1484541"/>
                  </a:lnTo>
                  <a:lnTo>
                    <a:pt x="165452" y="1484541"/>
                  </a:lnTo>
                  <a:lnTo>
                    <a:pt x="150073" y="1466174"/>
                  </a:lnTo>
                  <a:close/>
                </a:path>
                <a:path w="1856740" h="1554479">
                  <a:moveTo>
                    <a:pt x="1706176" y="88326"/>
                  </a:moveTo>
                  <a:lnTo>
                    <a:pt x="113295" y="1422253"/>
                  </a:lnTo>
                  <a:lnTo>
                    <a:pt x="150073" y="1466174"/>
                  </a:lnTo>
                  <a:lnTo>
                    <a:pt x="1742936" y="132201"/>
                  </a:lnTo>
                  <a:lnTo>
                    <a:pt x="1706176" y="88326"/>
                  </a:lnTo>
                  <a:close/>
                </a:path>
                <a:path w="1856740" h="1554479">
                  <a:moveTo>
                    <a:pt x="1825787" y="69976"/>
                  </a:moveTo>
                  <a:lnTo>
                    <a:pt x="1728089" y="69976"/>
                  </a:lnTo>
                  <a:lnTo>
                    <a:pt x="1764919" y="113791"/>
                  </a:lnTo>
                  <a:lnTo>
                    <a:pt x="1742936" y="132201"/>
                  </a:lnTo>
                  <a:lnTo>
                    <a:pt x="1779651" y="176021"/>
                  </a:lnTo>
                  <a:lnTo>
                    <a:pt x="1825787" y="69976"/>
                  </a:lnTo>
                  <a:close/>
                </a:path>
                <a:path w="1856740" h="1554479">
                  <a:moveTo>
                    <a:pt x="1728089" y="69976"/>
                  </a:moveTo>
                  <a:lnTo>
                    <a:pt x="1706176" y="88326"/>
                  </a:lnTo>
                  <a:lnTo>
                    <a:pt x="1742936" y="132201"/>
                  </a:lnTo>
                  <a:lnTo>
                    <a:pt x="1764919" y="113791"/>
                  </a:lnTo>
                  <a:lnTo>
                    <a:pt x="1728089" y="69976"/>
                  </a:lnTo>
                  <a:close/>
                </a:path>
                <a:path w="1856740" h="1554479">
                  <a:moveTo>
                    <a:pt x="1856231" y="0"/>
                  </a:moveTo>
                  <a:lnTo>
                    <a:pt x="1669415" y="44450"/>
                  </a:lnTo>
                  <a:lnTo>
                    <a:pt x="1706176" y="88326"/>
                  </a:lnTo>
                  <a:lnTo>
                    <a:pt x="1728089" y="69976"/>
                  </a:lnTo>
                  <a:lnTo>
                    <a:pt x="1825787" y="69976"/>
                  </a:lnTo>
                  <a:lnTo>
                    <a:pt x="1856231" y="0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74920" y="5369052"/>
              <a:ext cx="3046730" cy="632460"/>
            </a:xfrm>
            <a:custGeom>
              <a:avLst/>
              <a:gdLst/>
              <a:ahLst/>
              <a:cxnLst/>
              <a:rect l="l" t="t" r="r" b="b"/>
              <a:pathLst>
                <a:path w="3046729" h="632460">
                  <a:moveTo>
                    <a:pt x="3046476" y="0"/>
                  </a:moveTo>
                  <a:lnTo>
                    <a:pt x="0" y="0"/>
                  </a:lnTo>
                  <a:lnTo>
                    <a:pt x="0" y="632460"/>
                  </a:lnTo>
                  <a:lnTo>
                    <a:pt x="3046476" y="632460"/>
                  </a:lnTo>
                  <a:lnTo>
                    <a:pt x="3046476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929628" y="5369052"/>
            <a:ext cx="1191895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15557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225"/>
              </a:spcBef>
            </a:pPr>
            <a:r>
              <a:rPr sz="1800" dirty="0">
                <a:latin typeface="Arial"/>
                <a:cs typeface="Arial"/>
              </a:rPr>
              <a:t>“I’m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Alice”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74920" y="5369052"/>
            <a:ext cx="844550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100330" marR="85090" indent="5715">
              <a:lnSpc>
                <a:spcPct val="100000"/>
              </a:lnSpc>
              <a:spcBef>
                <a:spcPts val="560"/>
              </a:spcBef>
            </a:pPr>
            <a:r>
              <a:rPr sz="1600" spc="-10" dirty="0">
                <a:latin typeface="Arial"/>
                <a:cs typeface="Arial"/>
              </a:rPr>
              <a:t>Alice’s </a:t>
            </a:r>
            <a:r>
              <a:rPr sz="1600" dirty="0">
                <a:latin typeface="Arial"/>
                <a:cs typeface="Arial"/>
              </a:rPr>
              <a:t>IP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addr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19215" y="5369052"/>
            <a:ext cx="1010919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85090" marR="50165" indent="112395">
              <a:lnSpc>
                <a:spcPct val="100000"/>
              </a:lnSpc>
              <a:spcBef>
                <a:spcPts val="450"/>
              </a:spcBef>
            </a:pPr>
            <a:r>
              <a:rPr sz="1600" spc="-10" dirty="0">
                <a:latin typeface="Arial"/>
                <a:cs typeface="Arial"/>
              </a:rPr>
              <a:t>Alice’s password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21224" y="4741164"/>
            <a:ext cx="1530350" cy="585470"/>
          </a:xfrm>
          <a:custGeom>
            <a:avLst/>
            <a:gdLst/>
            <a:ahLst/>
            <a:cxnLst/>
            <a:rect l="l" t="t" r="r" b="b"/>
            <a:pathLst>
              <a:path w="1530350" h="585470">
                <a:moveTo>
                  <a:pt x="369697" y="142113"/>
                </a:moveTo>
                <a:lnTo>
                  <a:pt x="361823" y="132207"/>
                </a:lnTo>
                <a:lnTo>
                  <a:pt x="55549" y="377228"/>
                </a:lnTo>
                <a:lnTo>
                  <a:pt x="35687" y="352425"/>
                </a:lnTo>
                <a:lnTo>
                  <a:pt x="0" y="429768"/>
                </a:lnTo>
                <a:lnTo>
                  <a:pt x="83312" y="411861"/>
                </a:lnTo>
                <a:lnTo>
                  <a:pt x="69875" y="395097"/>
                </a:lnTo>
                <a:lnTo>
                  <a:pt x="63512" y="387159"/>
                </a:lnTo>
                <a:lnTo>
                  <a:pt x="369697" y="142113"/>
                </a:lnTo>
                <a:close/>
              </a:path>
              <a:path w="1530350" h="585470">
                <a:moveTo>
                  <a:pt x="1530096" y="0"/>
                </a:moveTo>
                <a:lnTo>
                  <a:pt x="1447419" y="20574"/>
                </a:lnTo>
                <a:lnTo>
                  <a:pt x="1468018" y="44678"/>
                </a:lnTo>
                <a:lnTo>
                  <a:pt x="846328" y="575818"/>
                </a:lnTo>
                <a:lnTo>
                  <a:pt x="854456" y="585470"/>
                </a:lnTo>
                <a:lnTo>
                  <a:pt x="1476273" y="54330"/>
                </a:lnTo>
                <a:lnTo>
                  <a:pt x="1496949" y="78486"/>
                </a:lnTo>
                <a:lnTo>
                  <a:pt x="1514690" y="36449"/>
                </a:lnTo>
                <a:lnTo>
                  <a:pt x="1530096" y="0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576573" y="1465579"/>
            <a:ext cx="74161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2152015" algn="l"/>
              </a:tabLst>
            </a:pP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Protocol</a:t>
            </a:r>
            <a:r>
              <a:rPr sz="2800" i="1" spc="-195" dirty="0">
                <a:solidFill>
                  <a:srgbClr val="C00000"/>
                </a:solidFill>
                <a:latin typeface="Gill Sans MT"/>
                <a:cs typeface="Gill Sans MT"/>
              </a:rPr>
              <a:t> </a:t>
            </a:r>
            <a:r>
              <a:rPr sz="2800" i="1" spc="-10" dirty="0">
                <a:solidFill>
                  <a:srgbClr val="C00000"/>
                </a:solidFill>
                <a:latin typeface="Gill Sans MT"/>
                <a:cs typeface="Gill Sans MT"/>
              </a:rPr>
              <a:t>ap3.1:</a:t>
            </a: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	</a:t>
            </a:r>
            <a:r>
              <a:rPr sz="2800" dirty="0">
                <a:latin typeface="Gill Sans MT"/>
                <a:cs typeface="Gill Sans MT"/>
              </a:rPr>
              <a:t>Alice</a:t>
            </a:r>
            <a:r>
              <a:rPr sz="2800" spc="-95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says</a:t>
            </a:r>
            <a:r>
              <a:rPr sz="2800" spc="-2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“I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am</a:t>
            </a:r>
            <a:r>
              <a:rPr sz="2800" spc="-2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Alice”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and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sends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her</a:t>
            </a:r>
            <a:endParaRPr sz="2800">
              <a:latin typeface="Gill Sans MT"/>
              <a:cs typeface="Gill Sans MT"/>
            </a:endParaRPr>
          </a:p>
          <a:p>
            <a:pPr marR="6985" algn="r">
              <a:lnSpc>
                <a:spcPct val="100000"/>
              </a:lnSpc>
            </a:pP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encrypted</a:t>
            </a:r>
            <a:r>
              <a:rPr sz="2800" i="1" spc="-155" dirty="0">
                <a:solidFill>
                  <a:srgbClr val="C00000"/>
                </a:solidFill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secret</a:t>
            </a:r>
            <a:r>
              <a:rPr sz="2800" spc="-12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password</a:t>
            </a:r>
            <a:r>
              <a:rPr sz="2800" spc="-10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to</a:t>
            </a:r>
            <a:r>
              <a:rPr sz="2800" spc="-28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“prove”</a:t>
            </a:r>
            <a:r>
              <a:rPr sz="2800" spc="-9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it.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60194" y="6435344"/>
            <a:ext cx="774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482089" y="685291"/>
            <a:ext cx="313626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Authentication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6573" y="1465579"/>
            <a:ext cx="7416800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2152015" algn="l"/>
              </a:tabLst>
            </a:pP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Protocol</a:t>
            </a:r>
            <a:r>
              <a:rPr sz="2800" i="1" spc="-195" dirty="0">
                <a:solidFill>
                  <a:srgbClr val="C00000"/>
                </a:solidFill>
                <a:latin typeface="Gill Sans MT"/>
                <a:cs typeface="Gill Sans MT"/>
              </a:rPr>
              <a:t> </a:t>
            </a:r>
            <a:r>
              <a:rPr sz="2800" i="1" spc="-10" dirty="0">
                <a:solidFill>
                  <a:srgbClr val="C00000"/>
                </a:solidFill>
                <a:latin typeface="Gill Sans MT"/>
                <a:cs typeface="Gill Sans MT"/>
              </a:rPr>
              <a:t>ap4.0:</a:t>
            </a:r>
            <a:r>
              <a:rPr sz="2800" i="1" dirty="0">
                <a:solidFill>
                  <a:srgbClr val="C00000"/>
                </a:solidFill>
                <a:latin typeface="Gill Sans MT"/>
                <a:cs typeface="Gill Sans MT"/>
              </a:rPr>
              <a:t>	</a:t>
            </a:r>
            <a:r>
              <a:rPr sz="2800" dirty="0">
                <a:latin typeface="Gill Sans MT"/>
                <a:cs typeface="Gill Sans MT"/>
              </a:rPr>
              <a:t>Alice</a:t>
            </a:r>
            <a:r>
              <a:rPr sz="2800" spc="-95" dirty="0">
                <a:latin typeface="Gill Sans MT"/>
                <a:cs typeface="Gill Sans MT"/>
              </a:rPr>
              <a:t> </a:t>
            </a:r>
            <a:r>
              <a:rPr sz="2800" spc="-45" dirty="0">
                <a:latin typeface="Gill Sans MT"/>
                <a:cs typeface="Gill Sans MT"/>
              </a:rPr>
              <a:t>says</a:t>
            </a:r>
            <a:r>
              <a:rPr sz="2800" spc="-2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“I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am</a:t>
            </a:r>
            <a:r>
              <a:rPr sz="2800" spc="-2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Alice”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and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sends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her</a:t>
            </a:r>
            <a:endParaRPr sz="2800">
              <a:latin typeface="Gill Sans MT"/>
              <a:cs typeface="Gill Sans MT"/>
            </a:endParaRPr>
          </a:p>
          <a:p>
            <a:pPr marR="6985" algn="r">
              <a:lnSpc>
                <a:spcPct val="100000"/>
              </a:lnSpc>
            </a:pPr>
            <a:r>
              <a:rPr sz="2800" dirty="0">
                <a:latin typeface="Gill Sans MT"/>
                <a:cs typeface="Gill Sans MT"/>
              </a:rPr>
              <a:t>secret</a:t>
            </a:r>
            <a:r>
              <a:rPr sz="2800" spc="-19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password</a:t>
            </a:r>
            <a:r>
              <a:rPr sz="2800" spc="-14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to</a:t>
            </a:r>
            <a:r>
              <a:rPr sz="2800" spc="-28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“prove”</a:t>
            </a:r>
            <a:r>
              <a:rPr sz="2800" spc="-12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it.</a:t>
            </a:r>
            <a:endParaRPr sz="2800">
              <a:latin typeface="Gill Sans MT"/>
              <a:cs typeface="Gill Sans MT"/>
            </a:endParaRPr>
          </a:p>
          <a:p>
            <a:pPr marR="8255" algn="r">
              <a:lnSpc>
                <a:spcPts val="3329"/>
              </a:lnSpc>
              <a:spcBef>
                <a:spcPts val="1260"/>
              </a:spcBef>
            </a:pPr>
            <a:r>
              <a:rPr sz="2800" dirty="0">
                <a:latin typeface="Gill Sans MT"/>
                <a:cs typeface="Gill Sans MT"/>
              </a:rPr>
              <a:t>Alice</a:t>
            </a:r>
            <a:r>
              <a:rPr sz="2800" spc="-8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also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adds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unique,</a:t>
            </a:r>
            <a:r>
              <a:rPr sz="2800" spc="-31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once</a:t>
            </a:r>
            <a:r>
              <a:rPr sz="2800" spc="-6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in</a:t>
            </a:r>
            <a:r>
              <a:rPr sz="2800" spc="-4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a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lifetime</a:t>
            </a:r>
            <a:r>
              <a:rPr sz="2800" spc="-6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number,</a:t>
            </a:r>
            <a:endParaRPr sz="2800">
              <a:latin typeface="Gill Sans MT"/>
              <a:cs typeface="Gill Sans MT"/>
            </a:endParaRPr>
          </a:p>
          <a:p>
            <a:pPr marR="5080" algn="r">
              <a:lnSpc>
                <a:spcPts val="3329"/>
              </a:lnSpc>
            </a:pPr>
            <a:r>
              <a:rPr sz="2800" dirty="0">
                <a:latin typeface="Gill Sans MT"/>
                <a:cs typeface="Gill Sans MT"/>
              </a:rPr>
              <a:t>a</a:t>
            </a:r>
            <a:r>
              <a:rPr sz="2800" spc="-20" dirty="0">
                <a:latin typeface="Gill Sans MT"/>
                <a:cs typeface="Gill Sans MT"/>
              </a:rPr>
              <a:t> </a:t>
            </a:r>
            <a:r>
              <a:rPr sz="2800" b="1" i="1" spc="-10" dirty="0">
                <a:latin typeface="Gill Sans MT"/>
                <a:cs typeface="Gill Sans MT"/>
              </a:rPr>
              <a:t>Nonce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70280" y="3576828"/>
            <a:ext cx="6050280" cy="1198245"/>
            <a:chOff x="2370280" y="3576828"/>
            <a:chExt cx="6050280" cy="1198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0280" y="3630168"/>
              <a:ext cx="665527" cy="8300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7807" y="3576828"/>
              <a:ext cx="812292" cy="7945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37331" y="3886581"/>
              <a:ext cx="4537075" cy="194310"/>
            </a:xfrm>
            <a:custGeom>
              <a:avLst/>
              <a:gdLst/>
              <a:ahLst/>
              <a:cxnLst/>
              <a:rect l="l" t="t" r="r" b="b"/>
              <a:pathLst>
                <a:path w="4537075" h="194310">
                  <a:moveTo>
                    <a:pt x="171195" y="22606"/>
                  </a:moveTo>
                  <a:lnTo>
                    <a:pt x="0" y="109347"/>
                  </a:lnTo>
                  <a:lnTo>
                    <a:pt x="172212" y="194310"/>
                  </a:lnTo>
                  <a:lnTo>
                    <a:pt x="171873" y="137160"/>
                  </a:lnTo>
                  <a:lnTo>
                    <a:pt x="143256" y="137160"/>
                  </a:lnTo>
                  <a:lnTo>
                    <a:pt x="143001" y="80010"/>
                  </a:lnTo>
                  <a:lnTo>
                    <a:pt x="171534" y="79856"/>
                  </a:lnTo>
                  <a:lnTo>
                    <a:pt x="171195" y="22606"/>
                  </a:lnTo>
                  <a:close/>
                </a:path>
                <a:path w="4537075" h="194310">
                  <a:moveTo>
                    <a:pt x="4480573" y="57150"/>
                  </a:moveTo>
                  <a:lnTo>
                    <a:pt x="4393692" y="57150"/>
                  </a:lnTo>
                  <a:lnTo>
                    <a:pt x="4393946" y="114300"/>
                  </a:lnTo>
                  <a:lnTo>
                    <a:pt x="4365413" y="114453"/>
                  </a:lnTo>
                  <a:lnTo>
                    <a:pt x="4365752" y="171704"/>
                  </a:lnTo>
                  <a:lnTo>
                    <a:pt x="4536948" y="84963"/>
                  </a:lnTo>
                  <a:lnTo>
                    <a:pt x="4480573" y="57150"/>
                  </a:lnTo>
                  <a:close/>
                </a:path>
                <a:path w="4537075" h="194310">
                  <a:moveTo>
                    <a:pt x="171534" y="79856"/>
                  </a:moveTo>
                  <a:lnTo>
                    <a:pt x="143001" y="80010"/>
                  </a:lnTo>
                  <a:lnTo>
                    <a:pt x="143256" y="137160"/>
                  </a:lnTo>
                  <a:lnTo>
                    <a:pt x="171872" y="137006"/>
                  </a:lnTo>
                  <a:lnTo>
                    <a:pt x="171534" y="79856"/>
                  </a:lnTo>
                  <a:close/>
                </a:path>
                <a:path w="4537075" h="194310">
                  <a:moveTo>
                    <a:pt x="171872" y="137006"/>
                  </a:moveTo>
                  <a:lnTo>
                    <a:pt x="143256" y="137160"/>
                  </a:lnTo>
                  <a:lnTo>
                    <a:pt x="171873" y="137160"/>
                  </a:lnTo>
                  <a:lnTo>
                    <a:pt x="171872" y="137006"/>
                  </a:lnTo>
                  <a:close/>
                </a:path>
                <a:path w="4537075" h="194310">
                  <a:moveTo>
                    <a:pt x="4365075" y="57303"/>
                  </a:moveTo>
                  <a:lnTo>
                    <a:pt x="171534" y="79856"/>
                  </a:lnTo>
                  <a:lnTo>
                    <a:pt x="171872" y="137006"/>
                  </a:lnTo>
                  <a:lnTo>
                    <a:pt x="4365413" y="114453"/>
                  </a:lnTo>
                  <a:lnTo>
                    <a:pt x="4365075" y="57303"/>
                  </a:lnTo>
                  <a:close/>
                </a:path>
                <a:path w="4537075" h="194310">
                  <a:moveTo>
                    <a:pt x="4393692" y="57150"/>
                  </a:moveTo>
                  <a:lnTo>
                    <a:pt x="4365075" y="57303"/>
                  </a:lnTo>
                  <a:lnTo>
                    <a:pt x="4365413" y="114453"/>
                  </a:lnTo>
                  <a:lnTo>
                    <a:pt x="4393946" y="114300"/>
                  </a:lnTo>
                  <a:lnTo>
                    <a:pt x="4393692" y="57150"/>
                  </a:lnTo>
                  <a:close/>
                </a:path>
                <a:path w="4537075" h="194310">
                  <a:moveTo>
                    <a:pt x="4364736" y="0"/>
                  </a:moveTo>
                  <a:lnTo>
                    <a:pt x="4365075" y="57303"/>
                  </a:lnTo>
                  <a:lnTo>
                    <a:pt x="4480573" y="57150"/>
                  </a:lnTo>
                  <a:lnTo>
                    <a:pt x="4364736" y="0"/>
                  </a:lnTo>
                  <a:close/>
                </a:path>
              </a:pathLst>
            </a:custGeom>
            <a:solidFill>
              <a:srgbClr val="0E00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29655" y="4142232"/>
              <a:ext cx="1489075" cy="632460"/>
            </a:xfrm>
            <a:custGeom>
              <a:avLst/>
              <a:gdLst/>
              <a:ahLst/>
              <a:cxnLst/>
              <a:rect l="l" t="t" r="r" b="b"/>
              <a:pathLst>
                <a:path w="1489075" h="632460">
                  <a:moveTo>
                    <a:pt x="1488948" y="0"/>
                  </a:moveTo>
                  <a:lnTo>
                    <a:pt x="0" y="0"/>
                  </a:lnTo>
                  <a:lnTo>
                    <a:pt x="0" y="632459"/>
                  </a:lnTo>
                  <a:lnTo>
                    <a:pt x="1488948" y="632459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5691" y="5100828"/>
            <a:ext cx="1082039" cy="12938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73952" y="4142232"/>
            <a:ext cx="645160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185"/>
              </a:spcBef>
            </a:pPr>
            <a:r>
              <a:rPr sz="1800" spc="-25" dirty="0">
                <a:latin typeface="Arial"/>
                <a:cs typeface="Arial"/>
              </a:rPr>
              <a:t>OK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29655" y="4142232"/>
            <a:ext cx="844550" cy="632460"/>
          </a:xfrm>
          <a:prstGeom prst="rect">
            <a:avLst/>
          </a:prstGeom>
          <a:solidFill>
            <a:srgbClr val="CCFFFF"/>
          </a:solidFill>
          <a:ln w="9360">
            <a:solidFill>
              <a:srgbClr val="0E00AE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99695" marR="85725" indent="5715">
              <a:lnSpc>
                <a:spcPct val="100000"/>
              </a:lnSpc>
              <a:spcBef>
                <a:spcPts val="555"/>
              </a:spcBef>
            </a:pPr>
            <a:r>
              <a:rPr sz="1600" spc="-10" dirty="0">
                <a:latin typeface="Arial"/>
                <a:cs typeface="Arial"/>
              </a:rPr>
              <a:t>Alice’s </a:t>
            </a:r>
            <a:r>
              <a:rPr sz="1600" dirty="0">
                <a:latin typeface="Arial"/>
                <a:cs typeface="Arial"/>
              </a:rPr>
              <a:t>IP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addr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17055" y="3207911"/>
          <a:ext cx="3979545" cy="63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730">
                <a:tc>
                  <a:txBody>
                    <a:bodyPr/>
                    <a:lstStyle/>
                    <a:p>
                      <a:pPr marL="95885" marR="93980" indent="571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Alice’s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IP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addr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NONCE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827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49530" indent="1123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Alice’s password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“I’m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Alice”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106924" y="3469894"/>
            <a:ext cx="2649220" cy="1027430"/>
          </a:xfrm>
          <a:custGeom>
            <a:avLst/>
            <a:gdLst/>
            <a:ahLst/>
            <a:cxnLst/>
            <a:rect l="l" t="t" r="r" b="b"/>
            <a:pathLst>
              <a:path w="2649220" h="1027429">
                <a:moveTo>
                  <a:pt x="452628" y="981456"/>
                </a:moveTo>
                <a:lnTo>
                  <a:pt x="76174" y="982687"/>
                </a:lnTo>
                <a:lnTo>
                  <a:pt x="76073" y="950976"/>
                </a:lnTo>
                <a:lnTo>
                  <a:pt x="0" y="989330"/>
                </a:lnTo>
                <a:lnTo>
                  <a:pt x="76327" y="1027176"/>
                </a:lnTo>
                <a:lnTo>
                  <a:pt x="76212" y="995426"/>
                </a:lnTo>
                <a:lnTo>
                  <a:pt x="452628" y="994156"/>
                </a:lnTo>
                <a:lnTo>
                  <a:pt x="452628" y="981456"/>
                </a:lnTo>
                <a:close/>
              </a:path>
              <a:path w="2649220" h="1027429">
                <a:moveTo>
                  <a:pt x="2648712" y="38354"/>
                </a:moveTo>
                <a:lnTo>
                  <a:pt x="2572639" y="0"/>
                </a:lnTo>
                <a:lnTo>
                  <a:pt x="2572524" y="31851"/>
                </a:lnTo>
                <a:lnTo>
                  <a:pt x="2086356" y="30480"/>
                </a:lnTo>
                <a:lnTo>
                  <a:pt x="2086356" y="43180"/>
                </a:lnTo>
                <a:lnTo>
                  <a:pt x="2572486" y="44551"/>
                </a:lnTo>
                <a:lnTo>
                  <a:pt x="2572385" y="76212"/>
                </a:lnTo>
                <a:lnTo>
                  <a:pt x="2636151" y="44577"/>
                </a:lnTo>
                <a:lnTo>
                  <a:pt x="2648712" y="38354"/>
                </a:lnTo>
                <a:close/>
              </a:path>
            </a:pathLst>
          </a:custGeom>
          <a:solidFill>
            <a:srgbClr val="0E00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60194" y="6435344"/>
            <a:ext cx="774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57274" y="677418"/>
            <a:ext cx="313626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Authentication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189" y="6335861"/>
            <a:ext cx="1758711" cy="192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27475"/>
            <a:ext cx="1482851" cy="34305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885" y="215267"/>
            <a:ext cx="4193789" cy="4351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1041" y="2108047"/>
            <a:ext cx="2995930" cy="27444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Wat</a:t>
            </a:r>
            <a:r>
              <a:rPr sz="20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is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network</a:t>
            </a:r>
            <a:r>
              <a:rPr sz="20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security?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Cryptografie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Digital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signatures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Message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digests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solidFill>
                  <a:srgbClr val="0E00AE"/>
                </a:solidFill>
                <a:latin typeface="Arial"/>
                <a:cs typeface="Arial"/>
              </a:rPr>
              <a:t>SSL/TLS</a:t>
            </a:r>
            <a:endParaRPr sz="20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dirty="0">
                <a:solidFill>
                  <a:srgbClr val="0E00AE"/>
                </a:solidFill>
                <a:latin typeface="Arial"/>
                <a:cs typeface="Arial"/>
              </a:rPr>
              <a:t>Downgrade</a:t>
            </a:r>
            <a:r>
              <a:rPr sz="18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E00AE"/>
                </a:solidFill>
                <a:latin typeface="Arial"/>
                <a:cs typeface="Arial"/>
              </a:rPr>
              <a:t>attacks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TLS</a:t>
            </a:r>
            <a:r>
              <a:rPr spc="-45" dirty="0"/>
              <a:t> </a:t>
            </a:r>
            <a:r>
              <a:rPr dirty="0"/>
              <a:t>(en</a:t>
            </a:r>
            <a:r>
              <a:rPr spc="-45" dirty="0"/>
              <a:t> </a:t>
            </a:r>
            <a:r>
              <a:rPr dirty="0"/>
              <a:t>SSL):</a:t>
            </a:r>
            <a:r>
              <a:rPr spc="-55" dirty="0"/>
              <a:t> </a:t>
            </a:r>
            <a:r>
              <a:rPr spc="-10" dirty="0"/>
              <a:t>Transport</a:t>
            </a:r>
            <a:r>
              <a:rPr spc="-45" dirty="0"/>
              <a:t> </a:t>
            </a:r>
            <a:r>
              <a:rPr dirty="0"/>
              <a:t>Layer</a:t>
            </a:r>
            <a:r>
              <a:rPr spc="-2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1098" y="2139442"/>
            <a:ext cx="6418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241300" algn="l"/>
                <a:tab pos="4641850" algn="l"/>
                <a:tab pos="4870450" algn="l"/>
              </a:tabLst>
            </a:pP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Wijdverspreid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security</a:t>
            </a:r>
            <a:r>
              <a:rPr sz="16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protocol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•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	Originele</a:t>
            </a:r>
            <a:r>
              <a:rPr sz="1600" spc="-8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doelen: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8298" y="2422905"/>
            <a:ext cx="3691890" cy="120586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0665" marR="5080" indent="-227965">
              <a:lnSpc>
                <a:spcPts val="1620"/>
              </a:lnSpc>
              <a:spcBef>
                <a:spcPts val="30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Ondersteund</a:t>
            </a:r>
            <a:r>
              <a:rPr sz="15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door bijna</a:t>
            </a:r>
            <a:r>
              <a:rPr sz="15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alle</a:t>
            </a:r>
            <a:r>
              <a:rPr sz="15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browsers </a:t>
            </a: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en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webservers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HTTPS</a:t>
            </a:r>
            <a:r>
              <a:rPr sz="15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(poort</a:t>
            </a:r>
            <a:r>
              <a:rPr sz="15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443)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ts val="1710"/>
              </a:lnSpc>
              <a:spcBef>
                <a:spcPts val="320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Miljarden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euro’s</a:t>
            </a: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per</a:t>
            </a:r>
            <a:r>
              <a:rPr sz="15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jaar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verstuurd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via</a:t>
            </a:r>
            <a:endParaRPr sz="1500">
              <a:latin typeface="Arial"/>
              <a:cs typeface="Arial"/>
            </a:endParaRPr>
          </a:p>
          <a:p>
            <a:pPr marL="241300">
              <a:lnSpc>
                <a:spcPts val="1710"/>
              </a:lnSpc>
            </a:pP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TLS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1098" y="3602253"/>
            <a:ext cx="2506345" cy="71755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5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Nieuwste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versie:</a:t>
            </a:r>
            <a:r>
              <a:rPr sz="1600" spc="-8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TLS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1.3</a:t>
            </a:r>
            <a:endParaRPr sz="16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Biedt: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8298" y="4294505"/>
            <a:ext cx="1466850" cy="8337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2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Confidentiality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Integrity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10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Authentication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67830" y="2381758"/>
            <a:ext cx="3542665" cy="11036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20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Web</a:t>
            </a:r>
            <a:r>
              <a:rPr sz="15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e-commerce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transacties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Encryptie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(vooral credit</a:t>
            </a:r>
            <a:r>
              <a:rPr sz="15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card</a:t>
            </a:r>
            <a:r>
              <a:rPr sz="15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nummers)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Web-server</a:t>
            </a:r>
            <a:r>
              <a:rPr sz="1500" spc="-10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authenticatie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1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Optioneel:</a:t>
            </a:r>
            <a:r>
              <a:rPr sz="15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client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authenticatie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0376" y="3831463"/>
            <a:ext cx="399478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5080" indent="-229235">
              <a:lnSpc>
                <a:spcPts val="1730"/>
              </a:lnSpc>
              <a:spcBef>
                <a:spcPts val="310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Beschikbaar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voor</a:t>
            </a:r>
            <a:r>
              <a:rPr sz="16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alle</a:t>
            </a:r>
            <a:r>
              <a:rPr sz="1600" spc="-6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applicaties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die</a:t>
            </a:r>
            <a:r>
              <a:rPr sz="1600" spc="-8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TCP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gebruiken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658" y="798017"/>
            <a:ext cx="404749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TLS/SSL</a:t>
            </a:r>
            <a:r>
              <a:rPr spc="-75" dirty="0"/>
              <a:t> </a:t>
            </a:r>
            <a:r>
              <a:rPr dirty="0"/>
              <a:t>en</a:t>
            </a:r>
            <a:r>
              <a:rPr spc="-25" dirty="0"/>
              <a:t> </a:t>
            </a:r>
            <a:r>
              <a:rPr spc="-10" dirty="0"/>
              <a:t>TCP/IP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9178" y="3770919"/>
            <a:ext cx="7287895" cy="135826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  <a:tabLst>
                <a:tab pos="3102610" algn="l"/>
                <a:tab pos="4457700" algn="l"/>
              </a:tabLst>
            </a:pPr>
            <a:r>
              <a:rPr sz="2000" i="1" dirty="0">
                <a:solidFill>
                  <a:srgbClr val="C00000"/>
                </a:solidFill>
                <a:latin typeface="Arial"/>
                <a:cs typeface="Arial"/>
              </a:rPr>
              <a:t>normal</a:t>
            </a:r>
            <a:r>
              <a:rPr sz="2000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C00000"/>
                </a:solidFill>
                <a:latin typeface="Arial"/>
                <a:cs typeface="Arial"/>
              </a:rPr>
              <a:t>application</a:t>
            </a:r>
            <a:r>
              <a:rPr sz="2000" i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000" i="1" spc="-10" dirty="0">
                <a:solidFill>
                  <a:srgbClr val="C00000"/>
                </a:solidFill>
                <a:latin typeface="Arial"/>
                <a:cs typeface="Arial"/>
              </a:rPr>
              <a:t>application</a:t>
            </a:r>
            <a:r>
              <a:rPr sz="2000" i="1" dirty="0">
                <a:solidFill>
                  <a:srgbClr val="C00000"/>
                </a:solidFill>
                <a:latin typeface="Arial"/>
                <a:cs typeface="Arial"/>
              </a:rPr>
              <a:t>	with</a:t>
            </a:r>
            <a:r>
              <a:rPr sz="2000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C00000"/>
                </a:solidFill>
                <a:latin typeface="Arial"/>
                <a:cs typeface="Arial"/>
              </a:rPr>
              <a:t>TLS/SSL</a:t>
            </a:r>
            <a:endParaRPr sz="2000">
              <a:latin typeface="Arial"/>
              <a:cs typeface="Arial"/>
            </a:endParaRPr>
          </a:p>
          <a:p>
            <a:pPr marL="271145" indent="-227965">
              <a:lnSpc>
                <a:spcPct val="100000"/>
              </a:lnSpc>
              <a:spcBef>
                <a:spcPts val="1265"/>
              </a:spcBef>
              <a:buChar char="•"/>
              <a:tabLst>
                <a:tab pos="271145" algn="l"/>
                <a:tab pos="27178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TLS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biedt</a:t>
            </a:r>
            <a:r>
              <a:rPr sz="20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een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application</a:t>
            </a:r>
            <a:r>
              <a:rPr sz="20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programming</a:t>
            </a:r>
            <a:r>
              <a:rPr sz="20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interface</a:t>
            </a:r>
            <a:r>
              <a:rPr sz="2000" spc="-3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aan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software</a:t>
            </a:r>
            <a:endParaRPr sz="2000">
              <a:latin typeface="Arial"/>
              <a:cs typeface="Arial"/>
            </a:endParaRPr>
          </a:p>
          <a:p>
            <a:pPr marL="27114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71145" algn="l"/>
                <a:tab pos="271780" algn="l"/>
              </a:tabLst>
            </a:pP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C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en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Java-libraries/classes</a:t>
            </a:r>
            <a:r>
              <a:rPr sz="2000" spc="-4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E00AE"/>
                </a:solidFill>
                <a:latin typeface="Arial"/>
                <a:cs typeface="Arial"/>
              </a:rPr>
              <a:t>zijn</a:t>
            </a:r>
            <a:r>
              <a:rPr sz="20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E00AE"/>
                </a:solidFill>
                <a:latin typeface="Arial"/>
                <a:cs typeface="Arial"/>
              </a:rPr>
              <a:t>beschikbaar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26583" y="1598568"/>
          <a:ext cx="1987550" cy="2137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255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TCP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8351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79384" y="1598568"/>
          <a:ext cx="1993900" cy="2137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240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marL="47434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TLS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SSL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5016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TCP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9525">
                      <a:solidFill>
                        <a:srgbClr val="0E00AE"/>
                      </a:solidFill>
                      <a:prstDash val="solid"/>
                    </a:lnL>
                    <a:lnR w="9525">
                      <a:solidFill>
                        <a:srgbClr val="0E00AE"/>
                      </a:solidFill>
                      <a:prstDash val="solid"/>
                    </a:lnR>
                    <a:lnT w="9525">
                      <a:solidFill>
                        <a:srgbClr val="0E00AE"/>
                      </a:solidFill>
                      <a:prstDash val="solid"/>
                    </a:lnT>
                    <a:lnB w="9525">
                      <a:solidFill>
                        <a:srgbClr val="0E00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TLS</a:t>
            </a:r>
            <a:r>
              <a:rPr spc="-15" dirty="0"/>
              <a:t> </a:t>
            </a:r>
            <a:r>
              <a:rPr spc="-10" dirty="0"/>
              <a:t>fases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281" rIns="0" bIns="0" rtlCol="0">
            <a:spAutoFit/>
          </a:bodyPr>
          <a:lstStyle/>
          <a:p>
            <a:pPr marL="12700" marR="935355">
              <a:lnSpc>
                <a:spcPts val="2160"/>
              </a:lnSpc>
              <a:spcBef>
                <a:spcPts val="375"/>
              </a:spcBef>
            </a:pPr>
            <a:r>
              <a:rPr spc="-10" dirty="0">
                <a:solidFill>
                  <a:srgbClr val="FF0000"/>
                </a:solidFill>
              </a:rPr>
              <a:t>Handshake</a:t>
            </a:r>
            <a:r>
              <a:rPr spc="-10" dirty="0"/>
              <a:t>:</a:t>
            </a:r>
            <a:r>
              <a:rPr spc="-175" dirty="0"/>
              <a:t> </a:t>
            </a:r>
            <a:r>
              <a:rPr dirty="0"/>
              <a:t>Alice</a:t>
            </a:r>
            <a:r>
              <a:rPr spc="5" dirty="0"/>
              <a:t> </a:t>
            </a:r>
            <a:r>
              <a:rPr dirty="0"/>
              <a:t>en</a:t>
            </a:r>
            <a:r>
              <a:rPr spc="-15" dirty="0"/>
              <a:t> </a:t>
            </a:r>
            <a:r>
              <a:rPr dirty="0"/>
              <a:t>Bob gebruiken</a:t>
            </a:r>
            <a:r>
              <a:rPr spc="-35" dirty="0"/>
              <a:t> </a:t>
            </a:r>
            <a:r>
              <a:rPr dirty="0"/>
              <a:t>hun</a:t>
            </a:r>
            <a:r>
              <a:rPr spc="-15" dirty="0"/>
              <a:t> </a:t>
            </a:r>
            <a:r>
              <a:rPr dirty="0"/>
              <a:t>certificaten,</a:t>
            </a:r>
            <a:r>
              <a:rPr spc="-60" dirty="0"/>
              <a:t> </a:t>
            </a:r>
            <a:r>
              <a:rPr dirty="0"/>
              <a:t>private</a:t>
            </a:r>
            <a:r>
              <a:rPr spc="-20" dirty="0"/>
              <a:t> </a:t>
            </a:r>
            <a:r>
              <a:rPr dirty="0"/>
              <a:t>keys</a:t>
            </a:r>
            <a:r>
              <a:rPr spc="-20" dirty="0"/>
              <a:t> </a:t>
            </a:r>
            <a:r>
              <a:rPr dirty="0"/>
              <a:t>om</a:t>
            </a:r>
            <a:r>
              <a:rPr spc="-10" dirty="0"/>
              <a:t> </a:t>
            </a:r>
            <a:r>
              <a:rPr dirty="0"/>
              <a:t>elkaar</a:t>
            </a:r>
            <a:r>
              <a:rPr spc="-20" dirty="0"/>
              <a:t> </a:t>
            </a:r>
            <a:r>
              <a:rPr spc="-25" dirty="0"/>
              <a:t>te </a:t>
            </a:r>
            <a:r>
              <a:rPr dirty="0"/>
              <a:t>authenticeren</a:t>
            </a:r>
            <a:r>
              <a:rPr spc="-65" dirty="0"/>
              <a:t> </a:t>
            </a:r>
            <a:r>
              <a:rPr dirty="0"/>
              <a:t>en</a:t>
            </a:r>
            <a:r>
              <a:rPr spc="-25" dirty="0"/>
              <a:t> </a:t>
            </a:r>
            <a:r>
              <a:rPr dirty="0"/>
              <a:t>een</a:t>
            </a:r>
            <a:r>
              <a:rPr spc="-25" dirty="0"/>
              <a:t> </a:t>
            </a:r>
            <a:r>
              <a:rPr dirty="0"/>
              <a:t>shared</a:t>
            </a:r>
            <a:r>
              <a:rPr spc="-40" dirty="0"/>
              <a:t> </a:t>
            </a:r>
            <a:r>
              <a:rPr dirty="0"/>
              <a:t>secret</a:t>
            </a:r>
            <a:r>
              <a:rPr spc="-45" dirty="0"/>
              <a:t> </a:t>
            </a:r>
            <a:r>
              <a:rPr dirty="0"/>
              <a:t>uit</a:t>
            </a:r>
            <a:r>
              <a:rPr spc="-30" dirty="0"/>
              <a:t> </a:t>
            </a:r>
            <a:r>
              <a:rPr dirty="0"/>
              <a:t>te</a:t>
            </a:r>
            <a:r>
              <a:rPr spc="-10" dirty="0"/>
              <a:t> wisselen.</a:t>
            </a:r>
          </a:p>
          <a:p>
            <a:pPr marL="12700" marR="73660">
              <a:lnSpc>
                <a:spcPts val="2160"/>
              </a:lnSpc>
              <a:spcBef>
                <a:spcPts val="994"/>
              </a:spcBef>
            </a:pPr>
            <a:r>
              <a:rPr dirty="0">
                <a:solidFill>
                  <a:srgbClr val="FF0000"/>
                </a:solidFill>
              </a:rPr>
              <a:t>Key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derivation</a:t>
            </a:r>
            <a:r>
              <a:rPr spc="-10" dirty="0"/>
              <a:t>:</a:t>
            </a:r>
            <a:r>
              <a:rPr spc="-130" dirty="0"/>
              <a:t> </a:t>
            </a:r>
            <a:r>
              <a:rPr dirty="0"/>
              <a:t>Alice</a:t>
            </a:r>
            <a:r>
              <a:rPr spc="10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Bob</a:t>
            </a:r>
            <a:r>
              <a:rPr spc="-5" dirty="0"/>
              <a:t> </a:t>
            </a:r>
            <a:r>
              <a:rPr dirty="0"/>
              <a:t>genereren</a:t>
            </a:r>
            <a:r>
              <a:rPr spc="-40" dirty="0"/>
              <a:t> </a:t>
            </a:r>
            <a:r>
              <a:rPr dirty="0"/>
              <a:t>aan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hand</a:t>
            </a:r>
            <a:r>
              <a:rPr spc="-10" dirty="0"/>
              <a:t> </a:t>
            </a:r>
            <a:r>
              <a:rPr dirty="0"/>
              <a:t>van</a:t>
            </a:r>
            <a:r>
              <a:rPr spc="-5" dirty="0"/>
              <a:t> </a:t>
            </a:r>
            <a:r>
              <a:rPr dirty="0"/>
              <a:t>dat</a:t>
            </a:r>
            <a:r>
              <a:rPr spc="-25" dirty="0"/>
              <a:t> </a:t>
            </a:r>
            <a:r>
              <a:rPr dirty="0"/>
              <a:t>shared</a:t>
            </a:r>
            <a:r>
              <a:rPr spc="-35" dirty="0"/>
              <a:t> </a:t>
            </a:r>
            <a:r>
              <a:rPr dirty="0"/>
              <a:t>secret</a:t>
            </a:r>
            <a:r>
              <a:rPr spc="-35" dirty="0"/>
              <a:t> </a:t>
            </a:r>
            <a:r>
              <a:rPr dirty="0"/>
              <a:t>een</a:t>
            </a:r>
            <a:r>
              <a:rPr spc="-10" dirty="0"/>
              <a:t> aantal sleutels</a:t>
            </a:r>
          </a:p>
          <a:p>
            <a:pPr marL="12700" marR="5080">
              <a:lnSpc>
                <a:spcPts val="3160"/>
              </a:lnSpc>
              <a:spcBef>
                <a:spcPts val="75"/>
              </a:spcBef>
            </a:pPr>
            <a:r>
              <a:rPr dirty="0">
                <a:solidFill>
                  <a:srgbClr val="FF0000"/>
                </a:solidFill>
              </a:rPr>
              <a:t>Data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transfer</a:t>
            </a:r>
            <a:r>
              <a:rPr dirty="0"/>
              <a:t>:</a:t>
            </a:r>
            <a:r>
              <a:rPr spc="-5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die</a:t>
            </a:r>
            <a:r>
              <a:rPr spc="-10" dirty="0"/>
              <a:t> </a:t>
            </a:r>
            <a:r>
              <a:rPr dirty="0"/>
              <a:t>verzonden</a:t>
            </a:r>
            <a:r>
              <a:rPr spc="-40" dirty="0"/>
              <a:t> </a:t>
            </a:r>
            <a:r>
              <a:rPr dirty="0"/>
              <a:t>moet</a:t>
            </a:r>
            <a:r>
              <a:rPr spc="-40" dirty="0"/>
              <a:t> </a:t>
            </a:r>
            <a:r>
              <a:rPr dirty="0"/>
              <a:t>worden</a:t>
            </a:r>
            <a:r>
              <a:rPr spc="-30" dirty="0"/>
              <a:t> </a:t>
            </a:r>
            <a:r>
              <a:rPr dirty="0"/>
              <a:t>wordt</a:t>
            </a:r>
            <a:r>
              <a:rPr spc="-35" dirty="0"/>
              <a:t> </a:t>
            </a:r>
            <a:r>
              <a:rPr dirty="0"/>
              <a:t>opgebroken</a:t>
            </a:r>
            <a:r>
              <a:rPr spc="-5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een</a:t>
            </a:r>
            <a:r>
              <a:rPr spc="-20" dirty="0"/>
              <a:t> </a:t>
            </a:r>
            <a:r>
              <a:rPr dirty="0"/>
              <a:t>serie</a:t>
            </a:r>
            <a:r>
              <a:rPr spc="-30" dirty="0"/>
              <a:t> </a:t>
            </a:r>
            <a:r>
              <a:rPr spc="-10" dirty="0"/>
              <a:t>records </a:t>
            </a:r>
            <a:r>
              <a:rPr dirty="0">
                <a:solidFill>
                  <a:srgbClr val="FF0000"/>
                </a:solidFill>
              </a:rPr>
              <a:t>Connection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closure</a:t>
            </a:r>
            <a:r>
              <a:rPr dirty="0"/>
              <a:t>:</a:t>
            </a:r>
            <a:r>
              <a:rPr spc="-50" dirty="0"/>
              <a:t> </a:t>
            </a:r>
            <a:r>
              <a:rPr dirty="0"/>
              <a:t>Speciale</a:t>
            </a:r>
            <a:r>
              <a:rPr spc="-20" dirty="0"/>
              <a:t> </a:t>
            </a:r>
            <a:r>
              <a:rPr dirty="0"/>
              <a:t>berichten</a:t>
            </a:r>
            <a:r>
              <a:rPr spc="-45" dirty="0"/>
              <a:t> </a:t>
            </a:r>
            <a:r>
              <a:rPr dirty="0"/>
              <a:t>worden</a:t>
            </a:r>
            <a:r>
              <a:rPr spc="-25" dirty="0"/>
              <a:t> </a:t>
            </a:r>
            <a:r>
              <a:rPr dirty="0"/>
              <a:t>verzonden</a:t>
            </a:r>
            <a:r>
              <a:rPr spc="-45" dirty="0"/>
              <a:t> </a:t>
            </a:r>
            <a:r>
              <a:rPr dirty="0"/>
              <a:t>om</a:t>
            </a:r>
            <a:r>
              <a:rPr spc="-2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verbinding</a:t>
            </a:r>
            <a:r>
              <a:rPr spc="-20" dirty="0"/>
              <a:t> </a:t>
            </a:r>
            <a:r>
              <a:rPr dirty="0"/>
              <a:t>te</a:t>
            </a:r>
            <a:r>
              <a:rPr spc="-20" dirty="0"/>
              <a:t> </a:t>
            </a:r>
            <a:r>
              <a:rPr spc="-10" dirty="0"/>
              <a:t>sluiten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330">
              <a:lnSpc>
                <a:spcPct val="100000"/>
              </a:lnSpc>
              <a:spcBef>
                <a:spcPts val="105"/>
              </a:spcBef>
            </a:pPr>
            <a:r>
              <a:rPr dirty="0"/>
              <a:t>SSL</a:t>
            </a:r>
            <a:r>
              <a:rPr spc="-95" dirty="0"/>
              <a:t> </a:t>
            </a:r>
            <a:r>
              <a:rPr dirty="0"/>
              <a:t>cipher</a:t>
            </a:r>
            <a:r>
              <a:rPr spc="-20" dirty="0"/>
              <a:t> </a:t>
            </a:r>
            <a:r>
              <a:rPr spc="-10" dirty="0"/>
              <a:t>suite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1098" y="2096633"/>
            <a:ext cx="4192904" cy="25711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cipher</a:t>
            </a:r>
            <a:r>
              <a:rPr sz="1600" spc="-6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suite</a:t>
            </a:r>
            <a:endParaRPr sz="16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public-key</a:t>
            </a:r>
            <a:r>
              <a:rPr sz="15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algorithm</a:t>
            </a:r>
            <a:endParaRPr sz="15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symmetric</a:t>
            </a:r>
            <a:r>
              <a:rPr sz="15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encryption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algorithm</a:t>
            </a:r>
            <a:endParaRPr sz="15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325"/>
              </a:spcBef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MAC</a:t>
            </a:r>
            <a:r>
              <a:rPr sz="1500" spc="39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algorithm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TLS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ondersteunt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verschillende</a:t>
            </a:r>
            <a:r>
              <a:rPr sz="16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cipher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suites</a:t>
            </a:r>
            <a:endParaRPr sz="1600">
              <a:latin typeface="Arial"/>
              <a:cs typeface="Arial"/>
            </a:endParaRPr>
          </a:p>
          <a:p>
            <a:pPr marL="240665" marR="591185" indent="-227965">
              <a:lnSpc>
                <a:spcPts val="1730"/>
              </a:lnSpc>
              <a:spcBef>
                <a:spcPts val="1019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Negotiation:</a:t>
            </a:r>
            <a:r>
              <a:rPr sz="1600" spc="-7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client,</a:t>
            </a:r>
            <a:r>
              <a:rPr sz="1600" spc="-8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server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komen</a:t>
            </a:r>
            <a:r>
              <a:rPr sz="1600" spc="-7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E00AE"/>
                </a:solidFill>
                <a:latin typeface="Arial"/>
                <a:cs typeface="Arial"/>
              </a:rPr>
              <a:t>een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cipher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suite</a:t>
            </a:r>
            <a:r>
              <a:rPr sz="1600" spc="-5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overeen</a:t>
            </a:r>
            <a:endParaRPr sz="16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300"/>
              </a:spcBef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Client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biedt</a:t>
            </a: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een aantal</a:t>
            </a: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opties</a:t>
            </a:r>
            <a:r>
              <a:rPr sz="15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aan</a:t>
            </a:r>
            <a:endParaRPr sz="150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325"/>
              </a:spcBef>
              <a:buChar char="•"/>
              <a:tabLst>
                <a:tab pos="697865" algn="l"/>
                <a:tab pos="698500" algn="l"/>
              </a:tabLst>
            </a:pP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15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server</a:t>
            </a:r>
            <a:r>
              <a:rPr sz="15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kiest</a:t>
            </a: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de</a:t>
            </a:r>
            <a:r>
              <a:rPr sz="1500" spc="-1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E00AE"/>
                </a:solidFill>
                <a:latin typeface="Arial"/>
                <a:cs typeface="Arial"/>
              </a:rPr>
              <a:t>beste</a:t>
            </a:r>
            <a:r>
              <a:rPr sz="1500" spc="-3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0E00AE"/>
                </a:solidFill>
                <a:latin typeface="Arial"/>
                <a:cs typeface="Arial"/>
              </a:rPr>
              <a:t>optie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0376" y="2139442"/>
            <a:ext cx="36023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Gebruikelijke</a:t>
            </a:r>
            <a:r>
              <a:rPr sz="1600" spc="-9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TLS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symmetric</a:t>
            </a:r>
            <a:r>
              <a:rPr sz="1600" spc="-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ciphers: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7830" y="2381758"/>
            <a:ext cx="751205" cy="8350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20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DES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spc="-20" dirty="0">
                <a:solidFill>
                  <a:srgbClr val="0E00AE"/>
                </a:solidFill>
                <a:latin typeface="Arial"/>
                <a:cs typeface="Arial"/>
              </a:rPr>
              <a:t>3DES</a:t>
            </a:r>
            <a:endParaRPr sz="15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Char char="•"/>
              <a:tabLst>
                <a:tab pos="240665" algn="l"/>
                <a:tab pos="241300" algn="l"/>
              </a:tabLst>
            </a:pP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AES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0376" y="3249060"/>
            <a:ext cx="2630805" cy="5835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45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TLS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public</a:t>
            </a:r>
            <a:r>
              <a:rPr sz="1600" spc="-45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E00AE"/>
                </a:solidFill>
                <a:latin typeface="Arial"/>
                <a:cs typeface="Arial"/>
              </a:rPr>
              <a:t>key</a:t>
            </a:r>
            <a:r>
              <a:rPr sz="1600" spc="-50" dirty="0">
                <a:solidFill>
                  <a:srgbClr val="0E00A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E00AE"/>
                </a:solidFill>
                <a:latin typeface="Arial"/>
                <a:cs typeface="Arial"/>
              </a:rPr>
              <a:t>encryption:</a:t>
            </a:r>
            <a:endParaRPr sz="1600">
              <a:latin typeface="Arial"/>
              <a:cs typeface="Arial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698500" algn="l"/>
                <a:tab pos="699135" algn="l"/>
              </a:tabLst>
            </a:pPr>
            <a:r>
              <a:rPr sz="1500" spc="-25" dirty="0">
                <a:solidFill>
                  <a:srgbClr val="0E00AE"/>
                </a:solidFill>
                <a:latin typeface="Arial"/>
                <a:cs typeface="Arial"/>
              </a:rPr>
              <a:t>RSA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882776"/>
            <a:ext cx="30568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241679"/>
                </a:solidFill>
                <a:latin typeface="Gill Sans MT"/>
                <a:cs typeface="Gill Sans MT"/>
              </a:rPr>
              <a:t>Downgrade</a:t>
            </a:r>
            <a:r>
              <a:rPr sz="3200" b="0" spc="-105" dirty="0">
                <a:solidFill>
                  <a:srgbClr val="241679"/>
                </a:solidFill>
                <a:latin typeface="Gill Sans MT"/>
                <a:cs typeface="Gill Sans MT"/>
              </a:rPr>
              <a:t> </a:t>
            </a:r>
            <a:r>
              <a:rPr sz="3200" b="0" spc="-10" dirty="0">
                <a:solidFill>
                  <a:srgbClr val="241679"/>
                </a:solidFill>
                <a:latin typeface="Gill Sans MT"/>
                <a:cs typeface="Gill Sans MT"/>
              </a:rPr>
              <a:t>attack</a:t>
            </a:r>
            <a:endParaRPr sz="3200">
              <a:latin typeface="Gill Sans MT"/>
              <a:cs typeface="Gill Sans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672" y="1386839"/>
            <a:ext cx="3273552" cy="1737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47438" y="6394500"/>
            <a:ext cx="4655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Arial"/>
                <a:cs typeface="Arial"/>
              </a:rPr>
              <a:t>"FREAK"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(Factoring</a:t>
            </a:r>
            <a:r>
              <a:rPr sz="1600" i="1" spc="-7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Attack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on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RSA-EXPORT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Keys)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07309" y="1607819"/>
            <a:ext cx="7524750" cy="4008120"/>
            <a:chOff x="2307309" y="1607819"/>
            <a:chExt cx="7524750" cy="40081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7309" y="2390853"/>
              <a:ext cx="7524687" cy="32244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9080" y="1607819"/>
              <a:ext cx="1946148" cy="14965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0604" y="1699247"/>
              <a:ext cx="1991868" cy="8351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4800" y="1630679"/>
              <a:ext cx="1859279" cy="14093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14800" y="1630679"/>
              <a:ext cx="1859280" cy="1409700"/>
            </a:xfrm>
            <a:custGeom>
              <a:avLst/>
              <a:gdLst/>
              <a:ahLst/>
              <a:cxnLst/>
              <a:rect l="l" t="t" r="r" b="b"/>
              <a:pathLst>
                <a:path w="1859279" h="1409700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309879" y="0"/>
                  </a:lnTo>
                  <a:lnTo>
                    <a:pt x="774700" y="0"/>
                  </a:lnTo>
                  <a:lnTo>
                    <a:pt x="1715262" y="0"/>
                  </a:lnTo>
                  <a:lnTo>
                    <a:pt x="1760768" y="7345"/>
                  </a:lnTo>
                  <a:lnTo>
                    <a:pt x="1800301" y="27797"/>
                  </a:lnTo>
                  <a:lnTo>
                    <a:pt x="1831482" y="58978"/>
                  </a:lnTo>
                  <a:lnTo>
                    <a:pt x="1851934" y="98511"/>
                  </a:lnTo>
                  <a:lnTo>
                    <a:pt x="1859279" y="144018"/>
                  </a:lnTo>
                  <a:lnTo>
                    <a:pt x="1859279" y="504063"/>
                  </a:lnTo>
                  <a:lnTo>
                    <a:pt x="1859279" y="720090"/>
                  </a:lnTo>
                  <a:lnTo>
                    <a:pt x="1851934" y="765596"/>
                  </a:lnTo>
                  <a:lnTo>
                    <a:pt x="1831482" y="805129"/>
                  </a:lnTo>
                  <a:lnTo>
                    <a:pt x="1800301" y="836310"/>
                  </a:lnTo>
                  <a:lnTo>
                    <a:pt x="1760768" y="856762"/>
                  </a:lnTo>
                  <a:lnTo>
                    <a:pt x="1715262" y="864108"/>
                  </a:lnTo>
                  <a:lnTo>
                    <a:pt x="774700" y="864108"/>
                  </a:lnTo>
                  <a:lnTo>
                    <a:pt x="379729" y="1409319"/>
                  </a:lnTo>
                  <a:lnTo>
                    <a:pt x="309879" y="864108"/>
                  </a:lnTo>
                  <a:lnTo>
                    <a:pt x="144017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90"/>
                  </a:lnTo>
                  <a:lnTo>
                    <a:pt x="0" y="504063"/>
                  </a:lnTo>
                  <a:lnTo>
                    <a:pt x="0" y="144018"/>
                  </a:lnTo>
                  <a:close/>
                </a:path>
              </a:pathLst>
            </a:custGeom>
            <a:ln w="6349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38371" y="1760982"/>
            <a:ext cx="16116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requests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strong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cipher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53555" y="697991"/>
            <a:ext cx="3412490" cy="2364105"/>
            <a:chOff x="6353555" y="697991"/>
            <a:chExt cx="3412490" cy="236410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3555" y="745235"/>
              <a:ext cx="3361944" cy="23164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6603" y="697991"/>
              <a:ext cx="3409188" cy="11094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99275" y="768095"/>
              <a:ext cx="3275076" cy="22287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99275" y="768095"/>
              <a:ext cx="3275329" cy="2228850"/>
            </a:xfrm>
            <a:custGeom>
              <a:avLst/>
              <a:gdLst/>
              <a:ahLst/>
              <a:cxnLst/>
              <a:rect l="l" t="t" r="r" b="b"/>
              <a:pathLst>
                <a:path w="3275329" h="2228850">
                  <a:moveTo>
                    <a:pt x="0" y="143763"/>
                  </a:moveTo>
                  <a:lnTo>
                    <a:pt x="7331" y="98332"/>
                  </a:lnTo>
                  <a:lnTo>
                    <a:pt x="27744" y="58869"/>
                  </a:lnTo>
                  <a:lnTo>
                    <a:pt x="58869" y="27744"/>
                  </a:lnTo>
                  <a:lnTo>
                    <a:pt x="98332" y="7331"/>
                  </a:lnTo>
                  <a:lnTo>
                    <a:pt x="143764" y="0"/>
                  </a:lnTo>
                  <a:lnTo>
                    <a:pt x="545846" y="0"/>
                  </a:lnTo>
                  <a:lnTo>
                    <a:pt x="1364615" y="0"/>
                  </a:lnTo>
                  <a:lnTo>
                    <a:pt x="3131312" y="0"/>
                  </a:lnTo>
                  <a:lnTo>
                    <a:pt x="3176743" y="7331"/>
                  </a:lnTo>
                  <a:lnTo>
                    <a:pt x="3216206" y="27744"/>
                  </a:lnTo>
                  <a:lnTo>
                    <a:pt x="3247331" y="58869"/>
                  </a:lnTo>
                  <a:lnTo>
                    <a:pt x="3267744" y="98332"/>
                  </a:lnTo>
                  <a:lnTo>
                    <a:pt x="3275076" y="143763"/>
                  </a:lnTo>
                  <a:lnTo>
                    <a:pt x="3275076" y="503174"/>
                  </a:lnTo>
                  <a:lnTo>
                    <a:pt x="3275076" y="718819"/>
                  </a:lnTo>
                  <a:lnTo>
                    <a:pt x="3267744" y="764251"/>
                  </a:lnTo>
                  <a:lnTo>
                    <a:pt x="3247331" y="803714"/>
                  </a:lnTo>
                  <a:lnTo>
                    <a:pt x="3216206" y="834839"/>
                  </a:lnTo>
                  <a:lnTo>
                    <a:pt x="3176743" y="855252"/>
                  </a:lnTo>
                  <a:lnTo>
                    <a:pt x="3131312" y="862583"/>
                  </a:lnTo>
                  <a:lnTo>
                    <a:pt x="1364615" y="862583"/>
                  </a:lnTo>
                  <a:lnTo>
                    <a:pt x="567308" y="2228723"/>
                  </a:lnTo>
                  <a:lnTo>
                    <a:pt x="545846" y="862583"/>
                  </a:lnTo>
                  <a:lnTo>
                    <a:pt x="143764" y="862583"/>
                  </a:lnTo>
                  <a:lnTo>
                    <a:pt x="98332" y="855252"/>
                  </a:lnTo>
                  <a:lnTo>
                    <a:pt x="58869" y="834839"/>
                  </a:lnTo>
                  <a:lnTo>
                    <a:pt x="27744" y="803714"/>
                  </a:lnTo>
                  <a:lnTo>
                    <a:pt x="7331" y="764251"/>
                  </a:lnTo>
                  <a:lnTo>
                    <a:pt x="0" y="718819"/>
                  </a:lnTo>
                  <a:lnTo>
                    <a:pt x="0" y="503174"/>
                  </a:lnTo>
                  <a:lnTo>
                    <a:pt x="0" y="143763"/>
                  </a:lnTo>
                  <a:close/>
                </a:path>
              </a:pathLst>
            </a:custGeom>
            <a:ln w="635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523990" y="759967"/>
            <a:ext cx="30257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attacker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the</a:t>
            </a:r>
            <a:r>
              <a:rPr sz="1800" spc="-10" dirty="0">
                <a:latin typeface="Calibri"/>
                <a:cs typeface="Calibri"/>
              </a:rPr>
              <a:t> Middle: </a:t>
            </a:r>
            <a:r>
              <a:rPr sz="1800" dirty="0">
                <a:latin typeface="Calibri"/>
                <a:cs typeface="Calibri"/>
              </a:rPr>
              <a:t>changes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weak</a:t>
            </a:r>
            <a:endParaRPr sz="1800">
              <a:latin typeface="Calibri"/>
              <a:cs typeface="Calibri"/>
            </a:endParaRPr>
          </a:p>
          <a:p>
            <a:pPr marL="12211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cipher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85888" y="4293108"/>
            <a:ext cx="2766060" cy="1460500"/>
            <a:chOff x="7485888" y="4293108"/>
            <a:chExt cx="2766060" cy="146050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85888" y="4293108"/>
              <a:ext cx="2766059" cy="14599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14944" y="5030724"/>
              <a:ext cx="1927859" cy="5608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32370" y="4315333"/>
              <a:ext cx="2678429" cy="137375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532370" y="4315333"/>
              <a:ext cx="2678430" cy="1374140"/>
            </a:xfrm>
            <a:custGeom>
              <a:avLst/>
              <a:gdLst/>
              <a:ahLst/>
              <a:cxnLst/>
              <a:rect l="l" t="t" r="r" b="b"/>
              <a:pathLst>
                <a:path w="2678429" h="1374139">
                  <a:moveTo>
                    <a:pt x="819150" y="654939"/>
                  </a:moveTo>
                  <a:lnTo>
                    <a:pt x="826481" y="609507"/>
                  </a:lnTo>
                  <a:lnTo>
                    <a:pt x="846894" y="570044"/>
                  </a:lnTo>
                  <a:lnTo>
                    <a:pt x="878019" y="538919"/>
                  </a:lnTo>
                  <a:lnTo>
                    <a:pt x="917482" y="518506"/>
                  </a:lnTo>
                  <a:lnTo>
                    <a:pt x="962913" y="511175"/>
                  </a:lnTo>
                  <a:lnTo>
                    <a:pt x="1129029" y="511175"/>
                  </a:lnTo>
                  <a:lnTo>
                    <a:pt x="0" y="0"/>
                  </a:lnTo>
                  <a:lnTo>
                    <a:pt x="1593850" y="511175"/>
                  </a:lnTo>
                  <a:lnTo>
                    <a:pt x="2534665" y="511175"/>
                  </a:lnTo>
                  <a:lnTo>
                    <a:pt x="2580097" y="518506"/>
                  </a:lnTo>
                  <a:lnTo>
                    <a:pt x="2619560" y="538919"/>
                  </a:lnTo>
                  <a:lnTo>
                    <a:pt x="2650685" y="570044"/>
                  </a:lnTo>
                  <a:lnTo>
                    <a:pt x="2671098" y="609507"/>
                  </a:lnTo>
                  <a:lnTo>
                    <a:pt x="2678429" y="654939"/>
                  </a:lnTo>
                  <a:lnTo>
                    <a:pt x="2678429" y="870585"/>
                  </a:lnTo>
                  <a:lnTo>
                    <a:pt x="2678429" y="1229995"/>
                  </a:lnTo>
                  <a:lnTo>
                    <a:pt x="2671098" y="1275436"/>
                  </a:lnTo>
                  <a:lnTo>
                    <a:pt x="2650685" y="1314900"/>
                  </a:lnTo>
                  <a:lnTo>
                    <a:pt x="2619560" y="1346021"/>
                  </a:lnTo>
                  <a:lnTo>
                    <a:pt x="2580097" y="1366429"/>
                  </a:lnTo>
                  <a:lnTo>
                    <a:pt x="2534665" y="1373759"/>
                  </a:lnTo>
                  <a:lnTo>
                    <a:pt x="1593850" y="1373759"/>
                  </a:lnTo>
                  <a:lnTo>
                    <a:pt x="1129029" y="1373759"/>
                  </a:lnTo>
                  <a:lnTo>
                    <a:pt x="962913" y="1373759"/>
                  </a:lnTo>
                  <a:lnTo>
                    <a:pt x="917482" y="1366429"/>
                  </a:lnTo>
                  <a:lnTo>
                    <a:pt x="878019" y="1346021"/>
                  </a:lnTo>
                  <a:lnTo>
                    <a:pt x="846894" y="1314900"/>
                  </a:lnTo>
                  <a:lnTo>
                    <a:pt x="826481" y="1275436"/>
                  </a:lnTo>
                  <a:lnTo>
                    <a:pt x="819150" y="1229995"/>
                  </a:lnTo>
                  <a:lnTo>
                    <a:pt x="819150" y="870585"/>
                  </a:lnTo>
                  <a:lnTo>
                    <a:pt x="819150" y="654939"/>
                  </a:lnTo>
                  <a:close/>
                </a:path>
              </a:pathLst>
            </a:custGeom>
            <a:ln w="635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482965" y="5093970"/>
            <a:ext cx="1598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3.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Server</a:t>
            </a:r>
            <a:r>
              <a:rPr sz="1800" spc="-10" dirty="0">
                <a:latin typeface="Calibri"/>
                <a:cs typeface="Calibri"/>
              </a:rPr>
              <a:t> accepts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588008" y="3511270"/>
            <a:ext cx="2245360" cy="951230"/>
            <a:chOff x="1588008" y="3511270"/>
            <a:chExt cx="2245360" cy="95123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8008" y="3511270"/>
              <a:ext cx="2244852" cy="95100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95272" y="3602723"/>
              <a:ext cx="1548384" cy="83516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33728" y="3534155"/>
              <a:ext cx="2157730" cy="86410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633728" y="3534155"/>
              <a:ext cx="2157730" cy="864235"/>
            </a:xfrm>
            <a:custGeom>
              <a:avLst/>
              <a:gdLst/>
              <a:ahLst/>
              <a:cxnLst/>
              <a:rect l="l" t="t" r="r" b="b"/>
              <a:pathLst>
                <a:path w="2157729" h="864235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084580" y="0"/>
                  </a:lnTo>
                  <a:lnTo>
                    <a:pt x="1549400" y="0"/>
                  </a:lnTo>
                  <a:lnTo>
                    <a:pt x="1715262" y="0"/>
                  </a:lnTo>
                  <a:lnTo>
                    <a:pt x="1760768" y="7345"/>
                  </a:lnTo>
                  <a:lnTo>
                    <a:pt x="1800301" y="27797"/>
                  </a:lnTo>
                  <a:lnTo>
                    <a:pt x="1831482" y="58978"/>
                  </a:lnTo>
                  <a:lnTo>
                    <a:pt x="1851934" y="98511"/>
                  </a:lnTo>
                  <a:lnTo>
                    <a:pt x="1859280" y="144018"/>
                  </a:lnTo>
                  <a:lnTo>
                    <a:pt x="1859280" y="504063"/>
                  </a:lnTo>
                  <a:lnTo>
                    <a:pt x="2157730" y="484124"/>
                  </a:lnTo>
                  <a:lnTo>
                    <a:pt x="1859280" y="720090"/>
                  </a:lnTo>
                  <a:lnTo>
                    <a:pt x="1851934" y="765596"/>
                  </a:lnTo>
                  <a:lnTo>
                    <a:pt x="1831482" y="805129"/>
                  </a:lnTo>
                  <a:lnTo>
                    <a:pt x="1800301" y="836310"/>
                  </a:lnTo>
                  <a:lnTo>
                    <a:pt x="1760768" y="856762"/>
                  </a:lnTo>
                  <a:lnTo>
                    <a:pt x="1715262" y="864108"/>
                  </a:lnTo>
                  <a:lnTo>
                    <a:pt x="1549400" y="864108"/>
                  </a:lnTo>
                  <a:lnTo>
                    <a:pt x="1084580" y="864108"/>
                  </a:lnTo>
                  <a:lnTo>
                    <a:pt x="144018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90"/>
                  </a:lnTo>
                  <a:lnTo>
                    <a:pt x="0" y="504063"/>
                  </a:lnTo>
                  <a:lnTo>
                    <a:pt x="0" y="144018"/>
                  </a:lnTo>
                  <a:close/>
                </a:path>
              </a:pathLst>
            </a:custGeom>
            <a:ln w="635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62657" y="3664966"/>
            <a:ext cx="1200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4.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client </a:t>
            </a:r>
            <a:r>
              <a:rPr sz="1800" dirty="0">
                <a:latin typeface="Calibri"/>
                <a:cs typeface="Calibri"/>
              </a:rPr>
              <a:t>never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knows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293108" y="4879860"/>
            <a:ext cx="2901950" cy="1391920"/>
            <a:chOff x="4293108" y="4879860"/>
            <a:chExt cx="2901950" cy="1391920"/>
          </a:xfrm>
        </p:grpSpPr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93108" y="4879860"/>
              <a:ext cx="2901695" cy="13914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24172" y="5411723"/>
              <a:ext cx="2638044" cy="83516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38828" y="4902199"/>
              <a:ext cx="2814828" cy="130505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338828" y="4902199"/>
              <a:ext cx="2814955" cy="1305560"/>
            </a:xfrm>
            <a:custGeom>
              <a:avLst/>
              <a:gdLst/>
              <a:ahLst/>
              <a:cxnLst/>
              <a:rect l="l" t="t" r="r" b="b"/>
              <a:pathLst>
                <a:path w="2814954" h="1305560">
                  <a:moveTo>
                    <a:pt x="0" y="584962"/>
                  </a:moveTo>
                  <a:lnTo>
                    <a:pt x="7345" y="539455"/>
                  </a:lnTo>
                  <a:lnTo>
                    <a:pt x="27797" y="499922"/>
                  </a:lnTo>
                  <a:lnTo>
                    <a:pt x="58978" y="468741"/>
                  </a:lnTo>
                  <a:lnTo>
                    <a:pt x="98511" y="448289"/>
                  </a:lnTo>
                  <a:lnTo>
                    <a:pt x="144018" y="440944"/>
                  </a:lnTo>
                  <a:lnTo>
                    <a:pt x="469138" y="440944"/>
                  </a:lnTo>
                  <a:lnTo>
                    <a:pt x="599694" y="0"/>
                  </a:lnTo>
                  <a:lnTo>
                    <a:pt x="1172845" y="440944"/>
                  </a:lnTo>
                  <a:lnTo>
                    <a:pt x="2670810" y="440944"/>
                  </a:lnTo>
                  <a:lnTo>
                    <a:pt x="2716316" y="448289"/>
                  </a:lnTo>
                  <a:lnTo>
                    <a:pt x="2755849" y="468741"/>
                  </a:lnTo>
                  <a:lnTo>
                    <a:pt x="2787030" y="499922"/>
                  </a:lnTo>
                  <a:lnTo>
                    <a:pt x="2807482" y="539455"/>
                  </a:lnTo>
                  <a:lnTo>
                    <a:pt x="2814828" y="584962"/>
                  </a:lnTo>
                  <a:lnTo>
                    <a:pt x="2814828" y="800988"/>
                  </a:lnTo>
                  <a:lnTo>
                    <a:pt x="2814828" y="1161034"/>
                  </a:lnTo>
                  <a:lnTo>
                    <a:pt x="2807482" y="1206555"/>
                  </a:lnTo>
                  <a:lnTo>
                    <a:pt x="2787030" y="1246089"/>
                  </a:lnTo>
                  <a:lnTo>
                    <a:pt x="2755849" y="1277265"/>
                  </a:lnTo>
                  <a:lnTo>
                    <a:pt x="2716316" y="1297709"/>
                  </a:lnTo>
                  <a:lnTo>
                    <a:pt x="2670810" y="1305052"/>
                  </a:lnTo>
                  <a:lnTo>
                    <a:pt x="1172845" y="1305052"/>
                  </a:lnTo>
                  <a:lnTo>
                    <a:pt x="469138" y="1305052"/>
                  </a:lnTo>
                  <a:lnTo>
                    <a:pt x="144018" y="1305052"/>
                  </a:lnTo>
                  <a:lnTo>
                    <a:pt x="98511" y="1297709"/>
                  </a:lnTo>
                  <a:lnTo>
                    <a:pt x="58978" y="1277265"/>
                  </a:lnTo>
                  <a:lnTo>
                    <a:pt x="27797" y="1246089"/>
                  </a:lnTo>
                  <a:lnTo>
                    <a:pt x="7345" y="1206555"/>
                  </a:lnTo>
                  <a:lnTo>
                    <a:pt x="0" y="1161034"/>
                  </a:lnTo>
                  <a:lnTo>
                    <a:pt x="0" y="800988"/>
                  </a:lnTo>
                  <a:lnTo>
                    <a:pt x="0" y="584962"/>
                  </a:lnTo>
                  <a:close/>
                </a:path>
              </a:pathLst>
            </a:custGeom>
            <a:ln w="635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591939" y="5474614"/>
            <a:ext cx="2307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98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weak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encryption, </a:t>
            </a:r>
            <a:r>
              <a:rPr sz="1800" dirty="0">
                <a:latin typeface="Calibri"/>
                <a:cs typeface="Calibri"/>
              </a:rPr>
              <a:t>vulnerable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decryption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46401" y="6387490"/>
            <a:ext cx="774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Figure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1998</Words>
  <Application>Microsoft Office PowerPoint</Application>
  <PresentationFormat>Widescreen</PresentationFormat>
  <Paragraphs>431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 New</vt:lpstr>
      <vt:lpstr>Gill Sans MT</vt:lpstr>
      <vt:lpstr>Times New Roman</vt:lpstr>
      <vt:lpstr>Wingdings</vt:lpstr>
      <vt:lpstr>Office Theme</vt:lpstr>
      <vt:lpstr>Networking Module 6a</vt:lpstr>
      <vt:lpstr>Agenda</vt:lpstr>
      <vt:lpstr>Wat is network security?</vt:lpstr>
      <vt:lpstr>Wat kunnen “bad guys” doen?</vt:lpstr>
      <vt:lpstr>Agenda</vt:lpstr>
      <vt:lpstr>Cryptografie</vt:lpstr>
      <vt:lpstr>Cryptografie</vt:lpstr>
      <vt:lpstr>Vigenère cipher  poly alphabetic</vt:lpstr>
      <vt:lpstr>Vigenère cipher  poly alphabetic</vt:lpstr>
      <vt:lpstr>Vigenère cipher  poly alphabetic</vt:lpstr>
      <vt:lpstr>Vigenère cipher  poly alphabetic</vt:lpstr>
      <vt:lpstr>Symmetric key cryptography</vt:lpstr>
      <vt:lpstr>Symmetric key cryptography</vt:lpstr>
      <vt:lpstr>Kraken van symmetric key cryptography</vt:lpstr>
      <vt:lpstr>Symmetric key cryptography: DES</vt:lpstr>
      <vt:lpstr>AES: Advanced Encryption Standard</vt:lpstr>
      <vt:lpstr>Public key cryptography</vt:lpstr>
      <vt:lpstr>Public key cryptography</vt:lpstr>
      <vt:lpstr>RSA in de praktijk: session keys</vt:lpstr>
      <vt:lpstr>PowerPoint Presentation</vt:lpstr>
      <vt:lpstr>PowerPoint Presentation</vt:lpstr>
      <vt:lpstr>Agenda</vt:lpstr>
      <vt:lpstr>Digital signatures</vt:lpstr>
      <vt:lpstr>Agenda</vt:lpstr>
      <vt:lpstr>Message digests</vt:lpstr>
      <vt:lpstr>Internet checksum: poor crypto hash function</vt:lpstr>
      <vt:lpstr>Hash functie algoritmen</vt:lpstr>
      <vt:lpstr>Agenda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Agenda</vt:lpstr>
      <vt:lpstr>TLS (en SSL): Transport Layer Security</vt:lpstr>
      <vt:lpstr>TLS/SSL en TCP/IP</vt:lpstr>
      <vt:lpstr>TLS fases</vt:lpstr>
      <vt:lpstr>SSL cipher suite</vt:lpstr>
      <vt:lpstr>Downgrade attack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Engineering Week 5</dc:title>
  <dc:creator>Tim Langstraat</dc:creator>
  <cp:lastModifiedBy>Tiemen Mink</cp:lastModifiedBy>
  <cp:revision>1</cp:revision>
  <dcterms:created xsi:type="dcterms:W3CDTF">2023-05-30T07:13:39Z</dcterms:created>
  <dcterms:modified xsi:type="dcterms:W3CDTF">2023-06-02T13:15:14Z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2023-05-30T00:00:00Z</vt:filetime>
  </property>
  <property fmtid="{D5CDD505-2E9C-101B-9397-08002B2CF9AE}" pid="5" name="Producer">
    <vt:lpwstr>Microsoft® PowerPoint® for Microsoft 365</vt:lpwstr>
  </property>
</Properties>
</file>